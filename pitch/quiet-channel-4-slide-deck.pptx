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</p:sldIdLst>
  <p:sldSz cx="12192000" cy="68580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>
    <p:cSldViewPr snapToGrid="1" snapToObjects="1"/>
  </p:slideViewPr>
  <p:notesTextViewPr>
    <p:cViewPr varScale="1"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Quiet Channel Notes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hf hdr="0" ftr="0" dt="0" sldNum="0"/>
  <p:notesStyle>
    <a:lvl1pPr marL="0" indent="0">
      <a:defRPr sz="105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1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The Quiet Channel is a privacy-first silent command interface concept for e&amp; frontline retail advisors and field technicians. It is a research proposition, not finished hardware, a customer claim, or a working physical prototype.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One low-consequence workflow must still be selected and compared with touch, voice, and existing controls.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research/claim-ledger.md C04–C06; provenance/decisions.md H01.</a:t>
            </a:r>
            <a:endParaRPr lang="en-US" sz="105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2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A wearable surface-EMG concept maps deliberate muscle activity into one of 12 fixed commands. Decode is proposed on device; low confidence abstains, and every consequential handoff requires confirm or repair before the existing agent/CRM receives text.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Not open-vocabulary transcription, mind reading, autonomous billing changes, or implemented hardware. The 12-command grammar is proposed pilot scope, not measured performance.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research/claim-boundary.md; research/claim-ledger.md C05, C19, C21–C23.</a:t>
            </a:r>
            <a:endParaRPr lang="en-US" sz="105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3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Separate evidence types and conditions. SilentWear is a preprint with four participants; Gaddy and Klein are peer-reviewed facial-sEMG speech studies. Gesture, optical/contactless, acoustic/IMU, and implanted systems answer different questions. Privacy is a governed flow, not a no-microphone slogan.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Raw signals staying on device is an in-use design requirement, not an implemented security claim. Decoded text remains personal data. Calibration needs explicit opt-in and may require separately consented paired audio. No emotion or medical inference is produced.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SOURCES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R03–R04; R11; R21; R26; R28; R30; R32–R33; R38–R40; claim-ledger C07, C18–C20, C27.</a:t>
            </a:r>
            <a:endParaRPr lang="en-US" sz="105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4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The decision is a fixed-fee 90-day evidence programme with explicit go, change, and stop gates. e&amp; is the selected beachhead, not a claimed customer. A separate deployment decision follows pilot evidence.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AED 1,000,000 is only the pilot fee. Per-seat deployment pricing is TBD. Strategic funding, negotiated IP/data rights, and acquisition or exit remain optional upside with no invented amounts.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provenance/decisions.md H01–H03; research/claim-ledger.md C29.</a:t>
            </a:r>
            <a:endParaRPr lang="en-US" sz="105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Quiet Channel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dk1" bg2="dk2" folHlink="folHlink" hlink="hlink" tx1="lt1" tx2="lt2"/>
  <p:sldLayoutIdLst>
    <p:sldLayoutId id="1" r:id="rId1"/>
  </p:sldLayoutIdLst>
  <p:txStyles>
    <p:titleStyle>
      <a:lvl1pPr algn="l">
        <a:defRPr sz="2800" b="1"/>
      </a:lvl1pPr>
    </p:titleStyle>
    <p:bodyStyle>
      <a:lvl1pPr marL="0" indent="0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oncept-research-rig.sv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: The opportunity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01 / 04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4F0E6"/>
                </a:solidFill>
                <a:latin typeface="Arial"/>
              </a:rPr>
              <a:t>The opportunity</a:t>
            </a:r>
            <a:endParaRPr lang="en-US" sz="320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THE QUIET CHANNEL</a:t>
            </a:r>
            <a:endParaRPr lang="en-US" sz="1280"/>
          </a:p>
        </p:txBody>
      </p:sp>
      <p:sp>
        <p:nvSpPr>
          <p:cNvPr id="8" name="Hero"/>
          <p:cNvSpPr txBox="1"/>
          <p:nvPr/>
        </p:nvSpPr>
        <p:spPr>
          <a:xfrm>
            <a:off x="612648" y="1920240"/>
            <a:ext cx="55778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5CD3BD"/>
                </a:solidFill>
                <a:latin typeface="Arial"/>
              </a:rPr>
              <a:t>THE QUIET CHANNEL</a:t>
            </a:r>
            <a:endParaRPr lang="en-US" sz="2500"/>
          </a:p>
        </p:txBody>
      </p:sp>
      <p:sp>
        <p:nvSpPr>
          <p:cNvPr id="9" name="Thesis"/>
          <p:cNvSpPr txBox="1"/>
          <p:nvPr/>
        </p:nvSpPr>
        <p:spPr>
          <a:xfrm>
            <a:off x="621792" y="2670048"/>
            <a:ext cx="53949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4F0E6"/>
                </a:solidFill>
                <a:latin typeface="Arial"/>
              </a:rPr>
              <a:t>A privacy-first silent command interface for frontline moments where voice or touch gets in the way.</a:t>
            </a:r>
            <a:endParaRPr lang="en-US" sz="1500"/>
          </a:p>
        </p:txBody>
      </p:sp>
      <p:sp>
        <p:nvSpPr>
          <p:cNvPr id="10" name="Card e&amp; retail advisors"/>
          <p:cNvSpPr/>
          <p:nvPr/>
        </p:nvSpPr>
        <p:spPr>
          <a:xfrm>
            <a:off x="621792" y="3977640"/>
            <a:ext cx="2578608" cy="129844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ard accent e&amp; retail advisors"/>
          <p:cNvSpPr/>
          <p:nvPr/>
        </p:nvSpPr>
        <p:spPr>
          <a:xfrm>
            <a:off x="621792" y="3977640"/>
            <a:ext cx="54864" cy="129844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Label e&amp; retail advisors"/>
          <p:cNvSpPr txBox="1"/>
          <p:nvPr/>
        </p:nvSpPr>
        <p:spPr>
          <a:xfrm>
            <a:off x="786384" y="4114800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BEACHHEAD</a:t>
            </a:r>
            <a:endParaRPr lang="en-US" sz="680"/>
          </a:p>
        </p:txBody>
      </p:sp>
      <p:sp>
        <p:nvSpPr>
          <p:cNvPr id="13" name="Card title e&amp; retail advisors"/>
          <p:cNvSpPr txBox="1"/>
          <p:nvPr/>
        </p:nvSpPr>
        <p:spPr>
          <a:xfrm>
            <a:off x="786384" y="4416552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e&amp; retail advisors</a:t>
            </a:r>
            <a:endParaRPr lang="en-US" sz="1250"/>
          </a:p>
        </p:txBody>
      </p:sp>
      <p:sp>
        <p:nvSpPr>
          <p:cNvPr id="14" name="Card body e&amp; retail advisors"/>
          <p:cNvSpPr txBox="1"/>
          <p:nvPr/>
        </p:nvSpPr>
        <p:spPr>
          <a:xfrm>
            <a:off x="786384" y="4828032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Private lookup while preserving the customer conversation.</a:t>
            </a:r>
            <a:endParaRPr lang="en-US" sz="900"/>
          </a:p>
        </p:txBody>
      </p:sp>
      <p:sp>
        <p:nvSpPr>
          <p:cNvPr id="15" name="Card Field technicians"/>
          <p:cNvSpPr/>
          <p:nvPr/>
        </p:nvSpPr>
        <p:spPr>
          <a:xfrm>
            <a:off x="3401568" y="3977640"/>
            <a:ext cx="2578608" cy="129844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Card accent Field technicians"/>
          <p:cNvSpPr/>
          <p:nvPr/>
        </p:nvSpPr>
        <p:spPr>
          <a:xfrm>
            <a:off x="3401568" y="3977640"/>
            <a:ext cx="54864" cy="1298448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abel Field technicians"/>
          <p:cNvSpPr txBox="1"/>
          <p:nvPr/>
        </p:nvSpPr>
        <p:spPr>
          <a:xfrm>
            <a:off x="3566160" y="4114800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BEACHHEAD</a:t>
            </a:r>
            <a:endParaRPr lang="en-US" sz="680"/>
          </a:p>
        </p:txBody>
      </p:sp>
      <p:sp>
        <p:nvSpPr>
          <p:cNvPr id="18" name="Card title Field technicians"/>
          <p:cNvSpPr txBox="1"/>
          <p:nvPr/>
        </p:nvSpPr>
        <p:spPr>
          <a:xfrm>
            <a:off x="3566160" y="4416552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Field technicians</a:t>
            </a:r>
            <a:endParaRPr lang="en-US" sz="1250"/>
          </a:p>
        </p:txBody>
      </p:sp>
      <p:sp>
        <p:nvSpPr>
          <p:cNvPr id="19" name="Card body Field technicians"/>
          <p:cNvSpPr txBox="1"/>
          <p:nvPr/>
        </p:nvSpPr>
        <p:spPr>
          <a:xfrm>
            <a:off x="3566160" y="4828032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Eyes-up, hands-busy access to an existing assistant.</a:t>
            </a:r>
            <a:endParaRPr lang="en-US" sz="900"/>
          </a:p>
        </p:txBody>
      </p:sp>
      <p:pic>
        <p:nvPicPr>
          <p:cNvPr id="20" name="concept-research-rig.svg" descr="Project-authored unvalidated surface-EMG research rig conce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37360"/>
            <a:ext cx="4800600" cy="4096512"/>
          </a:xfrm>
          <a:prstGeom prst="rect">
            <a:avLst/>
          </a:prstGeom>
          <a:ln>
            <a:noFill/>
          </a:ln>
        </p:spPr>
      </p:pic>
      <p:sp>
        <p:nvSpPr>
          <p:cNvPr id="21" name="Concept badge"/>
          <p:cNvSpPr/>
          <p:nvPr/>
        </p:nvSpPr>
        <p:spPr>
          <a:xfrm>
            <a:off x="6839712" y="5376672"/>
            <a:ext cx="4370832" cy="475488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Concept label"/>
          <p:cNvSpPr txBox="1"/>
          <p:nvPr/>
        </p:nvSpPr>
        <p:spPr>
          <a:xfrm>
            <a:off x="6995160" y="5504688"/>
            <a:ext cx="40416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" b="1" dirty="0">
                <a:solidFill>
                  <a:srgbClr val="FF8B5C"/>
                </a:solidFill>
                <a:latin typeface="Arial"/>
              </a:rPr>
              <a:t>CONCEPT · NOT FINISHED HARDWARE</a:t>
            </a:r>
            <a:endParaRPr lang="en-US" sz="820"/>
          </a:p>
        </p:txBody>
      </p:sp>
      <p:sp>
        <p:nvSpPr>
          <p:cNvPr id="23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Concept proposal · e&amp; frontline retail advisors and field technicians · C04–C06, H01.</a:t>
            </a:r>
            <a:endParaRPr lang="en-US" sz="61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: How it works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02 / 04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How it works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A fixed command channel—with a human gate</a:t>
            </a:r>
            <a:endParaRPr lang="en-US" sz="1280"/>
          </a:p>
        </p:txBody>
      </p:sp>
      <p:sp>
        <p:nvSpPr>
          <p:cNvPr id="8" name="Card SENSE"/>
          <p:cNvSpPr/>
          <p:nvPr/>
        </p:nvSpPr>
        <p:spPr>
          <a:xfrm>
            <a:off x="621792" y="2084832"/>
            <a:ext cx="2542032" cy="202996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ard accent SENSE"/>
          <p:cNvSpPr/>
          <p:nvPr/>
        </p:nvSpPr>
        <p:spPr>
          <a:xfrm>
            <a:off x="621792" y="2084832"/>
            <a:ext cx="54864" cy="202996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abel SENSE"/>
          <p:cNvSpPr txBox="1"/>
          <p:nvPr/>
        </p:nvSpPr>
        <p:spPr>
          <a:xfrm>
            <a:off x="786384" y="2221992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01</a:t>
            </a:r>
            <a:endParaRPr lang="en-US" sz="680"/>
          </a:p>
        </p:txBody>
      </p:sp>
      <p:sp>
        <p:nvSpPr>
          <p:cNvPr id="11" name="Card title SENSE"/>
          <p:cNvSpPr txBox="1"/>
          <p:nvPr/>
        </p:nvSpPr>
        <p:spPr>
          <a:xfrm>
            <a:off x="786384" y="2523744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SENSE</a:t>
            </a:r>
            <a:endParaRPr lang="en-US" sz="1250"/>
          </a:p>
        </p:txBody>
      </p:sp>
      <p:sp>
        <p:nvSpPr>
          <p:cNvPr id="12" name="Card body SENSE"/>
          <p:cNvSpPr txBox="1"/>
          <p:nvPr/>
        </p:nvSpPr>
        <p:spPr>
          <a:xfrm>
            <a:off x="786384" y="2935224"/>
            <a:ext cx="223113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Wearable surface-EMG concept</a:t>
            </a:r>
            <a:endParaRPr lang="en-US" sz="900"/>
          </a:p>
        </p:txBody>
      </p:sp>
      <p:sp>
        <p:nvSpPr>
          <p:cNvPr id="13" name="Card DECODE"/>
          <p:cNvSpPr/>
          <p:nvPr/>
        </p:nvSpPr>
        <p:spPr>
          <a:xfrm>
            <a:off x="3392424" y="2084832"/>
            <a:ext cx="2542032" cy="202996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ard accent DECODE"/>
          <p:cNvSpPr/>
          <p:nvPr/>
        </p:nvSpPr>
        <p:spPr>
          <a:xfrm>
            <a:off x="3392424" y="2084832"/>
            <a:ext cx="54864" cy="202996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abel DECODE"/>
          <p:cNvSpPr txBox="1"/>
          <p:nvPr/>
        </p:nvSpPr>
        <p:spPr>
          <a:xfrm>
            <a:off x="3557016" y="2221992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02</a:t>
            </a:r>
            <a:endParaRPr lang="en-US" sz="680"/>
          </a:p>
        </p:txBody>
      </p:sp>
      <p:sp>
        <p:nvSpPr>
          <p:cNvPr id="16" name="Card title DECODE"/>
          <p:cNvSpPr txBox="1"/>
          <p:nvPr/>
        </p:nvSpPr>
        <p:spPr>
          <a:xfrm>
            <a:off x="3557016" y="2523744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DECODE</a:t>
            </a:r>
            <a:endParaRPr lang="en-US" sz="1250"/>
          </a:p>
        </p:txBody>
      </p:sp>
      <p:sp>
        <p:nvSpPr>
          <p:cNvPr id="17" name="Card body DECODE"/>
          <p:cNvSpPr txBox="1"/>
          <p:nvPr/>
        </p:nvSpPr>
        <p:spPr>
          <a:xfrm>
            <a:off x="3557016" y="2935224"/>
            <a:ext cx="223113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On device · fixed 12-command grammar</a:t>
            </a:r>
            <a:endParaRPr lang="en-US" sz="900"/>
          </a:p>
        </p:txBody>
      </p:sp>
      <p:sp>
        <p:nvSpPr>
          <p:cNvPr id="18" name="Card GATE"/>
          <p:cNvSpPr/>
          <p:nvPr/>
        </p:nvSpPr>
        <p:spPr>
          <a:xfrm>
            <a:off x="6163056" y="2084832"/>
            <a:ext cx="2542032" cy="2029968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ard accent GATE"/>
          <p:cNvSpPr/>
          <p:nvPr/>
        </p:nvSpPr>
        <p:spPr>
          <a:xfrm>
            <a:off x="6163056" y="2084832"/>
            <a:ext cx="54864" cy="202996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abel GATE"/>
          <p:cNvSpPr txBox="1"/>
          <p:nvPr/>
        </p:nvSpPr>
        <p:spPr>
          <a:xfrm>
            <a:off x="6327648" y="2221992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B5C"/>
                </a:solidFill>
                <a:latin typeface="Arial"/>
              </a:rPr>
              <a:t>03</a:t>
            </a:r>
            <a:endParaRPr lang="en-US" sz="680"/>
          </a:p>
        </p:txBody>
      </p:sp>
      <p:sp>
        <p:nvSpPr>
          <p:cNvPr id="21" name="Card title GATE"/>
          <p:cNvSpPr txBox="1"/>
          <p:nvPr/>
        </p:nvSpPr>
        <p:spPr>
          <a:xfrm>
            <a:off x="6327648" y="2523744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GATE</a:t>
            </a:r>
            <a:endParaRPr lang="en-US" sz="1250"/>
          </a:p>
        </p:txBody>
      </p:sp>
      <p:sp>
        <p:nvSpPr>
          <p:cNvPr id="22" name="Card body GATE"/>
          <p:cNvSpPr txBox="1"/>
          <p:nvPr/>
        </p:nvSpPr>
        <p:spPr>
          <a:xfrm>
            <a:off x="6327648" y="2935224"/>
            <a:ext cx="223113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Confidence → abstain / confirm / repair</a:t>
            </a:r>
            <a:endParaRPr lang="en-US" sz="900"/>
          </a:p>
        </p:txBody>
      </p:sp>
      <p:sp>
        <p:nvSpPr>
          <p:cNvPr id="23" name="Card HAND OFF"/>
          <p:cNvSpPr/>
          <p:nvPr/>
        </p:nvSpPr>
        <p:spPr>
          <a:xfrm>
            <a:off x="8933688" y="2084832"/>
            <a:ext cx="2542032" cy="202996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ard accent HAND OFF"/>
          <p:cNvSpPr/>
          <p:nvPr/>
        </p:nvSpPr>
        <p:spPr>
          <a:xfrm>
            <a:off x="8933688" y="2084832"/>
            <a:ext cx="54864" cy="202996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abel HAND OFF"/>
          <p:cNvSpPr txBox="1"/>
          <p:nvPr/>
        </p:nvSpPr>
        <p:spPr>
          <a:xfrm>
            <a:off x="9098280" y="2221992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04</a:t>
            </a:r>
            <a:endParaRPr lang="en-US" sz="680"/>
          </a:p>
        </p:txBody>
      </p:sp>
      <p:sp>
        <p:nvSpPr>
          <p:cNvPr id="26" name="Card title HAND OFF"/>
          <p:cNvSpPr txBox="1"/>
          <p:nvPr/>
        </p:nvSpPr>
        <p:spPr>
          <a:xfrm>
            <a:off x="9098280" y="2523744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HAND OFF</a:t>
            </a:r>
            <a:endParaRPr lang="en-US" sz="1250"/>
          </a:p>
        </p:txBody>
      </p:sp>
      <p:sp>
        <p:nvSpPr>
          <p:cNvPr id="27" name="Card body HAND OFF"/>
          <p:cNvSpPr txBox="1"/>
          <p:nvPr/>
        </p:nvSpPr>
        <p:spPr>
          <a:xfrm>
            <a:off x="9098280" y="2935224"/>
            <a:ext cx="223113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Confirmed text → existing agent / CRM</a:t>
            </a:r>
            <a:endParaRPr lang="en-US" sz="900"/>
          </a:p>
        </p:txBody>
      </p:sp>
      <p:sp>
        <p:nvSpPr>
          <p:cNvPr id="28" name="Human control"/>
          <p:cNvSpPr/>
          <p:nvPr/>
        </p:nvSpPr>
        <p:spPr>
          <a:xfrm>
            <a:off x="621792" y="4462272"/>
            <a:ext cx="10844784" cy="1024128"/>
          </a:xfrm>
          <a:prstGeom prst="roundRect">
            <a:avLst/>
          </a:prstGeom>
          <a:solidFill>
            <a:srgbClr val="22342E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Human gate"/>
          <p:cNvSpPr txBox="1"/>
          <p:nvPr/>
        </p:nvSpPr>
        <p:spPr>
          <a:xfrm>
            <a:off x="877824" y="4681728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1" dirty="0">
                <a:solidFill>
                  <a:srgbClr val="F4F0E6"/>
                </a:solidFill>
                <a:latin typeface="Arial"/>
              </a:rPr>
              <a:t>HUMAN CONTROL  Low confidence stops. Confirmation precedes action. Repair is part of the interface.</a:t>
            </a:r>
            <a:endParaRPr lang="en-US" sz="1120"/>
          </a:p>
        </p:txBody>
      </p:sp>
      <p:sp>
        <p:nvSpPr>
          <p:cNvPr id="30" name="Exclusions"/>
          <p:cNvSpPr txBox="1"/>
          <p:nvPr/>
        </p:nvSpPr>
        <p:spPr>
          <a:xfrm>
            <a:off x="731520" y="57607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8B5C"/>
                </a:solidFill>
                <a:latin typeface="Arial"/>
              </a:rPr>
              <a:t>NOT open-vocabulary transcription · NOT mind reading · NOT autonomous billing changes · NO working physical prototype</a:t>
            </a:r>
            <a:endParaRPr lang="en-US" sz="900"/>
          </a:p>
        </p:txBody>
      </p:sp>
      <p:sp>
        <p:nvSpPr>
          <p:cNvPr id="31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Proposed architecture; no physical prototype, model, or project performance · C05, C19, C21–C23.</a:t>
            </a:r>
            <a:endParaRPr lang="en-US" sz="6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: Evidence, differentiation &amp; privacy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03 / 04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Evidence, differentiation &amp; privacy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Published signals. Explicit boundaries.</a:t>
            </a:r>
            <a:endParaRPr lang="en-US" sz="1280"/>
          </a:p>
        </p:txBody>
      </p:sp>
      <p:sp>
        <p:nvSpPr>
          <p:cNvPr id="8" name="Card SilentWear"/>
          <p:cNvSpPr/>
          <p:nvPr/>
        </p:nvSpPr>
        <p:spPr>
          <a:xfrm>
            <a:off x="621792" y="1956816"/>
            <a:ext cx="3401568" cy="1426464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ard accent SilentWear"/>
          <p:cNvSpPr/>
          <p:nvPr/>
        </p:nvSpPr>
        <p:spPr>
          <a:xfrm>
            <a:off x="621792" y="1956816"/>
            <a:ext cx="54864" cy="1426464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abel SilentWear"/>
          <p:cNvSpPr txBox="1"/>
          <p:nvPr/>
        </p:nvSpPr>
        <p:spPr>
          <a:xfrm>
            <a:off x="786384" y="2093976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PREPRINT · R26</a:t>
            </a:r>
            <a:endParaRPr lang="en-US" sz="680"/>
          </a:p>
        </p:txBody>
      </p:sp>
      <p:sp>
        <p:nvSpPr>
          <p:cNvPr id="11" name="Card title SilentWear"/>
          <p:cNvSpPr txBox="1"/>
          <p:nvPr/>
        </p:nvSpPr>
        <p:spPr>
          <a:xfrm>
            <a:off x="786384" y="2395728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SilentWear</a:t>
            </a:r>
            <a:endParaRPr lang="en-US" sz="1250"/>
          </a:p>
        </p:txBody>
      </p:sp>
      <p:sp>
        <p:nvSpPr>
          <p:cNvPr id="12" name="Card body SilentWear"/>
          <p:cNvSpPr txBox="1"/>
          <p:nvPr/>
        </p:nvSpPr>
        <p:spPr>
          <a:xfrm>
            <a:off x="786384" y="2807208"/>
            <a:ext cx="3090672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n=4 · 14 neck sEMG channels · 8 commands + rest · 77.5±6.6% global CV; 59.3±2.2% held-out session. Not this project.</a:t>
            </a:r>
            <a:endParaRPr lang="en-US" sz="900"/>
          </a:p>
        </p:txBody>
      </p:sp>
      <p:sp>
        <p:nvSpPr>
          <p:cNvPr id="13" name="Card Gaddy &amp; Klein"/>
          <p:cNvSpPr/>
          <p:nvPr/>
        </p:nvSpPr>
        <p:spPr>
          <a:xfrm>
            <a:off x="621792" y="3584448"/>
            <a:ext cx="3401568" cy="1426464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ard accent Gaddy &amp; Klein"/>
          <p:cNvSpPr/>
          <p:nvPr/>
        </p:nvSpPr>
        <p:spPr>
          <a:xfrm>
            <a:off x="621792" y="3584448"/>
            <a:ext cx="54864" cy="1426464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abel Gaddy &amp; Klein"/>
          <p:cNvSpPr txBox="1"/>
          <p:nvPr/>
        </p:nvSpPr>
        <p:spPr>
          <a:xfrm>
            <a:off x="786384" y="372160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PEER-REVIEWED · R03–R04</a:t>
            </a:r>
            <a:endParaRPr lang="en-US" sz="680"/>
          </a:p>
        </p:txBody>
      </p:sp>
      <p:sp>
        <p:nvSpPr>
          <p:cNvPr id="16" name="Card title Gaddy &amp; Klein"/>
          <p:cNvSpPr txBox="1"/>
          <p:nvPr/>
        </p:nvSpPr>
        <p:spPr>
          <a:xfrm>
            <a:off x="786384" y="4023360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Gaddy &amp; Klein</a:t>
            </a:r>
            <a:endParaRPr lang="en-US" sz="1250"/>
          </a:p>
        </p:txBody>
      </p:sp>
      <p:sp>
        <p:nvSpPr>
          <p:cNvPr id="17" name="Card body Gaddy &amp; Klein"/>
          <p:cNvSpPr txBox="1"/>
          <p:nvPr/>
        </p:nvSpPr>
        <p:spPr>
          <a:xfrm>
            <a:off x="786384" y="4434840"/>
            <a:ext cx="3090672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Facial-sEMG silent-speech research; single-speaker research line. No product or transfer claim.</a:t>
            </a:r>
            <a:endParaRPr lang="en-US" sz="900"/>
          </a:p>
        </p:txBody>
      </p:sp>
      <p:sp>
        <p:nvSpPr>
          <p:cNvPr id="18" name="Card Do not collapse the field"/>
          <p:cNvSpPr/>
          <p:nvPr/>
        </p:nvSpPr>
        <p:spPr>
          <a:xfrm>
            <a:off x="4261104" y="1956816"/>
            <a:ext cx="3310128" cy="3054096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ard accent Do not collapse the field"/>
          <p:cNvSpPr/>
          <p:nvPr/>
        </p:nvSpPr>
        <p:spPr>
          <a:xfrm>
            <a:off x="4261104" y="1956816"/>
            <a:ext cx="54864" cy="3054096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abel Do not collapse the field"/>
          <p:cNvSpPr txBox="1"/>
          <p:nvPr/>
        </p:nvSpPr>
        <p:spPr>
          <a:xfrm>
            <a:off x="4425696" y="2093976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B5C"/>
                </a:solidFill>
                <a:latin typeface="Arial"/>
              </a:rPr>
              <a:t>DIFFERENT CATEGORIES</a:t>
            </a:r>
            <a:endParaRPr lang="en-US" sz="680"/>
          </a:p>
        </p:txBody>
      </p:sp>
      <p:sp>
        <p:nvSpPr>
          <p:cNvPr id="21" name="Card title Do not collapse the field"/>
          <p:cNvSpPr txBox="1"/>
          <p:nvPr/>
        </p:nvSpPr>
        <p:spPr>
          <a:xfrm>
            <a:off x="4425696" y="2395728"/>
            <a:ext cx="299923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Do not collapse the field</a:t>
            </a:r>
            <a:endParaRPr lang="en-US" sz="1250"/>
          </a:p>
        </p:txBody>
      </p:sp>
      <p:sp>
        <p:nvSpPr>
          <p:cNvPr id="22" name="Card body Do not collapse the field"/>
          <p:cNvSpPr txBox="1"/>
          <p:nvPr/>
        </p:nvSpPr>
        <p:spPr>
          <a:xfrm>
            <a:off x="4425696" y="2807208"/>
            <a:ext cx="2999232" cy="2121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Gesture: Meta wrist sEMG
Optical/contactless: Q Cue patent
Acoustic / IMU: EarCommand, EchoSpeech, MuteIt
Implanted: clinical neuroprostheses
Different sensing, tasks, status and risk.</a:t>
            </a:r>
            <a:endParaRPr lang="en-US" sz="900"/>
          </a:p>
        </p:txBody>
      </p:sp>
      <p:sp>
        <p:nvSpPr>
          <p:cNvPr id="23" name="Card Minimize by design"/>
          <p:cNvSpPr/>
          <p:nvPr/>
        </p:nvSpPr>
        <p:spPr>
          <a:xfrm>
            <a:off x="7808976" y="1956816"/>
            <a:ext cx="3493008" cy="3054096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ard accent Minimize by design"/>
          <p:cNvSpPr/>
          <p:nvPr/>
        </p:nvSpPr>
        <p:spPr>
          <a:xfrm>
            <a:off x="7808976" y="1956816"/>
            <a:ext cx="54864" cy="3054096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abel Minimize by design"/>
          <p:cNvSpPr txBox="1"/>
          <p:nvPr/>
        </p:nvSpPr>
        <p:spPr>
          <a:xfrm>
            <a:off x="7973568" y="2093976"/>
            <a:ext cx="31821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IN-USE PRIVACY REQUIREMENTS</a:t>
            </a:r>
            <a:endParaRPr lang="en-US" sz="680"/>
          </a:p>
        </p:txBody>
      </p:sp>
      <p:sp>
        <p:nvSpPr>
          <p:cNvPr id="26" name="Card title Minimize by design"/>
          <p:cNvSpPr txBox="1"/>
          <p:nvPr/>
        </p:nvSpPr>
        <p:spPr>
          <a:xfrm>
            <a:off x="7973568" y="2395728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Minimize by design</a:t>
            </a:r>
            <a:endParaRPr lang="en-US" sz="1250"/>
          </a:p>
        </p:txBody>
      </p:sp>
      <p:sp>
        <p:nvSpPr>
          <p:cNvPr id="27" name="Card body Minimize by design"/>
          <p:cNvSpPr txBox="1"/>
          <p:nvPr/>
        </p:nvSpPr>
        <p:spPr>
          <a:xfrm>
            <a:off x="7973568" y="2807208"/>
            <a:ext cx="3182112" cy="2121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Raw signals stay on device during use. Decoded text remains personal data. Calibration requires explicit opt-in. No emotion or medical inference is produced.</a:t>
            </a:r>
            <a:endParaRPr lang="en-US" sz="900"/>
          </a:p>
        </p:txBody>
      </p:sp>
      <p:sp>
        <p:nvSpPr>
          <p:cNvPr id="28" name="Privacy boundary"/>
          <p:cNvSpPr txBox="1"/>
          <p:nvPr/>
        </p:nvSpPr>
        <p:spPr>
          <a:xfrm>
            <a:off x="685800" y="5330952"/>
            <a:ext cx="1071676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dirty="0">
                <a:solidFill>
                  <a:srgbClr val="B8B7AD"/>
                </a:solidFill>
                <a:latin typeface="Arial"/>
              </a:rPr>
              <a:t>Design targets—not certification: explicit lock · contact required · confirmation · least privilege · deletion · conventional fallback</a:t>
            </a:r>
            <a:endParaRPr lang="en-US" sz="910"/>
          </a:p>
        </p:txBody>
      </p:sp>
      <p:sp>
        <p:nvSpPr>
          <p:cNvPr id="29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External evidence only · R03–R04, R21, R26, R28, R30, R32–R33, R38–R40.</a:t>
            </a:r>
            <a:endParaRPr lang="en-US" sz="61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: The 90-day pilot decision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04 / 04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The 90-day pilot decision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Buy evidence before deployment</a:t>
            </a:r>
            <a:endParaRPr lang="en-US" sz="1280"/>
          </a:p>
        </p:txBody>
      </p:sp>
      <p:sp>
        <p:nvSpPr>
          <p:cNvPr id="8" name="Pilot ask"/>
          <p:cNvSpPr/>
          <p:nvPr/>
        </p:nvSpPr>
        <p:spPr>
          <a:xfrm>
            <a:off x="621792" y="1938528"/>
            <a:ext cx="3063240" cy="3273552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Pilot label"/>
          <p:cNvSpPr txBox="1"/>
          <p:nvPr/>
        </p:nvSpPr>
        <p:spPr>
          <a:xfrm>
            <a:off x="868680" y="22677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" b="1" dirty="0">
                <a:solidFill>
                  <a:srgbClr val="FF8B5C"/>
                </a:solidFill>
                <a:latin typeface="Arial"/>
              </a:rPr>
              <a:t>FIXED FEE · 90 DAYS</a:t>
            </a:r>
            <a:endParaRPr lang="en-US" sz="820"/>
          </a:p>
        </p:txBody>
      </p:sp>
      <p:sp>
        <p:nvSpPr>
          <p:cNvPr id="10" name="Pilot price"/>
          <p:cNvSpPr txBox="1"/>
          <p:nvPr/>
        </p:nvSpPr>
        <p:spPr>
          <a:xfrm>
            <a:off x="758952" y="2834640"/>
            <a:ext cx="2761488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dirty="0">
                <a:solidFill>
                  <a:srgbClr val="FF8B5C"/>
                </a:solidFill>
                <a:latin typeface="Arial"/>
              </a:rPr>
              <a:t>AED 1,000,000</a:t>
            </a:r>
            <a:endParaRPr lang="en-US" sz="2250"/>
          </a:p>
        </p:txBody>
      </p:sp>
      <p:sp>
        <p:nvSpPr>
          <p:cNvPr id="11" name="Pilot scope"/>
          <p:cNvSpPr txBox="1"/>
          <p:nvPr/>
        </p:nvSpPr>
        <p:spPr>
          <a:xfrm>
            <a:off x="914400" y="3822192"/>
            <a:ext cx="246888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0" dirty="0">
                <a:solidFill>
                  <a:srgbClr val="B8B7AD"/>
                </a:solidFill>
                <a:latin typeface="Arial"/>
              </a:rPr>
              <a:t>e&amp; beachhead · one low-consequence workflow · go / change / stop report</a:t>
            </a:r>
            <a:endParaRPr lang="en-US" sz="990"/>
          </a:p>
        </p:txBody>
      </p:sp>
      <p:sp>
        <p:nvSpPr>
          <p:cNvPr id="12" name="Card Problem + user"/>
          <p:cNvSpPr/>
          <p:nvPr/>
        </p:nvSpPr>
        <p:spPr>
          <a:xfrm>
            <a:off x="3968496" y="1938528"/>
            <a:ext cx="2286000" cy="239572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Card accent Problem + user"/>
          <p:cNvSpPr/>
          <p:nvPr/>
        </p:nvSpPr>
        <p:spPr>
          <a:xfrm>
            <a:off x="3968496" y="1938528"/>
            <a:ext cx="54864" cy="239572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abel Problem + user"/>
          <p:cNvSpPr txBox="1"/>
          <p:nvPr/>
        </p:nvSpPr>
        <p:spPr>
          <a:xfrm>
            <a:off x="4133088" y="2075688"/>
            <a:ext cx="19751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SUCCESS</a:t>
            </a:r>
            <a:endParaRPr lang="en-US" sz="680"/>
          </a:p>
        </p:txBody>
      </p:sp>
      <p:sp>
        <p:nvSpPr>
          <p:cNvPr id="15" name="Card title Problem + user"/>
          <p:cNvSpPr txBox="1"/>
          <p:nvPr/>
        </p:nvSpPr>
        <p:spPr>
          <a:xfrm>
            <a:off x="4133088" y="2377440"/>
            <a:ext cx="19751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Problem + user</a:t>
            </a:r>
            <a:endParaRPr lang="en-US" sz="1250"/>
          </a:p>
        </p:txBody>
      </p:sp>
      <p:sp>
        <p:nvSpPr>
          <p:cNvPr id="16" name="Card body Problem + user"/>
          <p:cNvSpPr txBox="1"/>
          <p:nvPr/>
        </p:nvSpPr>
        <p:spPr>
          <a:xfrm>
            <a:off x="4133088" y="278892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Current input loses on whole-task value; voluntary users prefer the channel.</a:t>
            </a:r>
            <a:endParaRPr lang="en-US" sz="900"/>
          </a:p>
        </p:txBody>
      </p:sp>
      <p:sp>
        <p:nvSpPr>
          <p:cNvPr id="17" name="Card Bench + field"/>
          <p:cNvSpPr/>
          <p:nvPr/>
        </p:nvSpPr>
        <p:spPr>
          <a:xfrm>
            <a:off x="6455664" y="1938528"/>
            <a:ext cx="2286000" cy="239572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Card accent Bench + field"/>
          <p:cNvSpPr/>
          <p:nvPr/>
        </p:nvSpPr>
        <p:spPr>
          <a:xfrm>
            <a:off x="6455664" y="1938528"/>
            <a:ext cx="54864" cy="239572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Label Bench + field"/>
          <p:cNvSpPr txBox="1"/>
          <p:nvPr/>
        </p:nvSpPr>
        <p:spPr>
          <a:xfrm>
            <a:off x="6620256" y="2075688"/>
            <a:ext cx="19751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SUCCESS</a:t>
            </a:r>
            <a:endParaRPr lang="en-US" sz="680"/>
          </a:p>
        </p:txBody>
      </p:sp>
      <p:sp>
        <p:nvSpPr>
          <p:cNvPr id="20" name="Card title Bench + field"/>
          <p:cNvSpPr txBox="1"/>
          <p:nvPr/>
        </p:nvSpPr>
        <p:spPr>
          <a:xfrm>
            <a:off x="6620256" y="2377440"/>
            <a:ext cx="19751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Bench + field</a:t>
            </a:r>
            <a:endParaRPr lang="en-US" sz="1250"/>
          </a:p>
        </p:txBody>
      </p:sp>
      <p:sp>
        <p:nvSpPr>
          <p:cNvPr id="21" name="Card body Bench + field"/>
          <p:cNvSpPr txBox="1"/>
          <p:nvPr/>
        </p:nvSpPr>
        <p:spPr>
          <a:xfrm>
            <a:off x="6620256" y="278892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Errors are contained; transfer, complete latency, wear, fallback and task value pass pre-agreed thresholds.</a:t>
            </a:r>
            <a:endParaRPr lang="en-US" sz="900"/>
          </a:p>
        </p:txBody>
      </p:sp>
      <p:sp>
        <p:nvSpPr>
          <p:cNvPr id="22" name="Card Stop on purpose"/>
          <p:cNvSpPr/>
          <p:nvPr/>
        </p:nvSpPr>
        <p:spPr>
          <a:xfrm>
            <a:off x="8942832" y="1938528"/>
            <a:ext cx="2286000" cy="2395728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Card accent Stop on purpose"/>
          <p:cNvSpPr/>
          <p:nvPr/>
        </p:nvSpPr>
        <p:spPr>
          <a:xfrm>
            <a:off x="8942832" y="1938528"/>
            <a:ext cx="54864" cy="2395728"/>
          </a:xfrm>
          <a:prstGeom prst="rect">
            <a:avLst/>
          </a:prstGeom>
          <a:solidFill>
            <a:srgbClr val="FF857E"/>
          </a:solidFill>
          <a:ln w="12700">
            <a:solidFill>
              <a:srgbClr val="FF85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abel Stop on purpose"/>
          <p:cNvSpPr txBox="1"/>
          <p:nvPr/>
        </p:nvSpPr>
        <p:spPr>
          <a:xfrm>
            <a:off x="9107424" y="2075688"/>
            <a:ext cx="19751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57E"/>
                </a:solidFill>
                <a:latin typeface="Arial"/>
              </a:rPr>
              <a:t>NO-GO</a:t>
            </a:r>
            <a:endParaRPr lang="en-US" sz="680"/>
          </a:p>
        </p:txBody>
      </p:sp>
      <p:sp>
        <p:nvSpPr>
          <p:cNvPr id="25" name="Card title Stop on purpose"/>
          <p:cNvSpPr txBox="1"/>
          <p:nvPr/>
        </p:nvSpPr>
        <p:spPr>
          <a:xfrm>
            <a:off x="9107424" y="2377440"/>
            <a:ext cx="19751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Stop on purpose</a:t>
            </a:r>
            <a:endParaRPr lang="en-US" sz="1250"/>
          </a:p>
        </p:txBody>
      </p:sp>
      <p:sp>
        <p:nvSpPr>
          <p:cNvPr id="26" name="Card body Stop on purpose"/>
          <p:cNvSpPr txBox="1"/>
          <p:nvPr/>
        </p:nvSpPr>
        <p:spPr>
          <a:xfrm>
            <a:off x="9107424" y="278892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Existing input wins, consent is compromised, errors escape confirmation, burden defeats value, or governance vetoes.</a:t>
            </a:r>
            <a:endParaRPr lang="en-US" sz="900"/>
          </a:p>
        </p:txBody>
      </p:sp>
      <p:sp>
        <p:nvSpPr>
          <p:cNvPr id="27" name="Next decision"/>
          <p:cNvSpPr/>
          <p:nvPr/>
        </p:nvSpPr>
        <p:spPr>
          <a:xfrm>
            <a:off x="3968496" y="4617720"/>
            <a:ext cx="7260336" cy="932688"/>
          </a:xfrm>
          <a:prstGeom prst="roundRect">
            <a:avLst/>
          </a:prstGeom>
          <a:solidFill>
            <a:srgbClr val="22342E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Next decision text"/>
          <p:cNvSpPr txBox="1"/>
          <p:nvPr/>
        </p:nvSpPr>
        <p:spPr>
          <a:xfrm>
            <a:off x="4187952" y="4800600"/>
            <a:ext cx="683971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b="1" dirty="0">
                <a:solidFill>
                  <a:srgbClr val="F4F0E6"/>
                </a:solidFill>
                <a:latin typeface="Arial"/>
              </a:rPr>
              <a:t>SEPARATE DEPLOYMENT DECISION AFTER EVIDENCE  ·  per-seat pricing TBD  ·  strategic funding / acquisition optional, unpriced upside</a:t>
            </a:r>
            <a:endParaRPr lang="en-US" sz="920"/>
          </a:p>
        </p:txBody>
      </p:sp>
      <p:sp>
        <p:nvSpPr>
          <p:cNvPr id="29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Captain decision · AED 1,000,000 applies only to the fixed-fee pilot · H02–H03.</a:t>
            </a:r>
            <a:endParaRPr lang="en-US" sz="61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et Channel Theme">
  <a:themeElements>
    <a:clrScheme name="Quiet Channel">
      <a:dk1>
        <a:srgbClr val="101816"/>
      </a:dk1>
      <a:lt1>
        <a:srgbClr val="FFFFFF"/>
      </a:lt1>
      <a:dk2>
        <a:srgbClr val="1C2925"/>
      </a:dk2>
      <a:lt2>
        <a:srgbClr val="F4F0E6"/>
      </a:lt2>
      <a:accent1>
        <a:srgbClr val="5CD3BD"/>
      </a:accent1>
      <a:accent2>
        <a:srgbClr val="FF8B5C"/>
      </a:accent2>
      <a:accent3>
        <a:srgbClr val="DDEB79"/>
      </a:accent3>
      <a:accent4>
        <a:srgbClr val="93B9FF"/>
      </a:accent4>
      <a:accent5>
        <a:srgbClr val="FF857E"/>
      </a:accent5>
      <a:accent6>
        <a:srgbClr val="858B85"/>
      </a:accent6>
      <a:hlink>
        <a:srgbClr val="5CD3BD"/>
      </a:hlink>
      <a:folHlink>
        <a:srgbClr val="FF8B5C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uiet Channel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12700" cap="flat" cmpd="sng" algn="ctr">
          <a:solidFill>
            <a:schemeClr val="phClr"/>
          </a:solidFill>
          <a:prstDash val="solid"/>
          <a:round/>
          <a:headEnd type="none" w="med" len="med"/>
          <a:tailEnd type="none" w="med" len="me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dk1"/>
        </a:solidFill>
        <a:solidFill>
          <a:schemeClr val="dk2"/>
        </a:solidFill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Standard Library OOXML Builder</Application>
  <PresentationFormat>On-screen Show (16:9)</PresentationFormat>
  <Slides>4</Slides>
  <Notes>4</Notes>
  <HiddenSlides>0</HiddenSlides>
  <MMClips>0</MMClips>
  <ScaleCrop>false</ScaleCrop>
  <HeadingPairs>
    <vt:vector size="2" baseType="variant">
      <vt:variant>
        <vt:lpstr>Slide Titles</vt:lpstr>
      </vt:variant>
      <vt:variant>
        <vt:i4>4</vt:i4>
      </vt:variant>
    </vt:vector>
  </HeadingPairs>
  <TitlesOfParts>
    <vt:vector size="4" baseType="lpstr">
      <vt:lpstr>The opportunity</vt:lpstr>
      <vt:lpstr>How it works</vt:lpstr>
      <vt:lpstr>Evidence, differentiation &amp; privacy</vt:lpstr>
      <vt:lpstr>The 90-day pilot decision</vt:lpstr>
    </vt:vector>
  </TitlesOfParts>
  <Company>Silent Speech Technology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Quiet Channel — Four-Slide Decision Deck</dc:title>
  <dc:subject>Editable four-slide silent command interface concept</dc:subject>
  <dc:creator>Silent Speech Technology project</dc:creator>
  <cp:keywords>silent speech; concept; simulated; evidence; e&amp;</cp:keywords>
  <dc:description>Generated deterministically from repository evidence. No product-performance claim.</dc:description>
  <cp:lastModifiedBy>Standard-library OOXML builder</cp:lastModifiedBy>
  <cp:revision>1</cp:revision>
  <dcterms:created xsi:type="dcterms:W3CDTF">2026-07-28T00:00:00Z</dcterms:created>
  <dcterms:modified xsi:type="dcterms:W3CDTF">2026-07-28T00:00:00Z</dcterms:modified>
</cp:coreProperties>
</file>