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</p:sldIdLst>
  <p:sldSz cx="12192000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/>
  <p:slideViewPr>
    <p:cSldViewPr snapToGrid="1" snapToObjects="1"/>
  </p:slideViewPr>
  <p:notesTextViewPr>
    <p:cViewPr varScale="1">
      <p:scale>
        <a:sx n="100" d="100"/>
        <a:sy n="100" d="100"/>
      </p:scale>
      <p:origin x="0" y="0"/>
    </p:cViewPr>
  </p:notesTextViewPr>
  <p:gridSpacing cx="109728" cy="10972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Quiet Channel Notes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hf hdr="0" ftr="0" dt="0" sldNum="0"/>
  <p:notesStyle>
    <a:lvl1pPr marL="0" indent="0">
      <a:defRPr sz="1150"/>
    </a:lvl1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lide 1 presenter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 Placeholder 1"/>
          <p:cNvSpPr txBox="1"/>
          <p:nvPr>
            <p:ph type="body" idx="1"/>
          </p:nvPr>
        </p:nvSpPr>
        <p:spPr>
          <a:xfrm>
            <a:off x="594360" y="594360"/>
            <a:ext cx="5669280" cy="7589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/>
          <a:lstStyle/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ROLE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Open on a narrow, testable operating opportunity—not a device reveal.</a:t>
            </a:r>
            <a:endParaRPr lang="en-US" sz="1150"/>
          </a:p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TALK TRACK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e&amp; frontline retail advisors and field technicians are the captain-selected beachhead. Stage 0 still selects one exact low-consequence workflow and compares the two roles separately. The test is whether a quiet command lane beats voice, touch, shortcuts, or no new system on whole-task value.</a:t>
            </a:r>
            <a:endParaRPr lang="en-US" sz="1150"/>
          </a:p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BOUNDARY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No hardware, model, user research, customer, integration, project performance, or validated demand exists. The contexts are hypotheses, not observed pain or traction.</a:t>
            </a:r>
            <a:endParaRPr lang="en-US" sz="1150"/>
          </a:p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SOURCES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research/claim-ledger.md C06; provenance/decisions.md H01.</a:t>
            </a:r>
            <a:endParaRPr lang="en-US" sz="115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lide 2 presenter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 Placeholder 1"/>
          <p:cNvSpPr txBox="1"/>
          <p:nvPr>
            <p:ph type="body" idx="1"/>
          </p:nvPr>
        </p:nvSpPr>
        <p:spPr>
          <a:xfrm>
            <a:off x="594360" y="594360"/>
            <a:ext cx="5669280" cy="7589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/>
          <a:lstStyle/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ROLE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Make the human gate—not an imagined wearable—the product idea.</a:t>
            </a:r>
            <a:endParaRPr lang="en-US" sz="1150"/>
          </a:p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TALK TRACK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A deliberate start opens a proposed surface-EMG research path into a fixed command candidate list. Low confidence abstains. A user previews, confirms, rejects, or repairs before confirmed text reaches an existing assistant. In the demo, the signal, candidates, scores, failure, repair, and timing are authored fixtures.</a:t>
            </a:r>
            <a:endParaRPr lang="en-US" sz="1150"/>
          </a:p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BOUNDARY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This is proposed architecture. There is no physical prototype, model, on-device benchmark, implemented data flow, security proof, complete latency result, or assistant integration. It is not open-vocabulary transcription, mind reading, autonomous billing, payment, access control, or a medical/AAC system.</a:t>
            </a:r>
            <a:endParaRPr lang="en-US" sz="1150"/>
          </a:p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SOURCES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research/claim-boundary.md; research/claim-ledger.md C05, C19, C21–C23; demo/PRESENTER.md.</a:t>
            </a:r>
            <a:endParaRPr lang="en-US" sz="115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lide 3 presenter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 Placeholder 1"/>
          <p:cNvSpPr txBox="1"/>
          <p:nvPr>
            <p:ph type="body" idx="1"/>
          </p:nvPr>
        </p:nvSpPr>
        <p:spPr>
          <a:xfrm>
            <a:off x="594360" y="594360"/>
            <a:ext cx="5669280" cy="7589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/>
          <a:lstStyle/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ROLE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Use the held-out-session drop to explain what the pilot must buy down.</a:t>
            </a:r>
            <a:endParaRPr lang="en-US" sz="1150"/>
          </a:p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TALK TRACK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SilentWear v2 is the closest cited analogue: a preprint with four participants, 14 differential neck sEMG channels, eight commands plus rest, and top-1 command accuracy. It reports 77.5±6.6% average global cross-validated silent accuracy and 59.3±2.2% average held-out-session accuracy. The 18.2-point gap is derived from those reported means. Read the conditions before the values.</a:t>
            </a:r>
            <a:endParaRPr lang="en-US" sz="1150"/>
          </a:p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BOUNDARY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These are external study results, not this project's results or expectations. Gesture, optical, acoustic/IMU, open-vocabulary, and implanted systems answer different questions. Inference time is not complete latency. Hardware, transfer, task value, comfort, Arabic/Gulf behavior, privacy, and security remain unknown here.</a:t>
            </a:r>
            <a:endParaRPr lang="en-US" sz="1150"/>
          </a:p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SOURCES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SilentWear v2 preprint: https://arxiv.org/abs/2603.02847v2 ; research/claim-ledger.md C07, C13, C22; research/references.md R26.</a:t>
            </a:r>
            <a:endParaRPr lang="en-US" sz="115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lide 4 presenter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 Placeholder 1"/>
          <p:cNvSpPr txBox="1"/>
          <p:nvPr>
            <p:ph type="body" idx="1"/>
          </p:nvPr>
        </p:nvSpPr>
        <p:spPr>
          <a:xfrm>
            <a:off x="594360" y="594360"/>
            <a:ext cx="5669280" cy="758952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/>
          <a:lstStyle/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ROLE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Close on the fixed-fee decision programme and accountable owners.</a:t>
            </a:r>
            <a:endParaRPr lang="en-US" sz="1150"/>
          </a:p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TALK TRACK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The ask is AED 1,000,000 for a fixed-fee 90-day evidence programme. It selects one workflow, tests signal and failure containment, compares whole-task value and governance, and returns an explicit go, change, or stop report. e&amp; is the selected beachhead, not a claimed customer or agreed pilot.</a:t>
            </a:r>
            <a:endParaRPr lang="en-US" sz="1150"/>
          </a:p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BOUNDARY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The fee applies only to this 90-day pilot. Per-seat annual pricing, strategic IP or governed-dataset funding, valuation, and acquisition/exit amounts remain TBD and unpromised. No biosignal collection starts before workflow, consent, ethics/safety, privacy, labor, data-governance, and jurisdiction gates. Cohort, thresholds, allocations, team, sandbox, and deployment remain unagreed.</a:t>
            </a:r>
            <a:endParaRPr lang="en-US" sz="1150"/>
          </a:p>
          <a:p>
            <a:pPr algn="l" marL="0" indent="0">
              <a:spcBef>
                <a:spcPts val="320"/>
              </a:spcBef>
              <a:spcAft>
                <a:spcPts val="120"/>
              </a:spcAft>
              <a:buNone/>
            </a:pPr>
            <a:r>
              <a:rPr lang="en-US" sz="1100" b="1" dirty="0">
                <a:solidFill>
                  <a:srgbClr val="5CD3BD"/>
                </a:solidFill>
                <a:latin typeface="Arial"/>
              </a:rPr>
              <a:t>SOURCES</a:t>
            </a:r>
            <a:endParaRPr lang="en-US" sz="1100"/>
          </a:p>
          <a:p>
            <a:pPr algn="l" marL="0" indent="0">
              <a:spcBef>
                <a:spcPts val="0"/>
              </a:spcBef>
              <a:spcAft>
                <a:spcPts val="120"/>
              </a:spcAft>
              <a:buNone/>
            </a:pPr>
            <a:r>
              <a:rPr lang="en-US" sz="1150" dirty="0">
                <a:solidFill>
                  <a:srgbClr val="222222"/>
                </a:solidFill>
                <a:latin typeface="Arial"/>
              </a:rPr>
              <a:t>provenance/decisions.md H01–H03; research/claim-ledger.md C29.</a:t>
            </a:r>
            <a:endParaRPr lang="en-US" sz="1150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 name="Quiet Channel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dk1" bg2="dk2" folHlink="folHlink" hlink="hlink" tx1="lt1" tx2="lt2"/>
  <p:sldLayoutIdLst>
    <p:sldLayoutId id="1" r:id="rId1"/>
  </p:sldLayoutIdLst>
  <p:txStyles>
    <p:titleStyle>
      <a:lvl1pPr algn="l">
        <a:defRPr sz="4200" b="1"/>
      </a:lvl1pPr>
    </p:titleStyle>
    <p:bodyStyle>
      <a:lvl1pPr marL="0" indent="0">
        <a:defRPr sz="16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1: A quiet command lane for frontline work.">
    <p:bg>
      <p:bgPr>
        <a:solidFill>
          <a:srgbClr val="1018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1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Deck label"/>
          <p:cNvSpPr txBox="1"/>
          <p:nvPr/>
        </p:nvSpPr>
        <p:spPr>
          <a:xfrm>
            <a:off x="658368" y="27432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110" dirty="0">
                <a:solidFill>
                  <a:srgbClr val="5CD3BD"/>
                </a:solidFill>
                <a:latin typeface="Arial"/>
              </a:rPr>
              <a:t>QUIET CHANNEL</a:t>
            </a:r>
            <a:endParaRPr lang="en-US" sz="1050"/>
          </a:p>
        </p:txBody>
      </p:sp>
      <p:sp>
        <p:nvSpPr>
          <p:cNvPr id="4" name="Status label"/>
          <p:cNvSpPr txBox="1"/>
          <p:nvPr/>
        </p:nvSpPr>
        <p:spPr>
          <a:xfrm>
            <a:off x="9281160" y="274320"/>
            <a:ext cx="1691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spc="80" dirty="0">
                <a:solidFill>
                  <a:srgbClr val="B8B7AD"/>
                </a:solidFill>
                <a:latin typeface="Arial"/>
              </a:rPr>
              <a:t>CONCEPT / SIMULATED</a:t>
            </a:r>
            <a:endParaRPr lang="en-US" sz="950"/>
          </a:p>
        </p:txBody>
      </p:sp>
      <p:sp>
        <p:nvSpPr>
          <p:cNvPr id="5" name="Slide number"/>
          <p:cNvSpPr txBox="1"/>
          <p:nvPr/>
        </p:nvSpPr>
        <p:spPr>
          <a:xfrm>
            <a:off x="11082528" y="274320"/>
            <a:ext cx="448056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dirty="0">
                <a:solidFill>
                  <a:srgbClr val="858B85"/>
                </a:solidFill>
                <a:latin typeface="Arial"/>
              </a:rPr>
              <a:t>01/04</a:t>
            </a:r>
            <a:endParaRPr lang="en-US" sz="950"/>
          </a:p>
        </p:txBody>
      </p:sp>
      <p:cxnSp>
        <p:nvCxnSpPr>
          <p:cNvPr id="6" name="Header separator"/>
          <p:cNvCxnSpPr/>
          <p:nvPr/>
        </p:nvCxnSpPr>
        <p:spPr>
          <a:xfrm>
            <a:off x="8979408" y="393192"/>
            <a:ext cx="192024" cy="0"/>
          </a:xfrm>
          <a:prstGeom prst="line">
            <a:avLst/>
          </a:prstGeom>
          <a:ln w="9525" cap="round">
            <a:solidFill>
              <a:srgbClr val="53665F"/>
            </a:solidFill>
            <a:prstDash val="solid"/>
            <a:round/>
            <a:headEnd type="none"/>
            <a:tailEnd type="none"/>
          </a:ln>
        </p:spPr>
      </p:cxnSp>
      <p:sp>
        <p:nvSpPr>
          <p:cNvPr id="7" name="Eyebrow"/>
          <p:cNvSpPr txBox="1"/>
          <p:nvPr/>
        </p:nvSpPr>
        <p:spPr>
          <a:xfrm>
            <a:off x="658368" y="594360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100" dirty="0">
                <a:solidFill>
                  <a:srgbClr val="FF8B5C"/>
                </a:solidFill>
                <a:latin typeface="Arial"/>
              </a:rPr>
              <a:t>OPPORTUNITY</a:t>
            </a:r>
            <a:endParaRPr lang="en-US" sz="1050"/>
          </a:p>
        </p:txBody>
      </p:sp>
      <p:sp>
        <p:nvSpPr>
          <p:cNvPr id="8" name="Title"/>
          <p:cNvSpPr txBox="1"/>
          <p:nvPr/>
        </p:nvSpPr>
        <p:spPr>
          <a:xfrm>
            <a:off x="658368" y="877824"/>
            <a:ext cx="6583680" cy="1298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F4F0E6"/>
                </a:solidFill>
                <a:latin typeface="Arial"/>
              </a:rPr>
              <a:t>A quiet command lane</a:t>
            </a:r>
            <a:endParaRPr lang="en-US" sz="4200"/>
          </a:p>
          <a:p>
            <a:pPr algn="l" marL="0" indent="0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F4F0E6"/>
                </a:solidFill>
                <a:latin typeface="Arial"/>
              </a:rPr>
              <a:t>for frontline work.</a:t>
            </a:r>
            <a:endParaRPr lang="en-US" sz="4200"/>
          </a:p>
        </p:txBody>
      </p:sp>
      <p:sp>
        <p:nvSpPr>
          <p:cNvPr id="9" name="Premise"/>
          <p:cNvSpPr txBox="1"/>
          <p:nvPr/>
        </p:nvSpPr>
        <p:spPr>
          <a:xfrm>
            <a:off x="676656" y="2487168"/>
            <a:ext cx="598932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dirty="0">
                <a:solidFill>
                  <a:srgbClr val="B8B7AD"/>
                </a:solidFill>
                <a:latin typeface="Arial"/>
              </a:rPr>
              <a:t>One opt-in, low-consequence workflow.</a:t>
            </a:r>
            <a:endParaRPr lang="en-US" sz="1900"/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dirty="0">
                <a:solidFill>
                  <a:srgbClr val="B8B7AD"/>
                </a:solidFill>
                <a:latin typeface="Arial"/>
              </a:rPr>
              <a:t>Connect to the existing assistant.</a:t>
            </a:r>
            <a:endParaRPr lang="en-US" sz="1900"/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dirty="0">
                <a:solidFill>
                  <a:srgbClr val="B8B7AD"/>
                </a:solidFill>
                <a:latin typeface="Arial"/>
              </a:rPr>
              <a:t>Test against voice, touch and shortcuts.</a:t>
            </a:r>
            <a:endParaRPr lang="en-US" sz="1900"/>
          </a:p>
        </p:txBody>
      </p:sp>
      <p:cxnSp>
        <p:nvCxnSpPr>
          <p:cNvPr id="10" name="Editorial divider"/>
          <p:cNvCxnSpPr/>
          <p:nvPr/>
        </p:nvCxnSpPr>
        <p:spPr>
          <a:xfrm>
            <a:off x="7022592" y="1207008"/>
            <a:ext cx="0" cy="4114800"/>
          </a:xfrm>
          <a:prstGeom prst="line">
            <a:avLst/>
          </a:prstGeom>
          <a:ln w="9525" cap="round">
            <a:solidFill>
              <a:srgbClr val="53665F"/>
            </a:solidFill>
            <a:prstDash val="solid"/>
            <a:round/>
            <a:headEnd type="none"/>
            <a:tailEnd type="none"/>
          </a:ln>
        </p:spPr>
      </p:cxnSp>
      <p:sp>
        <p:nvSpPr>
          <p:cNvPr id="11" name="Retail context shape"/>
          <p:cNvSpPr/>
          <p:nvPr/>
        </p:nvSpPr>
        <p:spPr>
          <a:xfrm>
            <a:off x="7333488" y="1664208"/>
            <a:ext cx="1353312" cy="749808"/>
          </a:xfrm>
          <a:prstGeom prst="roundRect">
            <a:avLst>
              <a:gd name="adj" fmla="val 8000"/>
            </a:avLst>
          </a:prstGeom>
          <a:solidFill>
            <a:srgbClr val="17231F"/>
          </a:solidFill>
          <a:ln w="9525">
            <a:solidFill>
              <a:srgbClr val="5CD3B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tail context label"/>
          <p:cNvSpPr txBox="1"/>
          <p:nvPr/>
        </p:nvSpPr>
        <p:spPr>
          <a:xfrm>
            <a:off x="7443216" y="1737360"/>
            <a:ext cx="113385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RETAIL</a:t>
            </a:r>
            <a:endParaRPr lang="en-US" sz="140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MOMENT</a:t>
            </a:r>
            <a:endParaRPr lang="en-US" sz="1400"/>
          </a:p>
        </p:txBody>
      </p:sp>
      <p:sp>
        <p:nvSpPr>
          <p:cNvPr id="13" name="Field context shape"/>
          <p:cNvSpPr/>
          <p:nvPr/>
        </p:nvSpPr>
        <p:spPr>
          <a:xfrm>
            <a:off x="7333488" y="3895344"/>
            <a:ext cx="1353312" cy="749808"/>
          </a:xfrm>
          <a:prstGeom prst="roundRect">
            <a:avLst>
              <a:gd name="adj" fmla="val 8000"/>
            </a:avLst>
          </a:prstGeom>
          <a:solidFill>
            <a:srgbClr val="17231F"/>
          </a:solidFill>
          <a:ln w="9525">
            <a:solidFill>
              <a:srgbClr val="5CD3B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Field context label"/>
          <p:cNvSpPr txBox="1"/>
          <p:nvPr/>
        </p:nvSpPr>
        <p:spPr>
          <a:xfrm>
            <a:off x="7443216" y="3968496"/>
            <a:ext cx="1133856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FIELD</a:t>
            </a:r>
            <a:endParaRPr lang="en-US" sz="140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MOMENT</a:t>
            </a:r>
            <a:endParaRPr lang="en-US" sz="1400"/>
          </a:p>
        </p:txBody>
      </p:sp>
      <p:sp>
        <p:nvSpPr>
          <p:cNvPr id="15" name="Quiet command shape"/>
          <p:cNvSpPr/>
          <p:nvPr/>
        </p:nvSpPr>
        <p:spPr>
          <a:xfrm>
            <a:off x="9162288" y="2761488"/>
            <a:ext cx="1188720" cy="859536"/>
          </a:xfrm>
          <a:prstGeom prst="roundRect">
            <a:avLst>
              <a:gd name="adj" fmla="val 8000"/>
            </a:avLst>
          </a:prstGeom>
          <a:solidFill>
            <a:srgbClr val="1C2925"/>
          </a:solidFill>
          <a:ln w="19050">
            <a:solidFill>
              <a:srgbClr val="DDEB7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Quiet command label"/>
          <p:cNvSpPr txBox="1"/>
          <p:nvPr/>
        </p:nvSpPr>
        <p:spPr>
          <a:xfrm>
            <a:off x="9272016" y="2834640"/>
            <a:ext cx="969264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F4F0E6"/>
                </a:solidFill>
                <a:latin typeface="Arial"/>
              </a:rPr>
              <a:t>QUIET</a:t>
            </a:r>
            <a:endParaRPr lang="en-US" sz="170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F4F0E6"/>
                </a:solidFill>
                <a:latin typeface="Arial"/>
              </a:rPr>
              <a:t>COMMAND</a:t>
            </a:r>
            <a:endParaRPr lang="en-US" sz="1700"/>
          </a:p>
        </p:txBody>
      </p:sp>
      <p:sp>
        <p:nvSpPr>
          <p:cNvPr id="17" name="Existing assistant shape"/>
          <p:cNvSpPr/>
          <p:nvPr/>
        </p:nvSpPr>
        <p:spPr>
          <a:xfrm>
            <a:off x="10469880" y="2761488"/>
            <a:ext cx="1060704" cy="859536"/>
          </a:xfrm>
          <a:prstGeom prst="roundRect">
            <a:avLst>
              <a:gd name="adj" fmla="val 8000"/>
            </a:avLst>
          </a:prstGeom>
          <a:solidFill>
            <a:srgbClr val="17231F"/>
          </a:solidFill>
          <a:ln w="9525">
            <a:solidFill>
              <a:srgbClr val="5CD3B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Existing assistant label"/>
          <p:cNvSpPr txBox="1"/>
          <p:nvPr/>
        </p:nvSpPr>
        <p:spPr>
          <a:xfrm>
            <a:off x="10579608" y="2834640"/>
            <a:ext cx="84124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EXISTING</a:t>
            </a:r>
            <a:endParaRPr lang="en-US" sz="140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ASSISTANT</a:t>
            </a:r>
            <a:endParaRPr lang="en-US" sz="1400"/>
          </a:p>
        </p:txBody>
      </p:sp>
      <p:cxnSp>
        <p:nvCxnSpPr>
          <p:cNvPr id="19" name="Retail to command"/>
          <p:cNvCxnSpPr/>
          <p:nvPr/>
        </p:nvCxnSpPr>
        <p:spPr>
          <a:xfrm>
            <a:off x="8686800" y="2039112"/>
            <a:ext cx="475488" cy="1014984"/>
          </a:xfrm>
          <a:prstGeom prst="line">
            <a:avLst/>
          </a:prstGeom>
          <a:ln w="25400" cap="round">
            <a:solidFill>
              <a:srgbClr val="5CD3BD"/>
            </a:solidFill>
            <a:prstDash val="solid"/>
            <a:round/>
            <a:headEnd type="none"/>
            <a:tailEnd type="triangle" w="med" len="med"/>
          </a:ln>
        </p:spPr>
      </p:cxnSp>
      <p:cxnSp>
        <p:nvCxnSpPr>
          <p:cNvPr id="20" name="Field to command"/>
          <p:cNvCxnSpPr/>
          <p:nvPr/>
        </p:nvCxnSpPr>
        <p:spPr>
          <a:xfrm flipV="1">
            <a:off x="8686800" y="3328416"/>
            <a:ext cx="475488" cy="941832"/>
          </a:xfrm>
          <a:prstGeom prst="line">
            <a:avLst/>
          </a:prstGeom>
          <a:ln w="25400" cap="round">
            <a:solidFill>
              <a:srgbClr val="5CD3BD"/>
            </a:solidFill>
            <a:prstDash val="solid"/>
            <a:round/>
            <a:headEnd type="none"/>
            <a:tailEnd type="triangle" w="med" len="med"/>
          </a:ln>
        </p:spPr>
      </p:cxnSp>
      <p:cxnSp>
        <p:nvCxnSpPr>
          <p:cNvPr id="21" name="Command to assistant"/>
          <p:cNvCxnSpPr/>
          <p:nvPr/>
        </p:nvCxnSpPr>
        <p:spPr>
          <a:xfrm>
            <a:off x="10351008" y="3191256"/>
            <a:ext cx="118872" cy="0"/>
          </a:xfrm>
          <a:prstGeom prst="line">
            <a:avLst/>
          </a:prstGeom>
          <a:ln w="25400" cap="round">
            <a:solidFill>
              <a:srgbClr val="DDEB79"/>
            </a:solidFill>
            <a:prstDash val="solid"/>
            <a:round/>
            <a:headEnd type="none"/>
            <a:tailEnd type="triangle" w="med" len="med"/>
          </a:ln>
        </p:spPr>
      </p:cxnSp>
      <p:cxnSp>
        <p:nvCxnSpPr>
          <p:cNvPr id="22" name="Footer separator"/>
          <p:cNvCxnSpPr/>
          <p:nvPr/>
        </p:nvCxnSpPr>
        <p:spPr>
          <a:xfrm>
            <a:off x="658368" y="6364224"/>
            <a:ext cx="10872216" cy="0"/>
          </a:xfrm>
          <a:prstGeom prst="line">
            <a:avLst/>
          </a:prstGeom>
          <a:ln w="9525" cap="round">
            <a:solidFill>
              <a:srgbClr val="53665F"/>
            </a:solidFill>
            <a:prstDash val="solid"/>
            <a:round/>
            <a:headEnd type="none"/>
            <a:tailEnd type="none"/>
          </a:ln>
        </p:spPr>
      </p:cxnSp>
      <p:sp>
        <p:nvSpPr>
          <p:cNvPr id="23" name="Source footer"/>
          <p:cNvSpPr txBox="1"/>
          <p:nvPr/>
        </p:nvSpPr>
        <p:spPr>
          <a:xfrm>
            <a:off x="658368" y="6455664"/>
            <a:ext cx="1087221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dirty="0">
                <a:solidFill>
                  <a:srgbClr val="858B85"/>
                </a:solidFill>
                <a:latin typeface="Arial"/>
              </a:rPr>
              <a:t>Beachhead decision; workflow and demand unvalidated · C06 / H01</a:t>
            </a:r>
            <a:endParaRPr lang="en-US" sz="9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2: A fixed command channel. A human gate before action.">
    <p:bg>
      <p:bgPr>
        <a:solidFill>
          <a:srgbClr val="1018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1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Deck label"/>
          <p:cNvSpPr txBox="1"/>
          <p:nvPr/>
        </p:nvSpPr>
        <p:spPr>
          <a:xfrm>
            <a:off x="658368" y="27432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110" dirty="0">
                <a:solidFill>
                  <a:srgbClr val="5CD3BD"/>
                </a:solidFill>
                <a:latin typeface="Arial"/>
              </a:rPr>
              <a:t>QUIET CHANNEL</a:t>
            </a:r>
            <a:endParaRPr lang="en-US" sz="1050"/>
          </a:p>
        </p:txBody>
      </p:sp>
      <p:sp>
        <p:nvSpPr>
          <p:cNvPr id="4" name="Status label"/>
          <p:cNvSpPr txBox="1"/>
          <p:nvPr/>
        </p:nvSpPr>
        <p:spPr>
          <a:xfrm>
            <a:off x="9281160" y="274320"/>
            <a:ext cx="1691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spc="80" dirty="0">
                <a:solidFill>
                  <a:srgbClr val="B8B7AD"/>
                </a:solidFill>
                <a:latin typeface="Arial"/>
              </a:rPr>
              <a:t>CONCEPT / SIMULATED</a:t>
            </a:r>
            <a:endParaRPr lang="en-US" sz="950"/>
          </a:p>
        </p:txBody>
      </p:sp>
      <p:sp>
        <p:nvSpPr>
          <p:cNvPr id="5" name="Slide number"/>
          <p:cNvSpPr txBox="1"/>
          <p:nvPr/>
        </p:nvSpPr>
        <p:spPr>
          <a:xfrm>
            <a:off x="11082528" y="274320"/>
            <a:ext cx="448056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dirty="0">
                <a:solidFill>
                  <a:srgbClr val="858B85"/>
                </a:solidFill>
                <a:latin typeface="Arial"/>
              </a:rPr>
              <a:t>02/04</a:t>
            </a:r>
            <a:endParaRPr lang="en-US" sz="950"/>
          </a:p>
        </p:txBody>
      </p:sp>
      <p:cxnSp>
        <p:nvCxnSpPr>
          <p:cNvPr id="6" name="Header separator"/>
          <p:cNvCxnSpPr/>
          <p:nvPr/>
        </p:nvCxnSpPr>
        <p:spPr>
          <a:xfrm>
            <a:off x="8979408" y="393192"/>
            <a:ext cx="192024" cy="0"/>
          </a:xfrm>
          <a:prstGeom prst="line">
            <a:avLst/>
          </a:prstGeom>
          <a:ln w="9525" cap="round">
            <a:solidFill>
              <a:srgbClr val="53665F"/>
            </a:solidFill>
            <a:prstDash val="solid"/>
            <a:round/>
            <a:headEnd type="none"/>
            <a:tailEnd type="none"/>
          </a:ln>
        </p:spPr>
      </p:cxnSp>
      <p:sp>
        <p:nvSpPr>
          <p:cNvPr id="7" name="Eyebrow"/>
          <p:cNvSpPr txBox="1"/>
          <p:nvPr/>
        </p:nvSpPr>
        <p:spPr>
          <a:xfrm>
            <a:off x="658368" y="594360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100" dirty="0">
                <a:solidFill>
                  <a:srgbClr val="FF8B5C"/>
                </a:solidFill>
                <a:latin typeface="Arial"/>
              </a:rPr>
              <a:t>TRUSTED MECHANISM</a:t>
            </a:r>
            <a:endParaRPr lang="en-US" sz="1050"/>
          </a:p>
        </p:txBody>
      </p:sp>
      <p:sp>
        <p:nvSpPr>
          <p:cNvPr id="8" name="Title"/>
          <p:cNvSpPr txBox="1"/>
          <p:nvPr/>
        </p:nvSpPr>
        <p:spPr>
          <a:xfrm>
            <a:off x="658368" y="877824"/>
            <a:ext cx="8961120" cy="1261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F4F0E6"/>
                </a:solidFill>
                <a:latin typeface="Arial"/>
              </a:rPr>
              <a:t>A fixed command channel.</a:t>
            </a:r>
            <a:endParaRPr lang="en-US" sz="4200"/>
          </a:p>
          <a:p>
            <a:pPr algn="l" marL="0" indent="0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F4F0E6"/>
                </a:solidFill>
                <a:latin typeface="Arial"/>
              </a:rPr>
              <a:t>A human gate before action.</a:t>
            </a:r>
            <a:endParaRPr lang="en-US" sz="4200"/>
          </a:p>
        </p:txBody>
      </p:sp>
      <p:sp>
        <p:nvSpPr>
          <p:cNvPr id="9" name="Flow node 1 shape"/>
          <p:cNvSpPr/>
          <p:nvPr/>
        </p:nvSpPr>
        <p:spPr>
          <a:xfrm>
            <a:off x="658368" y="2670048"/>
            <a:ext cx="1499616" cy="1005840"/>
          </a:xfrm>
          <a:prstGeom prst="roundRect">
            <a:avLst>
              <a:gd name="adj" fmla="val 8000"/>
            </a:avLst>
          </a:prstGeom>
          <a:solidFill>
            <a:srgbClr val="17231F"/>
          </a:solidFill>
          <a:ln w="9525">
            <a:solidFill>
              <a:srgbClr val="5CD3B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Flow node 1 label"/>
          <p:cNvSpPr txBox="1"/>
          <p:nvPr/>
        </p:nvSpPr>
        <p:spPr>
          <a:xfrm>
            <a:off x="768096" y="2743200"/>
            <a:ext cx="1280160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DELIBERATE</a:t>
            </a:r>
            <a:endParaRPr lang="en-US" sz="140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START</a:t>
            </a:r>
            <a:endParaRPr lang="en-US" sz="1400"/>
          </a:p>
        </p:txBody>
      </p:sp>
      <p:sp>
        <p:nvSpPr>
          <p:cNvPr id="11" name="Flow node 2 shape"/>
          <p:cNvSpPr/>
          <p:nvPr/>
        </p:nvSpPr>
        <p:spPr>
          <a:xfrm>
            <a:off x="2542032" y="2670048"/>
            <a:ext cx="1499616" cy="1005840"/>
          </a:xfrm>
          <a:prstGeom prst="roundRect">
            <a:avLst>
              <a:gd name="adj" fmla="val 8000"/>
            </a:avLst>
          </a:prstGeom>
          <a:solidFill>
            <a:srgbClr val="17231F"/>
          </a:solidFill>
          <a:ln w="9525">
            <a:solidFill>
              <a:srgbClr val="5CD3B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Flow node 2 label"/>
          <p:cNvSpPr txBox="1"/>
          <p:nvPr/>
        </p:nvSpPr>
        <p:spPr>
          <a:xfrm>
            <a:off x="2651760" y="2743200"/>
            <a:ext cx="1280160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PROPOSED</a:t>
            </a:r>
            <a:endParaRPr lang="en-US" sz="140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sEMG</a:t>
            </a:r>
            <a:endParaRPr lang="en-US" sz="1400"/>
          </a:p>
        </p:txBody>
      </p:sp>
      <p:sp>
        <p:nvSpPr>
          <p:cNvPr id="13" name="Flow node 3 shape"/>
          <p:cNvSpPr/>
          <p:nvPr/>
        </p:nvSpPr>
        <p:spPr>
          <a:xfrm>
            <a:off x="4425696" y="2670048"/>
            <a:ext cx="1572768" cy="1005840"/>
          </a:xfrm>
          <a:prstGeom prst="roundRect">
            <a:avLst>
              <a:gd name="adj" fmla="val 8000"/>
            </a:avLst>
          </a:prstGeom>
          <a:solidFill>
            <a:srgbClr val="17231F"/>
          </a:solidFill>
          <a:ln w="9525">
            <a:solidFill>
              <a:srgbClr val="5CD3B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Flow node 3 label"/>
          <p:cNvSpPr txBox="1"/>
          <p:nvPr/>
        </p:nvSpPr>
        <p:spPr>
          <a:xfrm>
            <a:off x="4535424" y="2743200"/>
            <a:ext cx="1353312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FIXED</a:t>
            </a:r>
            <a:endParaRPr lang="en-US" sz="140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CANDIDATES</a:t>
            </a:r>
            <a:endParaRPr lang="en-US" sz="1400"/>
          </a:p>
        </p:txBody>
      </p:sp>
      <p:sp>
        <p:nvSpPr>
          <p:cNvPr id="15" name="Flow node 4 shape"/>
          <p:cNvSpPr/>
          <p:nvPr/>
        </p:nvSpPr>
        <p:spPr>
          <a:xfrm>
            <a:off x="6382512" y="2487168"/>
            <a:ext cx="2377440" cy="1371600"/>
          </a:xfrm>
          <a:prstGeom prst="roundRect">
            <a:avLst>
              <a:gd name="adj" fmla="val 8000"/>
            </a:avLst>
          </a:prstGeom>
          <a:solidFill>
            <a:srgbClr val="1C2925"/>
          </a:solidFill>
          <a:ln w="19050">
            <a:solidFill>
              <a:srgbClr val="DDEB7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Flow node 4 label"/>
          <p:cNvSpPr txBox="1"/>
          <p:nvPr/>
        </p:nvSpPr>
        <p:spPr>
          <a:xfrm>
            <a:off x="6492240" y="2560320"/>
            <a:ext cx="2157984" cy="1225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F4F0E6"/>
                </a:solidFill>
                <a:latin typeface="Arial"/>
              </a:rPr>
              <a:t>PREVIEW</a:t>
            </a:r>
            <a:endParaRPr lang="en-US" sz="170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F4F0E6"/>
                </a:solidFill>
                <a:latin typeface="Arial"/>
              </a:rPr>
              <a:t>CONFIRM</a:t>
            </a:r>
            <a:endParaRPr lang="en-US" sz="170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F4F0E6"/>
                </a:solidFill>
                <a:latin typeface="Arial"/>
              </a:rPr>
              <a:t>REPAIR</a:t>
            </a:r>
            <a:endParaRPr lang="en-US" sz="1700"/>
          </a:p>
        </p:txBody>
      </p:sp>
      <p:sp>
        <p:nvSpPr>
          <p:cNvPr id="17" name="Flow node 5 shape"/>
          <p:cNvSpPr/>
          <p:nvPr/>
        </p:nvSpPr>
        <p:spPr>
          <a:xfrm>
            <a:off x="9235440" y="2670048"/>
            <a:ext cx="1627632" cy="1005840"/>
          </a:xfrm>
          <a:prstGeom prst="roundRect">
            <a:avLst>
              <a:gd name="adj" fmla="val 8000"/>
            </a:avLst>
          </a:prstGeom>
          <a:solidFill>
            <a:srgbClr val="17231F"/>
          </a:solidFill>
          <a:ln w="9525">
            <a:solidFill>
              <a:srgbClr val="5CD3BD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Flow node 5 label"/>
          <p:cNvSpPr txBox="1"/>
          <p:nvPr/>
        </p:nvSpPr>
        <p:spPr>
          <a:xfrm>
            <a:off x="9345168" y="2743200"/>
            <a:ext cx="1408176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EXISTING</a:t>
            </a:r>
            <a:endParaRPr lang="en-US" sz="140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F4F0E6"/>
                </a:solidFill>
                <a:latin typeface="Arial"/>
              </a:rPr>
              <a:t>ASSISTANT</a:t>
            </a:r>
            <a:endParaRPr lang="en-US" sz="1400"/>
          </a:p>
        </p:txBody>
      </p:sp>
      <p:cxnSp>
        <p:nvCxnSpPr>
          <p:cNvPr id="19" name="Flow connector 1"/>
          <p:cNvCxnSpPr/>
          <p:nvPr/>
        </p:nvCxnSpPr>
        <p:spPr>
          <a:xfrm>
            <a:off x="2212848" y="3172968"/>
            <a:ext cx="274320" cy="0"/>
          </a:xfrm>
          <a:prstGeom prst="line">
            <a:avLst/>
          </a:prstGeom>
          <a:ln w="25400" cap="round">
            <a:solidFill>
              <a:srgbClr val="5CD3BD"/>
            </a:solidFill>
            <a:prstDash val="solid"/>
            <a:round/>
            <a:headEnd type="none"/>
            <a:tailEnd type="triangle" w="med" len="med"/>
          </a:ln>
        </p:spPr>
      </p:cxnSp>
      <p:cxnSp>
        <p:nvCxnSpPr>
          <p:cNvPr id="20" name="Flow connector 2"/>
          <p:cNvCxnSpPr/>
          <p:nvPr/>
        </p:nvCxnSpPr>
        <p:spPr>
          <a:xfrm>
            <a:off x="4096512" y="3172968"/>
            <a:ext cx="274320" cy="0"/>
          </a:xfrm>
          <a:prstGeom prst="line">
            <a:avLst/>
          </a:prstGeom>
          <a:ln w="25400" cap="round">
            <a:solidFill>
              <a:srgbClr val="5CD3BD"/>
            </a:solidFill>
            <a:prstDash val="solid"/>
            <a:round/>
            <a:headEnd type="none"/>
            <a:tailEnd type="triangle" w="med" len="med"/>
          </a:ln>
        </p:spPr>
      </p:cxnSp>
      <p:cxnSp>
        <p:nvCxnSpPr>
          <p:cNvPr id="21" name="Flow connector 3"/>
          <p:cNvCxnSpPr/>
          <p:nvPr/>
        </p:nvCxnSpPr>
        <p:spPr>
          <a:xfrm>
            <a:off x="6053328" y="3172968"/>
            <a:ext cx="274320" cy="0"/>
          </a:xfrm>
          <a:prstGeom prst="line">
            <a:avLst/>
          </a:prstGeom>
          <a:ln w="25400" cap="round">
            <a:solidFill>
              <a:srgbClr val="5CD3BD"/>
            </a:solidFill>
            <a:prstDash val="solid"/>
            <a:round/>
            <a:headEnd type="none"/>
            <a:tailEnd type="triangle" w="med" len="med"/>
          </a:ln>
        </p:spPr>
      </p:cxnSp>
      <p:cxnSp>
        <p:nvCxnSpPr>
          <p:cNvPr id="22" name="Confirmed handoff connector"/>
          <p:cNvCxnSpPr/>
          <p:nvPr/>
        </p:nvCxnSpPr>
        <p:spPr>
          <a:xfrm>
            <a:off x="8814816" y="3172968"/>
            <a:ext cx="365760" cy="0"/>
          </a:xfrm>
          <a:prstGeom prst="line">
            <a:avLst/>
          </a:prstGeom>
          <a:ln w="25400" cap="round">
            <a:solidFill>
              <a:srgbClr val="DDEB79"/>
            </a:solidFill>
            <a:prstDash val="solid"/>
            <a:round/>
            <a:headEnd type="none"/>
            <a:tailEnd type="triangle" w="med" len="med"/>
          </a:ln>
        </p:spPr>
      </p:cxnSp>
      <p:cxnSp>
        <p:nvCxnSpPr>
          <p:cNvPr id="23" name="Repair loop down"/>
          <p:cNvCxnSpPr/>
          <p:nvPr/>
        </p:nvCxnSpPr>
        <p:spPr>
          <a:xfrm>
            <a:off x="7571232" y="3858768"/>
            <a:ext cx="0" cy="420624"/>
          </a:xfrm>
          <a:prstGeom prst="line">
            <a:avLst/>
          </a:prstGeom>
          <a:ln w="25400" cap="round">
            <a:solidFill>
              <a:srgbClr val="FF8B5C"/>
            </a:solidFill>
            <a:prstDash val="solid"/>
            <a:round/>
            <a:headEnd type="none"/>
            <a:tailEnd type="none"/>
          </a:ln>
        </p:spPr>
      </p:cxnSp>
      <p:cxnSp>
        <p:nvCxnSpPr>
          <p:cNvPr id="24" name="Repair loop back"/>
          <p:cNvCxnSpPr/>
          <p:nvPr/>
        </p:nvCxnSpPr>
        <p:spPr>
          <a:xfrm flipH="1">
            <a:off x="5212080" y="4279392"/>
            <a:ext cx="2359152" cy="0"/>
          </a:xfrm>
          <a:prstGeom prst="line">
            <a:avLst/>
          </a:prstGeom>
          <a:ln w="25400" cap="round">
            <a:solidFill>
              <a:srgbClr val="FF8B5C"/>
            </a:solidFill>
            <a:prstDash val="solid"/>
            <a:round/>
            <a:headEnd type="none"/>
            <a:tailEnd type="none"/>
          </a:ln>
        </p:spPr>
      </p:cxnSp>
      <p:cxnSp>
        <p:nvCxnSpPr>
          <p:cNvPr id="25" name="Repair loop return"/>
          <p:cNvCxnSpPr/>
          <p:nvPr/>
        </p:nvCxnSpPr>
        <p:spPr>
          <a:xfrm flipV="1">
            <a:off x="5212080" y="3694176"/>
            <a:ext cx="0" cy="585216"/>
          </a:xfrm>
          <a:prstGeom prst="line">
            <a:avLst/>
          </a:prstGeom>
          <a:ln w="25400" cap="round">
            <a:solidFill>
              <a:srgbClr val="FF8B5C"/>
            </a:solidFill>
            <a:prstDash val="solid"/>
            <a:round/>
            <a:headEnd type="none"/>
            <a:tailEnd type="triangle" w="med" len="med"/>
          </a:ln>
        </p:spPr>
      </p:cxnSp>
      <p:sp>
        <p:nvSpPr>
          <p:cNvPr id="26" name="Repair label"/>
          <p:cNvSpPr txBox="1"/>
          <p:nvPr/>
        </p:nvSpPr>
        <p:spPr>
          <a:xfrm>
            <a:off x="5504688" y="4087368"/>
            <a:ext cx="1737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50" dirty="0">
                <a:solidFill>
                  <a:srgbClr val="FF8B5C"/>
                </a:solidFill>
                <a:latin typeface="Arial"/>
              </a:rPr>
              <a:t>ABSTAIN / REPAIR</a:t>
            </a:r>
            <a:endParaRPr lang="en-US" sz="1050"/>
          </a:p>
        </p:txBody>
      </p:sp>
      <p:cxnSp>
        <p:nvCxnSpPr>
          <p:cNvPr id="27" name="Raw signal boundary"/>
          <p:cNvCxnSpPr/>
          <p:nvPr/>
        </p:nvCxnSpPr>
        <p:spPr>
          <a:xfrm>
            <a:off x="658368" y="4919472"/>
            <a:ext cx="5394960" cy="0"/>
          </a:xfrm>
          <a:prstGeom prst="line">
            <a:avLst/>
          </a:prstGeom>
          <a:ln w="19050" cap="round">
            <a:solidFill>
              <a:srgbClr val="FF8B5C"/>
            </a:solidFill>
            <a:prstDash val="dash"/>
            <a:round/>
            <a:headEnd type="none"/>
            <a:tailEnd type="none"/>
          </a:ln>
        </p:spPr>
      </p:cxnSp>
      <p:sp>
        <p:nvSpPr>
          <p:cNvPr id="28" name="Raw boundary label"/>
          <p:cNvSpPr txBox="1"/>
          <p:nvPr/>
        </p:nvSpPr>
        <p:spPr>
          <a:xfrm>
            <a:off x="658368" y="5047488"/>
            <a:ext cx="2606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50" dirty="0">
                <a:solidFill>
                  <a:srgbClr val="FF8B5C"/>
                </a:solidFill>
                <a:latin typeface="Arial"/>
              </a:rPr>
              <a:t>RAW SIGNAL STOPS HERE</a:t>
            </a:r>
            <a:endParaRPr lang="en-US" sz="1050"/>
          </a:p>
        </p:txBody>
      </p:sp>
      <p:sp>
        <p:nvSpPr>
          <p:cNvPr id="29" name="Architecture qualifier"/>
          <p:cNvSpPr txBox="1"/>
          <p:nvPr/>
        </p:nvSpPr>
        <p:spPr>
          <a:xfrm>
            <a:off x="658368" y="5596128"/>
            <a:ext cx="1087221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B8B7AD"/>
                </a:solidFill>
                <a:latin typeface="Arial"/>
              </a:rPr>
              <a:t>Proposed architecture—not implemented hardware, security, latency, or integration.</a:t>
            </a:r>
            <a:endParaRPr lang="en-US" sz="1300"/>
          </a:p>
        </p:txBody>
      </p:sp>
      <p:cxnSp>
        <p:nvCxnSpPr>
          <p:cNvPr id="30" name="Footer separator"/>
          <p:cNvCxnSpPr/>
          <p:nvPr/>
        </p:nvCxnSpPr>
        <p:spPr>
          <a:xfrm>
            <a:off x="658368" y="6364224"/>
            <a:ext cx="10872216" cy="0"/>
          </a:xfrm>
          <a:prstGeom prst="line">
            <a:avLst/>
          </a:prstGeom>
          <a:ln w="9525" cap="round">
            <a:solidFill>
              <a:srgbClr val="53665F"/>
            </a:solidFill>
            <a:prstDash val="solid"/>
            <a:round/>
            <a:headEnd type="none"/>
            <a:tailEnd type="none"/>
          </a:ln>
        </p:spPr>
      </p:cxnSp>
      <p:sp>
        <p:nvSpPr>
          <p:cNvPr id="31" name="Source footer"/>
          <p:cNvSpPr txBox="1"/>
          <p:nvPr/>
        </p:nvSpPr>
        <p:spPr>
          <a:xfrm>
            <a:off x="658368" y="6455664"/>
            <a:ext cx="1087221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dirty="0">
                <a:solidFill>
                  <a:srgbClr val="858B85"/>
                </a:solidFill>
                <a:latin typeface="Arial"/>
              </a:rPr>
              <a:t>Design targets · C05, C19, C21–C23</a:t>
            </a:r>
            <a:endParaRPr lang="en-US" sz="9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3: The signal is plausible. Cross-session transfer is the risk.">
    <p:bg>
      <p:bgPr>
        <a:solidFill>
          <a:srgbClr val="1018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1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Deck label"/>
          <p:cNvSpPr txBox="1"/>
          <p:nvPr/>
        </p:nvSpPr>
        <p:spPr>
          <a:xfrm>
            <a:off x="658368" y="27432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110" dirty="0">
                <a:solidFill>
                  <a:srgbClr val="5CD3BD"/>
                </a:solidFill>
                <a:latin typeface="Arial"/>
              </a:rPr>
              <a:t>QUIET CHANNEL</a:t>
            </a:r>
            <a:endParaRPr lang="en-US" sz="1050"/>
          </a:p>
        </p:txBody>
      </p:sp>
      <p:sp>
        <p:nvSpPr>
          <p:cNvPr id="4" name="Status label"/>
          <p:cNvSpPr txBox="1"/>
          <p:nvPr/>
        </p:nvSpPr>
        <p:spPr>
          <a:xfrm>
            <a:off x="9281160" y="274320"/>
            <a:ext cx="1691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spc="80" dirty="0">
                <a:solidFill>
                  <a:srgbClr val="B8B7AD"/>
                </a:solidFill>
                <a:latin typeface="Arial"/>
              </a:rPr>
              <a:t>CONCEPT / SIMULATED</a:t>
            </a:r>
            <a:endParaRPr lang="en-US" sz="950"/>
          </a:p>
        </p:txBody>
      </p:sp>
      <p:sp>
        <p:nvSpPr>
          <p:cNvPr id="5" name="Slide number"/>
          <p:cNvSpPr txBox="1"/>
          <p:nvPr/>
        </p:nvSpPr>
        <p:spPr>
          <a:xfrm>
            <a:off x="11082528" y="274320"/>
            <a:ext cx="448056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dirty="0">
                <a:solidFill>
                  <a:srgbClr val="858B85"/>
                </a:solidFill>
                <a:latin typeface="Arial"/>
              </a:rPr>
              <a:t>03/04</a:t>
            </a:r>
            <a:endParaRPr lang="en-US" sz="950"/>
          </a:p>
        </p:txBody>
      </p:sp>
      <p:cxnSp>
        <p:nvCxnSpPr>
          <p:cNvPr id="6" name="Header separator"/>
          <p:cNvCxnSpPr/>
          <p:nvPr/>
        </p:nvCxnSpPr>
        <p:spPr>
          <a:xfrm>
            <a:off x="8979408" y="393192"/>
            <a:ext cx="192024" cy="0"/>
          </a:xfrm>
          <a:prstGeom prst="line">
            <a:avLst/>
          </a:prstGeom>
          <a:ln w="9525" cap="round">
            <a:solidFill>
              <a:srgbClr val="53665F"/>
            </a:solidFill>
            <a:prstDash val="solid"/>
            <a:round/>
            <a:headEnd type="none"/>
            <a:tailEnd type="none"/>
          </a:ln>
        </p:spPr>
      </p:cxnSp>
      <p:sp>
        <p:nvSpPr>
          <p:cNvPr id="7" name="Eyebrow"/>
          <p:cNvSpPr txBox="1"/>
          <p:nvPr/>
        </p:nvSpPr>
        <p:spPr>
          <a:xfrm>
            <a:off x="658368" y="594360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100" dirty="0">
                <a:solidFill>
                  <a:srgbClr val="FF8B5C"/>
                </a:solidFill>
                <a:latin typeface="Arial"/>
              </a:rPr>
              <a:t>EVIDENCE / RISK</a:t>
            </a:r>
            <a:endParaRPr lang="en-US" sz="1050"/>
          </a:p>
        </p:txBody>
      </p:sp>
      <p:sp>
        <p:nvSpPr>
          <p:cNvPr id="8" name="Title"/>
          <p:cNvSpPr txBox="1"/>
          <p:nvPr/>
        </p:nvSpPr>
        <p:spPr>
          <a:xfrm>
            <a:off x="658368" y="877824"/>
            <a:ext cx="10872216" cy="1261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F4F0E6"/>
                </a:solidFill>
                <a:latin typeface="Arial"/>
              </a:rPr>
              <a:t>The signal is plausible.</a:t>
            </a:r>
            <a:endParaRPr lang="en-US" sz="4200"/>
          </a:p>
          <a:p>
            <a:pPr algn="l" marL="0" indent="0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F4F0E6"/>
                </a:solidFill>
                <a:latin typeface="Arial"/>
              </a:rPr>
              <a:t>Cross-session transfer is the risk.</a:t>
            </a:r>
            <a:endParaRPr lang="en-US" sz="4200"/>
          </a:p>
        </p:txBody>
      </p:sp>
      <p:cxnSp>
        <p:nvCxnSpPr>
          <p:cNvPr id="9" name="Chart baseline"/>
          <p:cNvCxnSpPr/>
          <p:nvPr/>
        </p:nvCxnSpPr>
        <p:spPr>
          <a:xfrm>
            <a:off x="960120" y="5413248"/>
            <a:ext cx="5422392" cy="0"/>
          </a:xfrm>
          <a:prstGeom prst="line">
            <a:avLst/>
          </a:prstGeom>
          <a:ln w="12700" cap="round">
            <a:solidFill>
              <a:srgbClr val="53665F"/>
            </a:solidFill>
            <a:prstDash val="solid"/>
            <a:round/>
            <a:headEnd type="none"/>
            <a:tailEnd type="none"/>
          </a:ln>
        </p:spPr>
      </p:cxnSp>
      <p:sp>
        <p:nvSpPr>
          <p:cNvPr id="10" name="Chart bar Global"/>
          <p:cNvSpPr/>
          <p:nvPr/>
        </p:nvSpPr>
        <p:spPr>
          <a:xfrm>
            <a:off x="1316736" y="3145536"/>
            <a:ext cx="1353312" cy="2267712"/>
          </a:xfrm>
          <a:prstGeom prst="roundRect">
            <a:avLst>
              <a:gd name="adj" fmla="val 8000"/>
            </a:avLst>
          </a:prstGeom>
          <a:solidFill>
            <a:srgbClr val="5CD3BD">
              <a:alpha val="9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Chart value Global"/>
          <p:cNvSpPr txBox="1"/>
          <p:nvPr/>
        </p:nvSpPr>
        <p:spPr>
          <a:xfrm>
            <a:off x="1088136" y="2615184"/>
            <a:ext cx="181051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5CD3BD"/>
                </a:solidFill>
                <a:latin typeface="Arial"/>
              </a:rPr>
              <a:t>77.5±6.6%</a:t>
            </a:r>
            <a:endParaRPr lang="en-US" sz="2600"/>
          </a:p>
        </p:txBody>
      </p:sp>
      <p:sp>
        <p:nvSpPr>
          <p:cNvPr id="12" name="Chart label Global"/>
          <p:cNvSpPr txBox="1"/>
          <p:nvPr/>
        </p:nvSpPr>
        <p:spPr>
          <a:xfrm>
            <a:off x="1152144" y="5568696"/>
            <a:ext cx="1682496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50" dirty="0">
                <a:solidFill>
                  <a:srgbClr val="B8B7AD"/>
                </a:solidFill>
                <a:latin typeface="Arial"/>
              </a:rPr>
              <a:t>GLOBAL CV</a:t>
            </a:r>
            <a:endParaRPr lang="en-US" sz="1050"/>
          </a:p>
        </p:txBody>
      </p:sp>
      <p:sp>
        <p:nvSpPr>
          <p:cNvPr id="13" name="Chart bar Held-out"/>
          <p:cNvSpPr/>
          <p:nvPr/>
        </p:nvSpPr>
        <p:spPr>
          <a:xfrm>
            <a:off x="3977640" y="3678083"/>
            <a:ext cx="1353312" cy="1735165"/>
          </a:xfrm>
          <a:prstGeom prst="roundRect">
            <a:avLst>
              <a:gd name="adj" fmla="val 8000"/>
            </a:avLst>
          </a:prstGeom>
          <a:solidFill>
            <a:srgbClr val="FF8B5C">
              <a:alpha val="90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Chart value Held-out"/>
          <p:cNvSpPr txBox="1"/>
          <p:nvPr/>
        </p:nvSpPr>
        <p:spPr>
          <a:xfrm>
            <a:off x="3749040" y="3147731"/>
            <a:ext cx="1810512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FF8B5C"/>
                </a:solidFill>
                <a:latin typeface="Arial"/>
              </a:rPr>
              <a:t>59.3±2.2%</a:t>
            </a:r>
            <a:endParaRPr lang="en-US" sz="2600"/>
          </a:p>
        </p:txBody>
      </p:sp>
      <p:sp>
        <p:nvSpPr>
          <p:cNvPr id="15" name="Chart label Held-out"/>
          <p:cNvSpPr txBox="1"/>
          <p:nvPr/>
        </p:nvSpPr>
        <p:spPr>
          <a:xfrm>
            <a:off x="3813048" y="5568696"/>
            <a:ext cx="1682496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50" dirty="0">
                <a:solidFill>
                  <a:srgbClr val="B8B7AD"/>
                </a:solidFill>
                <a:latin typeface="Arial"/>
              </a:rPr>
              <a:t>HELD-OUT SESSION</a:t>
            </a:r>
            <a:endParaRPr lang="en-US" sz="1050"/>
          </a:p>
        </p:txBody>
      </p:sp>
      <p:cxnSp>
        <p:nvCxnSpPr>
          <p:cNvPr id="16" name="Chart gap annotation"/>
          <p:cNvCxnSpPr/>
          <p:nvPr/>
        </p:nvCxnSpPr>
        <p:spPr>
          <a:xfrm>
            <a:off x="2862072" y="3273552"/>
            <a:ext cx="813816" cy="365760"/>
          </a:xfrm>
          <a:prstGeom prst="line">
            <a:avLst/>
          </a:prstGeom>
          <a:ln w="19050" cap="round">
            <a:solidFill>
              <a:srgbClr val="DDEB79"/>
            </a:solidFill>
            <a:prstDash val="dash"/>
            <a:round/>
            <a:headEnd type="none"/>
            <a:tailEnd type="none"/>
          </a:ln>
        </p:spPr>
      </p:cxnSp>
      <p:sp>
        <p:nvSpPr>
          <p:cNvPr id="17" name="Chart gap label"/>
          <p:cNvSpPr txBox="1"/>
          <p:nvPr/>
        </p:nvSpPr>
        <p:spPr>
          <a:xfrm>
            <a:off x="2651760" y="3712464"/>
            <a:ext cx="144475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DDEB79"/>
                </a:solidFill>
                <a:latin typeface="Arial"/>
              </a:rPr>
              <a:t>−18.2 POINTS</a:t>
            </a:r>
            <a:endParaRPr lang="en-US" sz="1100"/>
          </a:p>
        </p:txBody>
      </p:sp>
      <p:cxnSp>
        <p:nvCxnSpPr>
          <p:cNvPr id="18" name="Evidence divider"/>
          <p:cNvCxnSpPr/>
          <p:nvPr/>
        </p:nvCxnSpPr>
        <p:spPr>
          <a:xfrm>
            <a:off x="6931152" y="2377440"/>
            <a:ext cx="0" cy="3218688"/>
          </a:xfrm>
          <a:prstGeom prst="line">
            <a:avLst/>
          </a:prstGeom>
          <a:ln w="9525" cap="round">
            <a:solidFill>
              <a:srgbClr val="53665F"/>
            </a:solidFill>
            <a:prstDash val="solid"/>
            <a:round/>
            <a:headEnd type="none"/>
            <a:tailEnd type="none"/>
          </a:ln>
        </p:spPr>
      </p:cxnSp>
      <p:sp>
        <p:nvSpPr>
          <p:cNvPr id="19" name="Proof title"/>
          <p:cNvSpPr txBox="1"/>
          <p:nvPr/>
        </p:nvSpPr>
        <p:spPr>
          <a:xfrm>
            <a:off x="7315200" y="2450592"/>
            <a:ext cx="29260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spc="80" dirty="0">
                <a:solidFill>
                  <a:srgbClr val="5CD3BD"/>
                </a:solidFill>
                <a:latin typeface="Arial"/>
              </a:rPr>
              <a:t>PILOT MUST PROVE</a:t>
            </a:r>
            <a:endParaRPr lang="en-US" sz="1100"/>
          </a:p>
        </p:txBody>
      </p:sp>
      <p:cxnSp>
        <p:nvCxnSpPr>
          <p:cNvPr id="20" name="Proof rule 1"/>
          <p:cNvCxnSpPr/>
          <p:nvPr/>
        </p:nvCxnSpPr>
        <p:spPr>
          <a:xfrm>
            <a:off x="7315200" y="3118104"/>
            <a:ext cx="274320" cy="0"/>
          </a:xfrm>
          <a:prstGeom prst="line">
            <a:avLst/>
          </a:prstGeom>
          <a:ln w="28575" cap="round">
            <a:solidFill>
              <a:srgbClr val="FF8B5C"/>
            </a:solidFill>
            <a:prstDash val="solid"/>
            <a:round/>
            <a:headEnd type="none"/>
            <a:tailEnd type="none"/>
          </a:ln>
        </p:spPr>
      </p:cxnSp>
      <p:sp>
        <p:nvSpPr>
          <p:cNvPr id="21" name="Proof item 1"/>
          <p:cNvSpPr txBox="1"/>
          <p:nvPr/>
        </p:nvSpPr>
        <p:spPr>
          <a:xfrm>
            <a:off x="7754112" y="2980944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F4F0E6"/>
                </a:solidFill>
                <a:latin typeface="Arial"/>
              </a:rPr>
              <a:t>Stable after reapplication</a:t>
            </a:r>
            <a:endParaRPr lang="en-US" sz="1700"/>
          </a:p>
        </p:txBody>
      </p:sp>
      <p:cxnSp>
        <p:nvCxnSpPr>
          <p:cNvPr id="22" name="Proof rule 2"/>
          <p:cNvCxnSpPr/>
          <p:nvPr/>
        </p:nvCxnSpPr>
        <p:spPr>
          <a:xfrm>
            <a:off x="7315200" y="3922776"/>
            <a:ext cx="274320" cy="0"/>
          </a:xfrm>
          <a:prstGeom prst="line">
            <a:avLst/>
          </a:prstGeom>
          <a:ln w="28575" cap="round">
            <a:solidFill>
              <a:srgbClr val="5CD3BD"/>
            </a:solidFill>
            <a:prstDash val="solid"/>
            <a:round/>
            <a:headEnd type="none"/>
            <a:tailEnd type="none"/>
          </a:ln>
        </p:spPr>
      </p:cxnSp>
      <p:sp>
        <p:nvSpPr>
          <p:cNvPr id="23" name="Proof item 2"/>
          <p:cNvSpPr txBox="1"/>
          <p:nvPr/>
        </p:nvSpPr>
        <p:spPr>
          <a:xfrm>
            <a:off x="7754112" y="3785616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F4F0E6"/>
                </a:solidFill>
                <a:latin typeface="Arial"/>
              </a:rPr>
              <a:t>Whole-task value</a:t>
            </a:r>
            <a:endParaRPr lang="en-US" sz="1700"/>
          </a:p>
        </p:txBody>
      </p:sp>
      <p:cxnSp>
        <p:nvCxnSpPr>
          <p:cNvPr id="24" name="Proof rule 3"/>
          <p:cNvCxnSpPr/>
          <p:nvPr/>
        </p:nvCxnSpPr>
        <p:spPr>
          <a:xfrm>
            <a:off x="7315200" y="4727448"/>
            <a:ext cx="274320" cy="0"/>
          </a:xfrm>
          <a:prstGeom prst="line">
            <a:avLst/>
          </a:prstGeom>
          <a:ln w="28575" cap="round">
            <a:solidFill>
              <a:srgbClr val="5CD3BD"/>
            </a:solidFill>
            <a:prstDash val="solid"/>
            <a:round/>
            <a:headEnd type="none"/>
            <a:tailEnd type="none"/>
          </a:ln>
        </p:spPr>
      </p:cxnSp>
      <p:sp>
        <p:nvSpPr>
          <p:cNvPr id="25" name="Proof item 3"/>
          <p:cNvSpPr txBox="1"/>
          <p:nvPr/>
        </p:nvSpPr>
        <p:spPr>
          <a:xfrm>
            <a:off x="7754112" y="4590288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F4F0E6"/>
                </a:solidFill>
                <a:latin typeface="Arial"/>
              </a:rPr>
              <a:t>Voluntary governance + fallback</a:t>
            </a:r>
            <a:endParaRPr lang="en-US" sz="1700"/>
          </a:p>
        </p:txBody>
      </p:sp>
      <p:sp>
        <p:nvSpPr>
          <p:cNvPr id="26" name="Evidence caption"/>
          <p:cNvSpPr txBox="1"/>
          <p:nvPr/>
        </p:nvSpPr>
        <p:spPr>
          <a:xfrm>
            <a:off x="658368" y="5925312"/>
            <a:ext cx="1087221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B8B7AD"/>
                </a:solidFill>
                <a:latin typeface="Arial"/>
              </a:rPr>
              <a:t>SilentWear v2 preprint · n=4 · 14 neck sEMG channels · 8 commands + rest · top-1 accuracy · not this project · arXiv:2603.02847v2.</a:t>
            </a:r>
            <a:endParaRPr lang="en-US" sz="1050"/>
          </a:p>
        </p:txBody>
      </p:sp>
      <p:cxnSp>
        <p:nvCxnSpPr>
          <p:cNvPr id="27" name="Footer separator"/>
          <p:cNvCxnSpPr/>
          <p:nvPr/>
        </p:nvCxnSpPr>
        <p:spPr>
          <a:xfrm>
            <a:off x="658368" y="6364224"/>
            <a:ext cx="10872216" cy="0"/>
          </a:xfrm>
          <a:prstGeom prst="line">
            <a:avLst/>
          </a:prstGeom>
          <a:ln w="9525" cap="round">
            <a:solidFill>
              <a:srgbClr val="53665F"/>
            </a:solidFill>
            <a:prstDash val="solid"/>
            <a:round/>
            <a:headEnd type="none"/>
            <a:tailEnd type="none"/>
          </a:ln>
        </p:spPr>
      </p:cxnSp>
      <p:sp>
        <p:nvSpPr>
          <p:cNvPr id="28" name="Source footer"/>
          <p:cNvSpPr txBox="1"/>
          <p:nvPr/>
        </p:nvSpPr>
        <p:spPr>
          <a:xfrm>
            <a:off x="658368" y="6455664"/>
            <a:ext cx="1087221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dirty="0">
                <a:solidFill>
                  <a:srgbClr val="858B85"/>
                </a:solidFill>
                <a:latin typeface="Arial"/>
              </a:rPr>
              <a:t>External evidence · C07/C13/C22</a:t>
            </a:r>
            <a:endParaRPr lang="en-US" sz="9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 name="Slide 4: Approve the 90-day pilot. Buy a go / change / stop decision.">
    <p:bg>
      <p:bgPr>
        <a:solidFill>
          <a:srgbClr val="1018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1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Deck label"/>
          <p:cNvSpPr txBox="1"/>
          <p:nvPr/>
        </p:nvSpPr>
        <p:spPr>
          <a:xfrm>
            <a:off x="658368" y="274320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110" dirty="0">
                <a:solidFill>
                  <a:srgbClr val="5CD3BD"/>
                </a:solidFill>
                <a:latin typeface="Arial"/>
              </a:rPr>
              <a:t>QUIET CHANNEL</a:t>
            </a:r>
            <a:endParaRPr lang="en-US" sz="1050"/>
          </a:p>
        </p:txBody>
      </p:sp>
      <p:sp>
        <p:nvSpPr>
          <p:cNvPr id="4" name="Status label"/>
          <p:cNvSpPr txBox="1"/>
          <p:nvPr/>
        </p:nvSpPr>
        <p:spPr>
          <a:xfrm>
            <a:off x="9281160" y="274320"/>
            <a:ext cx="1691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spc="80" dirty="0">
                <a:solidFill>
                  <a:srgbClr val="B8B7AD"/>
                </a:solidFill>
                <a:latin typeface="Arial"/>
              </a:rPr>
              <a:t>CONCEPT / SIMULATED</a:t>
            </a:r>
            <a:endParaRPr lang="en-US" sz="950"/>
          </a:p>
        </p:txBody>
      </p:sp>
      <p:sp>
        <p:nvSpPr>
          <p:cNvPr id="5" name="Slide number"/>
          <p:cNvSpPr txBox="1"/>
          <p:nvPr/>
        </p:nvSpPr>
        <p:spPr>
          <a:xfrm>
            <a:off x="11082528" y="274320"/>
            <a:ext cx="448056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dirty="0">
                <a:solidFill>
                  <a:srgbClr val="858B85"/>
                </a:solidFill>
                <a:latin typeface="Arial"/>
              </a:rPr>
              <a:t>04/04</a:t>
            </a:r>
            <a:endParaRPr lang="en-US" sz="950"/>
          </a:p>
        </p:txBody>
      </p:sp>
      <p:cxnSp>
        <p:nvCxnSpPr>
          <p:cNvPr id="6" name="Header separator"/>
          <p:cNvCxnSpPr/>
          <p:nvPr/>
        </p:nvCxnSpPr>
        <p:spPr>
          <a:xfrm>
            <a:off x="8979408" y="393192"/>
            <a:ext cx="192024" cy="0"/>
          </a:xfrm>
          <a:prstGeom prst="line">
            <a:avLst/>
          </a:prstGeom>
          <a:ln w="9525" cap="round">
            <a:solidFill>
              <a:srgbClr val="53665F"/>
            </a:solidFill>
            <a:prstDash val="solid"/>
            <a:round/>
            <a:headEnd type="none"/>
            <a:tailEnd type="none"/>
          </a:ln>
        </p:spPr>
      </p:cxnSp>
      <p:sp>
        <p:nvSpPr>
          <p:cNvPr id="7" name="Eyebrow"/>
          <p:cNvSpPr txBox="1"/>
          <p:nvPr/>
        </p:nvSpPr>
        <p:spPr>
          <a:xfrm>
            <a:off x="658368" y="594360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spc="100" dirty="0">
                <a:solidFill>
                  <a:srgbClr val="FF8B5C"/>
                </a:solidFill>
                <a:latin typeface="Arial"/>
              </a:rPr>
              <a:t>DECISION</a:t>
            </a:r>
            <a:endParaRPr lang="en-US" sz="1050"/>
          </a:p>
        </p:txBody>
      </p:sp>
      <p:sp>
        <p:nvSpPr>
          <p:cNvPr id="8" name="Title"/>
          <p:cNvSpPr txBox="1"/>
          <p:nvPr/>
        </p:nvSpPr>
        <p:spPr>
          <a:xfrm>
            <a:off x="658368" y="877824"/>
            <a:ext cx="10872216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F4F0E6"/>
                </a:solidFill>
                <a:latin typeface="Arial"/>
              </a:rPr>
              <a:t>Approve the 90-day pilot.</a:t>
            </a:r>
            <a:endParaRPr lang="en-US" sz="4200"/>
          </a:p>
          <a:p>
            <a:pPr algn="l" marL="0" indent="0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F4F0E6"/>
                </a:solidFill>
                <a:latin typeface="Arial"/>
              </a:rPr>
              <a:t>Buy a go / change / stop decision.</a:t>
            </a:r>
            <a:endParaRPr lang="en-US" sz="4200"/>
          </a:p>
        </p:txBody>
      </p:sp>
      <p:sp>
        <p:nvSpPr>
          <p:cNvPr id="9" name="Decision amount panel"/>
          <p:cNvSpPr/>
          <p:nvPr/>
        </p:nvSpPr>
        <p:spPr>
          <a:xfrm>
            <a:off x="658368" y="2212848"/>
            <a:ext cx="4663440" cy="3493008"/>
          </a:xfrm>
          <a:prstGeom prst="roundRect">
            <a:avLst>
              <a:gd name="adj" fmla="val 8000"/>
            </a:avLst>
          </a:prstGeom>
          <a:solidFill>
            <a:srgbClr val="17231F"/>
          </a:solidFill>
          <a:ln w="19050">
            <a:solidFill>
              <a:srgbClr val="FF8B5C">
                <a:alpha val="7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Pilot label"/>
          <p:cNvSpPr txBox="1"/>
          <p:nvPr/>
        </p:nvSpPr>
        <p:spPr>
          <a:xfrm>
            <a:off x="950976" y="2542032"/>
            <a:ext cx="4078224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spc="80" dirty="0">
                <a:solidFill>
                  <a:srgbClr val="FF8B5C"/>
                </a:solidFill>
                <a:latin typeface="Arial"/>
              </a:rPr>
              <a:t>FIXED FEE · 90 DAYS</a:t>
            </a:r>
            <a:endParaRPr lang="en-US" sz="1100"/>
          </a:p>
        </p:txBody>
      </p:sp>
      <p:sp>
        <p:nvSpPr>
          <p:cNvPr id="11" name="Pilot amount"/>
          <p:cNvSpPr txBox="1"/>
          <p:nvPr/>
        </p:nvSpPr>
        <p:spPr>
          <a:xfrm>
            <a:off x="932688" y="2907792"/>
            <a:ext cx="4114800" cy="13533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 marL="0" indent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 b="1" dirty="0">
                <a:solidFill>
                  <a:srgbClr val="FF8B5C"/>
                </a:solidFill>
                <a:latin typeface="Arial"/>
              </a:rPr>
              <a:t>AED</a:t>
            </a:r>
            <a:endParaRPr lang="en-US" sz="6200"/>
          </a:p>
          <a:p>
            <a:pPr algn="ctr" marL="0" indent="0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 b="1" dirty="0">
                <a:solidFill>
                  <a:srgbClr val="FF8B5C"/>
                </a:solidFill>
                <a:latin typeface="Arial"/>
              </a:rPr>
              <a:t>1,000,000</a:t>
            </a:r>
            <a:endParaRPr lang="en-US" sz="6200"/>
          </a:p>
        </p:txBody>
      </p:sp>
      <p:sp>
        <p:nvSpPr>
          <p:cNvPr id="12" name="Pilot boundary"/>
          <p:cNvSpPr txBox="1"/>
          <p:nvPr/>
        </p:nvSpPr>
        <p:spPr>
          <a:xfrm>
            <a:off x="932688" y="4828032"/>
            <a:ext cx="41148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B8B7AD"/>
                </a:solidFill>
                <a:latin typeface="Arial"/>
              </a:rPr>
              <a:t>Pilot fee only.</a:t>
            </a:r>
            <a:endParaRPr lang="en-US" sz="1300"/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B8B7AD"/>
                </a:solidFill>
                <a:latin typeface="Arial"/>
              </a:rPr>
              <a:t>Annual pricing, strategic funding, valuation,</a:t>
            </a:r>
            <a:endParaRPr lang="en-US" sz="1300"/>
          </a:p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B8B7AD"/>
                </a:solidFill>
                <a:latin typeface="Arial"/>
              </a:rPr>
              <a:t>and acquisition/exit amounts remain TBD.</a:t>
            </a:r>
            <a:endParaRPr lang="en-US" sz="1300"/>
          </a:p>
        </p:txBody>
      </p:sp>
      <p:cxnSp>
        <p:nvCxnSpPr>
          <p:cNvPr id="13" name="Decision spine"/>
          <p:cNvCxnSpPr/>
          <p:nvPr/>
        </p:nvCxnSpPr>
        <p:spPr>
          <a:xfrm>
            <a:off x="5943600" y="3127248"/>
            <a:ext cx="4133088" cy="0"/>
          </a:xfrm>
          <a:prstGeom prst="line">
            <a:avLst/>
          </a:prstGeom>
          <a:ln w="25400" cap="round">
            <a:solidFill>
              <a:srgbClr val="5CD3BD"/>
            </a:solidFill>
            <a:prstDash val="solid"/>
            <a:round/>
            <a:headEnd type="none"/>
            <a:tailEnd type="none"/>
          </a:ln>
        </p:spPr>
      </p:cxnSp>
      <p:sp>
        <p:nvSpPr>
          <p:cNvPr id="14" name="Phase marker 1"/>
          <p:cNvSpPr/>
          <p:nvPr/>
        </p:nvSpPr>
        <p:spPr>
          <a:xfrm>
            <a:off x="5971032" y="3008376"/>
            <a:ext cx="237744" cy="237744"/>
          </a:xfrm>
          <a:prstGeom prst="roundRect">
            <a:avLst>
              <a:gd name="adj" fmla="val 8000"/>
            </a:avLst>
          </a:prstGeom>
          <a:solidFill>
            <a:srgbClr val="101816"/>
          </a:solidFill>
          <a:ln w="25400">
            <a:solidFill>
              <a:srgbClr val="5CD3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Phase label 1"/>
          <p:cNvSpPr txBox="1"/>
          <p:nvPr/>
        </p:nvSpPr>
        <p:spPr>
          <a:xfrm>
            <a:off x="5522976" y="3456432"/>
            <a:ext cx="113385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F4F0E6"/>
                </a:solidFill>
                <a:latin typeface="Arial"/>
              </a:rPr>
              <a:t>SELECT</a:t>
            </a:r>
            <a:endParaRPr lang="en-US" sz="135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F4F0E6"/>
                </a:solidFill>
                <a:latin typeface="Arial"/>
              </a:rPr>
              <a:t>WORKFLOW</a:t>
            </a:r>
            <a:endParaRPr lang="en-US" sz="1350"/>
          </a:p>
        </p:txBody>
      </p:sp>
      <p:sp>
        <p:nvSpPr>
          <p:cNvPr id="16" name="Phase marker 2"/>
          <p:cNvSpPr/>
          <p:nvPr/>
        </p:nvSpPr>
        <p:spPr>
          <a:xfrm>
            <a:off x="7342632" y="3008376"/>
            <a:ext cx="237744" cy="237744"/>
          </a:xfrm>
          <a:prstGeom prst="roundRect">
            <a:avLst>
              <a:gd name="adj" fmla="val 8000"/>
            </a:avLst>
          </a:prstGeom>
          <a:solidFill>
            <a:srgbClr val="101816"/>
          </a:solidFill>
          <a:ln w="25400">
            <a:solidFill>
              <a:srgbClr val="5CD3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Phase label 2"/>
          <p:cNvSpPr txBox="1"/>
          <p:nvPr/>
        </p:nvSpPr>
        <p:spPr>
          <a:xfrm>
            <a:off x="6894576" y="3456432"/>
            <a:ext cx="113385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F4F0E6"/>
                </a:solidFill>
                <a:latin typeface="Arial"/>
              </a:rPr>
              <a:t>TEST</a:t>
            </a:r>
            <a:endParaRPr lang="en-US" sz="135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F4F0E6"/>
                </a:solidFill>
                <a:latin typeface="Arial"/>
              </a:rPr>
              <a:t>FAILURE</a:t>
            </a:r>
            <a:endParaRPr lang="en-US" sz="1350"/>
          </a:p>
        </p:txBody>
      </p:sp>
      <p:sp>
        <p:nvSpPr>
          <p:cNvPr id="18" name="Phase marker 3"/>
          <p:cNvSpPr/>
          <p:nvPr/>
        </p:nvSpPr>
        <p:spPr>
          <a:xfrm>
            <a:off x="8714232" y="3008376"/>
            <a:ext cx="237744" cy="237744"/>
          </a:xfrm>
          <a:prstGeom prst="roundRect">
            <a:avLst>
              <a:gd name="adj" fmla="val 8000"/>
            </a:avLst>
          </a:prstGeom>
          <a:solidFill>
            <a:srgbClr val="101816"/>
          </a:solidFill>
          <a:ln w="25400">
            <a:solidFill>
              <a:srgbClr val="5CD3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Phase label 3"/>
          <p:cNvSpPr txBox="1"/>
          <p:nvPr/>
        </p:nvSpPr>
        <p:spPr>
          <a:xfrm>
            <a:off x="8266176" y="3456432"/>
            <a:ext cx="113385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F4F0E6"/>
                </a:solidFill>
                <a:latin typeface="Arial"/>
              </a:rPr>
              <a:t>COMPARE</a:t>
            </a:r>
            <a:endParaRPr lang="en-US" sz="135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dirty="0">
                <a:solidFill>
                  <a:srgbClr val="F4F0E6"/>
                </a:solidFill>
                <a:latin typeface="Arial"/>
              </a:rPr>
              <a:t>TASK</a:t>
            </a:r>
            <a:endParaRPr lang="en-US" sz="1350"/>
          </a:p>
        </p:txBody>
      </p:sp>
      <p:cxnSp>
        <p:nvCxnSpPr>
          <p:cNvPr id="20" name="Decision output connector"/>
          <p:cNvCxnSpPr/>
          <p:nvPr/>
        </p:nvCxnSpPr>
        <p:spPr>
          <a:xfrm>
            <a:off x="9162288" y="3127248"/>
            <a:ext cx="493776" cy="0"/>
          </a:xfrm>
          <a:prstGeom prst="line">
            <a:avLst/>
          </a:prstGeom>
          <a:ln w="25400" cap="round">
            <a:solidFill>
              <a:srgbClr val="DDEB79"/>
            </a:solidFill>
            <a:prstDash val="solid"/>
            <a:round/>
            <a:headEnd type="none"/>
            <a:tailEnd type="triangle" w="med" len="med"/>
          </a:ln>
        </p:spPr>
      </p:cxnSp>
      <p:sp>
        <p:nvSpPr>
          <p:cNvPr id="21" name="Decision output shape"/>
          <p:cNvSpPr/>
          <p:nvPr/>
        </p:nvSpPr>
        <p:spPr>
          <a:xfrm>
            <a:off x="9710928" y="2606040"/>
            <a:ext cx="1819656" cy="1097280"/>
          </a:xfrm>
          <a:prstGeom prst="roundRect">
            <a:avLst>
              <a:gd name="adj" fmla="val 8000"/>
            </a:avLst>
          </a:prstGeom>
          <a:solidFill>
            <a:srgbClr val="1C2925"/>
          </a:solidFill>
          <a:ln w="19050">
            <a:solidFill>
              <a:srgbClr val="DDEB7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Decision output label"/>
          <p:cNvSpPr txBox="1"/>
          <p:nvPr/>
        </p:nvSpPr>
        <p:spPr>
          <a:xfrm>
            <a:off x="9857232" y="2724912"/>
            <a:ext cx="1527048" cy="8595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DDEB79"/>
                </a:solidFill>
                <a:latin typeface="Arial"/>
              </a:rPr>
              <a:t>GO / CHANGE</a:t>
            </a:r>
            <a:endParaRPr lang="en-US" sz="1700"/>
          </a:p>
          <a:p>
            <a:pPr algn="ctr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DDEB79"/>
                </a:solidFill>
                <a:latin typeface="Arial"/>
              </a:rPr>
              <a:t>/ STOP</a:t>
            </a:r>
            <a:endParaRPr lang="en-US" sz="1700"/>
          </a:p>
        </p:txBody>
      </p:sp>
      <p:cxnSp>
        <p:nvCxnSpPr>
          <p:cNvPr id="23" name="Ask rule 1"/>
          <p:cNvCxnSpPr/>
          <p:nvPr/>
        </p:nvCxnSpPr>
        <p:spPr>
          <a:xfrm>
            <a:off x="5779008" y="4873752"/>
            <a:ext cx="237744" cy="0"/>
          </a:xfrm>
          <a:prstGeom prst="line">
            <a:avLst/>
          </a:prstGeom>
          <a:ln w="28575" cap="round">
            <a:solidFill>
              <a:srgbClr val="FF8B5C"/>
            </a:solidFill>
            <a:prstDash val="solid"/>
            <a:round/>
            <a:headEnd type="none"/>
            <a:tailEnd type="none"/>
          </a:ln>
        </p:spPr>
      </p:cxnSp>
      <p:sp>
        <p:nvSpPr>
          <p:cNvPr id="24" name="Ask label 1"/>
          <p:cNvSpPr txBox="1"/>
          <p:nvPr/>
        </p:nvSpPr>
        <p:spPr>
          <a:xfrm>
            <a:off x="6108192" y="4718304"/>
            <a:ext cx="14173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dirty="0">
                <a:solidFill>
                  <a:srgbClr val="B8B7AD"/>
                </a:solidFill>
                <a:latin typeface="Arial"/>
              </a:rPr>
              <a:t>WORKFLOW</a:t>
            </a:r>
            <a:endParaRPr lang="en-US" sz="1050"/>
          </a:p>
          <a:p>
            <a:pPr algn="l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dirty="0">
                <a:solidFill>
                  <a:srgbClr val="B8B7AD"/>
                </a:solidFill>
                <a:latin typeface="Arial"/>
              </a:rPr>
              <a:t>OWNER</a:t>
            </a:r>
            <a:endParaRPr lang="en-US" sz="1050"/>
          </a:p>
        </p:txBody>
      </p:sp>
      <p:cxnSp>
        <p:nvCxnSpPr>
          <p:cNvPr id="25" name="Ask rule 2"/>
          <p:cNvCxnSpPr/>
          <p:nvPr/>
        </p:nvCxnSpPr>
        <p:spPr>
          <a:xfrm>
            <a:off x="7708392" y="4873752"/>
            <a:ext cx="237744" cy="0"/>
          </a:xfrm>
          <a:prstGeom prst="line">
            <a:avLst/>
          </a:prstGeom>
          <a:ln w="28575" cap="round">
            <a:solidFill>
              <a:srgbClr val="FF8B5C"/>
            </a:solidFill>
            <a:prstDash val="solid"/>
            <a:round/>
            <a:headEnd type="none"/>
            <a:tailEnd type="none"/>
          </a:ln>
        </p:spPr>
      </p:cxnSp>
      <p:sp>
        <p:nvSpPr>
          <p:cNvPr id="26" name="Ask label 2"/>
          <p:cNvSpPr txBox="1"/>
          <p:nvPr/>
        </p:nvSpPr>
        <p:spPr>
          <a:xfrm>
            <a:off x="8037576" y="4718304"/>
            <a:ext cx="14173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dirty="0">
                <a:solidFill>
                  <a:srgbClr val="B8B7AD"/>
                </a:solidFill>
                <a:latin typeface="Arial"/>
              </a:rPr>
              <a:t>GOVERNANCE</a:t>
            </a:r>
            <a:endParaRPr lang="en-US" sz="1050"/>
          </a:p>
          <a:p>
            <a:pPr algn="l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dirty="0">
                <a:solidFill>
                  <a:srgbClr val="B8B7AD"/>
                </a:solidFill>
                <a:latin typeface="Arial"/>
              </a:rPr>
              <a:t>OWNER</a:t>
            </a:r>
            <a:endParaRPr lang="en-US" sz="1050"/>
          </a:p>
        </p:txBody>
      </p:sp>
      <p:cxnSp>
        <p:nvCxnSpPr>
          <p:cNvPr id="27" name="Ask rule 3"/>
          <p:cNvCxnSpPr/>
          <p:nvPr/>
        </p:nvCxnSpPr>
        <p:spPr>
          <a:xfrm>
            <a:off x="9637776" y="4873752"/>
            <a:ext cx="237744" cy="0"/>
          </a:xfrm>
          <a:prstGeom prst="line">
            <a:avLst/>
          </a:prstGeom>
          <a:ln w="28575" cap="round">
            <a:solidFill>
              <a:srgbClr val="FF8B5C"/>
            </a:solidFill>
            <a:prstDash val="solid"/>
            <a:round/>
            <a:headEnd type="none"/>
            <a:tailEnd type="none"/>
          </a:ln>
        </p:spPr>
      </p:cxnSp>
      <p:sp>
        <p:nvSpPr>
          <p:cNvPr id="28" name="Ask label 3"/>
          <p:cNvSpPr txBox="1"/>
          <p:nvPr/>
        </p:nvSpPr>
        <p:spPr>
          <a:xfrm>
            <a:off x="9966960" y="4718304"/>
            <a:ext cx="14173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dirty="0">
                <a:solidFill>
                  <a:srgbClr val="B8B7AD"/>
                </a:solidFill>
                <a:latin typeface="Arial"/>
              </a:rPr>
              <a:t>VOLUNTARY</a:t>
            </a:r>
            <a:endParaRPr lang="en-US" sz="1050"/>
          </a:p>
          <a:p>
            <a:pPr algn="l" marL="0" indent="0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dirty="0">
                <a:solidFill>
                  <a:srgbClr val="B8B7AD"/>
                </a:solidFill>
                <a:latin typeface="Arial"/>
              </a:rPr>
              <a:t>ACCESS</a:t>
            </a:r>
            <a:endParaRPr lang="en-US" sz="1050"/>
          </a:p>
        </p:txBody>
      </p:sp>
      <p:cxnSp>
        <p:nvCxnSpPr>
          <p:cNvPr id="29" name="Footer separator"/>
          <p:cNvCxnSpPr/>
          <p:nvPr/>
        </p:nvCxnSpPr>
        <p:spPr>
          <a:xfrm>
            <a:off x="658368" y="6364224"/>
            <a:ext cx="10872216" cy="0"/>
          </a:xfrm>
          <a:prstGeom prst="line">
            <a:avLst/>
          </a:prstGeom>
          <a:ln w="9525" cap="round">
            <a:solidFill>
              <a:srgbClr val="53665F"/>
            </a:solidFill>
            <a:prstDash val="solid"/>
            <a:round/>
            <a:headEnd type="none"/>
            <a:tailEnd type="none"/>
          </a:ln>
        </p:spPr>
      </p:cxnSp>
      <p:sp>
        <p:nvSpPr>
          <p:cNvPr id="30" name="Source footer"/>
          <p:cNvSpPr txBox="1"/>
          <p:nvPr/>
        </p:nvSpPr>
        <p:spPr>
          <a:xfrm>
            <a:off x="658368" y="6455664"/>
            <a:ext cx="10872216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dirty="0">
                <a:solidFill>
                  <a:srgbClr val="858B85"/>
                </a:solidFill>
                <a:latin typeface="Arial"/>
              </a:rPr>
              <a:t>Captain · H02–H03</a:t>
            </a:r>
            <a:endParaRPr lang="en-US" sz="9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uiet Channel Executive">
  <a:themeElements>
    <a:clrScheme name="Quiet Channel">
      <a:dk1>
        <a:srgbClr val="101816"/>
      </a:dk1>
      <a:lt1>
        <a:srgbClr val="FFFFFF"/>
      </a:lt1>
      <a:dk2>
        <a:srgbClr val="17231F"/>
      </a:dk2>
      <a:lt2>
        <a:srgbClr val="F4F0E6"/>
      </a:lt2>
      <a:accent1>
        <a:srgbClr val="5CD3BD"/>
      </a:accent1>
      <a:accent2>
        <a:srgbClr val="FF8B5C"/>
      </a:accent2>
      <a:accent3>
        <a:srgbClr val="DDEB79"/>
      </a:accent3>
      <a:accent4>
        <a:srgbClr val="93B9FF"/>
      </a:accent4>
      <a:accent5>
        <a:srgbClr val="FF857E"/>
      </a:accent5>
      <a:accent6>
        <a:srgbClr val="858B85"/>
      </a:accent6>
      <a:hlink>
        <a:srgbClr val="5CD3BD"/>
      </a:hlink>
      <a:folHlink>
        <a:srgbClr val="FF8B5C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Quiet Channel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12700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dk1"/>
        </a:solidFill>
        <a:solidFill>
          <a:schemeClr val="dk2"/>
        </a:solidFill>
        <a:solidFill>
          <a:schemeClr val="lt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 Standard Library OOXML Builder</Application>
  <PresentationFormat>On-screen Show (16:9)</PresentationFormat>
  <Slides>4</Slides>
  <Notes>4</Notes>
  <HiddenSlides>0</HiddenSlides>
  <MMClips>0</MMClips>
  <ScaleCrop>false</ScaleCrop>
  <HeadingPairs>
    <vt:vector size="2" baseType="variant">
      <vt:variant>
        <vt:lpstr>Slide Titles</vt:lpstr>
      </vt:variant>
      <vt:variant>
        <vt:i4>4</vt:i4>
      </vt:variant>
    </vt:vector>
  </HeadingPairs>
  <TitlesOfParts>
    <vt:vector size="4" baseType="lpstr">
      <vt:lpstr>A quiet command lane for frontline work.</vt:lpstr>
      <vt:lpstr>A fixed command channel. A human gate before action.</vt:lpstr>
      <vt:lpstr>The signal is plausible. Cross-session transfer is the risk.</vt:lpstr>
      <vt:lpstr>Approve the 90-day pilot. Buy a go / change / stop decision.</vt:lpstr>
    </vt:vector>
  </TitlesOfParts>
  <Company>Silent Speech Technology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Quiet Channel — Four-Slide Executive Decision Deck</dc:title>
  <dc:subject>Evidence-gated silent command research proposal</dc:subject>
  <dc:creator>Silent Speech Technology project</dc:creator>
  <cp:keywords>silent speech; concept; simulated; evidence; e&amp;</cp:keywords>
  <dc:description>Deterministic editable executive deck. No product-performance claim.</dc:description>
  <cp:lastModifiedBy>Standard-library OOXML builder</cp:lastModifiedBy>
  <cp:revision>2</cp:revision>
  <dcterms:created xsi:type="dcterms:W3CDTF">2026-07-28T00:00:00Z</dcterms:created>
  <dcterms:modified xsi:type="dcterms:W3CDTF">2026-07-28T00:00:00Z</dcterms:modified>
</cp:coreProperties>
</file>