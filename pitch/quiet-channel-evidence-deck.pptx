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 type="screen16x9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/>
  <p:slideViewPr>
    <p:cSldViewPr snapToGrid="1" snapToObjects="1"/>
  </p:slideViewPr>
  <p:notesTextViewPr>
    <p:cViewPr varScale="1"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Quiet Channel Notes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hf hdr="0" ftr="0" dt="0" sldNum="0"/>
  <p:notesStyle>
    <a:lvl1pPr marL="0" indent="0">
      <a:defRPr sz="1050"/>
    </a:lvl1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Slide 1 presenter 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Text Placeholder 1"/>
          <p:cNvSpPr txBox="1"/>
          <p:nvPr>
            <p:ph type="body" idx="1"/>
          </p:nvPr>
        </p:nvSpPr>
        <p:spPr>
          <a:xfrm>
            <a:off x="594360" y="594360"/>
            <a:ext cx="5669280" cy="7589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 marL="0" indent="0">
              <a:spcBef>
                <a:spcPts val="300"/>
              </a:spcBef>
              <a:spcAft>
                <a:spcPts val="120"/>
              </a:spcAft>
              <a:buNone/>
            </a:pPr>
            <a:r>
              <a:rPr lang="en-US" sz="1000" b="1" dirty="0">
                <a:solidFill>
                  <a:srgbClr val="5CD3BD"/>
                </a:solidFill>
                <a:latin typeface="Arial"/>
              </a:rPr>
              <a:t>TALK TRACK</a:t>
            </a:r>
            <a:endParaRPr lang="en-US" sz="1000"/>
          </a:p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Arial"/>
              </a:rPr>
              <a:t>This is a command-channel research proposal. Tomorrow's executable proof is interaction and failure handling, not sensing.</a:t>
            </a:r>
            <a:endParaRPr lang="en-US" sz="1050"/>
          </a:p>
          <a:p>
            <a:pPr algn="l" marL="0" indent="0">
              <a:spcBef>
                <a:spcPts val="300"/>
              </a:spcBef>
              <a:spcAft>
                <a:spcPts val="120"/>
              </a:spcAft>
              <a:buNone/>
            </a:pPr>
            <a:r>
              <a:rPr lang="en-US" sz="1000" b="1" dirty="0">
                <a:solidFill>
                  <a:srgbClr val="5CD3BD"/>
                </a:solidFill>
                <a:latin typeface="Arial"/>
              </a:rPr>
              <a:t>BOUNDARY</a:t>
            </a:r>
            <a:endParaRPr lang="en-US" sz="1000"/>
          </a:p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Arial"/>
              </a:rPr>
              <a:t>Do not say device, reads thoughts, open vocabulary, accurate, behind-ear, private, customer or deployed.</a:t>
            </a:r>
            <a:endParaRPr lang="en-US" sz="1050"/>
          </a:p>
          <a:p>
            <a:pPr algn="l" marL="0" indent="0">
              <a:spcBef>
                <a:spcPts val="300"/>
              </a:spcBef>
              <a:spcAft>
                <a:spcPts val="120"/>
              </a:spcAft>
              <a:buNone/>
            </a:pPr>
            <a:r>
              <a:rPr lang="en-US" sz="1000" b="1" dirty="0">
                <a:solidFill>
                  <a:srgbClr val="5CD3BD"/>
                </a:solidFill>
                <a:latin typeface="Arial"/>
              </a:rPr>
              <a:t>SOURCE</a:t>
            </a:r>
            <a:endParaRPr lang="en-US" sz="1000"/>
          </a:p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Arial"/>
              </a:rPr>
              <a:t>research/claim-boundary.md; research/claim-ledger.md.</a:t>
            </a:r>
            <a:endParaRPr lang="en-US" sz="105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Slide 2 presenter 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Text Placeholder 1"/>
          <p:cNvSpPr txBox="1"/>
          <p:nvPr>
            <p:ph type="body" idx="1"/>
          </p:nvPr>
        </p:nvSpPr>
        <p:spPr>
          <a:xfrm>
            <a:off x="594360" y="594360"/>
            <a:ext cx="5669280" cy="7589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 marL="0" indent="0">
              <a:spcBef>
                <a:spcPts val="300"/>
              </a:spcBef>
              <a:spcAft>
                <a:spcPts val="120"/>
              </a:spcAft>
              <a:buNone/>
            </a:pPr>
            <a:r>
              <a:rPr lang="en-US" sz="1000" b="1" dirty="0">
                <a:solidFill>
                  <a:srgbClr val="5CD3BD"/>
                </a:solidFill>
                <a:latin typeface="Arial"/>
              </a:rPr>
              <a:t>TALK TRACK</a:t>
            </a:r>
            <a:endParaRPr lang="en-US" sz="1000"/>
          </a:p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Arial"/>
              </a:rPr>
              <a:t>Keep the concrete frontline moments, then volunteer that no user discovery was supplied. Existing shortcuts may be the correct answer.</a:t>
            </a:r>
            <a:endParaRPr lang="en-US" sz="1050"/>
          </a:p>
          <a:p>
            <a:pPr algn="l" marL="0" indent="0">
              <a:spcBef>
                <a:spcPts val="300"/>
              </a:spcBef>
              <a:spcAft>
                <a:spcPts val="120"/>
              </a:spcAft>
              <a:buNone/>
            </a:pPr>
            <a:r>
              <a:rPr lang="en-US" sz="1000" b="1" dirty="0">
                <a:solidFill>
                  <a:srgbClr val="5CD3BD"/>
                </a:solidFill>
                <a:latin typeface="Arial"/>
              </a:rPr>
              <a:t>BOUNDARY</a:t>
            </a:r>
            <a:endParaRPr lang="en-US" sz="1000"/>
          </a:p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Arial"/>
              </a:rPr>
              <a:t>Beachhead is selected; pain and willingness to pay remain hypotheses.</a:t>
            </a:r>
            <a:endParaRPr lang="en-US" sz="1050"/>
          </a:p>
          <a:p>
            <a:pPr algn="l" marL="0" indent="0">
              <a:spcBef>
                <a:spcPts val="300"/>
              </a:spcBef>
              <a:spcAft>
                <a:spcPts val="120"/>
              </a:spcAft>
              <a:buNone/>
            </a:pPr>
            <a:r>
              <a:rPr lang="en-US" sz="1000" b="1" dirty="0">
                <a:solidFill>
                  <a:srgbClr val="5CD3BD"/>
                </a:solidFill>
                <a:latin typeface="Arial"/>
              </a:rPr>
              <a:t>SOURCE</a:t>
            </a:r>
            <a:endParaRPr lang="en-US" sz="1000"/>
          </a:p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Arial"/>
              </a:rPr>
              <a:t>research/presentation-review.md.</a:t>
            </a:r>
            <a:endParaRPr lang="en-US" sz="105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Slide 3 presenter 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Text Placeholder 1"/>
          <p:cNvSpPr txBox="1"/>
          <p:nvPr>
            <p:ph type="body" idx="1"/>
          </p:nvPr>
        </p:nvSpPr>
        <p:spPr>
          <a:xfrm>
            <a:off x="594360" y="594360"/>
            <a:ext cx="5669280" cy="7589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 marL="0" indent="0">
              <a:spcBef>
                <a:spcPts val="300"/>
              </a:spcBef>
              <a:spcAft>
                <a:spcPts val="120"/>
              </a:spcAft>
              <a:buNone/>
            </a:pPr>
            <a:r>
              <a:rPr lang="en-US" sz="1000" b="1" dirty="0">
                <a:solidFill>
                  <a:srgbClr val="5CD3BD"/>
                </a:solidFill>
                <a:latin typeface="Arial"/>
              </a:rPr>
              <a:t>TALK TRACK</a:t>
            </a:r>
            <a:endParaRPr lang="en-US" sz="1000"/>
          </a:p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Arial"/>
              </a:rPr>
              <a:t>Separate category evidence: SilentWear is a four-person command preprint; Meta is wrist gesture input; Q Cue is optical. None validates this product.</a:t>
            </a:r>
            <a:endParaRPr lang="en-US" sz="1050"/>
          </a:p>
          <a:p>
            <a:pPr algn="l" marL="0" indent="0">
              <a:spcBef>
                <a:spcPts val="300"/>
              </a:spcBef>
              <a:spcAft>
                <a:spcPts val="120"/>
              </a:spcAft>
              <a:buNone/>
            </a:pPr>
            <a:r>
              <a:rPr lang="en-US" sz="1000" b="1" dirty="0">
                <a:solidFill>
                  <a:srgbClr val="5CD3BD"/>
                </a:solidFill>
                <a:latin typeface="Arial"/>
              </a:rPr>
              <a:t>BOUNDARY</a:t>
            </a:r>
            <a:endParaRPr lang="en-US" sz="1000"/>
          </a:p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Arial"/>
              </a:rPr>
              <a:t>Apple terms are undisclosed; do not state a deal price.</a:t>
            </a:r>
            <a:endParaRPr lang="en-US" sz="1050"/>
          </a:p>
          <a:p>
            <a:pPr algn="l" marL="0" indent="0">
              <a:spcBef>
                <a:spcPts val="300"/>
              </a:spcBef>
              <a:spcAft>
                <a:spcPts val="120"/>
              </a:spcAft>
              <a:buNone/>
            </a:pPr>
            <a:r>
              <a:rPr lang="en-US" sz="1000" b="1" dirty="0">
                <a:solidFill>
                  <a:srgbClr val="5CD3BD"/>
                </a:solidFill>
                <a:latin typeface="Arial"/>
              </a:rPr>
              <a:t>SOURCES</a:t>
            </a:r>
            <a:endParaRPr lang="en-US" sz="1000"/>
          </a:p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Arial"/>
              </a:rPr>
              <a:t>arxiv.org/abs/2603.02847; about.fb.com official product page; US20240119938A1 / US12204627B2 metadata.</a:t>
            </a:r>
            <a:endParaRPr lang="en-US" sz="105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Slide 4 presenter 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Text Placeholder 1"/>
          <p:cNvSpPr txBox="1"/>
          <p:nvPr>
            <p:ph type="body" idx="1"/>
          </p:nvPr>
        </p:nvSpPr>
        <p:spPr>
          <a:xfrm>
            <a:off x="594360" y="594360"/>
            <a:ext cx="5669280" cy="7589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 marL="0" indent="0">
              <a:spcBef>
                <a:spcPts val="300"/>
              </a:spcBef>
              <a:spcAft>
                <a:spcPts val="120"/>
              </a:spcAft>
              <a:buNone/>
            </a:pPr>
            <a:r>
              <a:rPr lang="en-US" sz="1000" b="1" dirty="0">
                <a:solidFill>
                  <a:srgbClr val="5CD3BD"/>
                </a:solidFill>
                <a:latin typeface="Arial"/>
              </a:rPr>
              <a:t>TALK TRACK</a:t>
            </a:r>
            <a:endParaRPr lang="en-US" sz="1000"/>
          </a:p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Arial"/>
              </a:rPr>
              <a:t>Captain selected e&amp; frontline retail advisors and field technicians. Stage 0 still selects one workflow and measures role differences.</a:t>
            </a:r>
            <a:endParaRPr lang="en-US" sz="1050"/>
          </a:p>
          <a:p>
            <a:pPr algn="l" marL="0" indent="0">
              <a:spcBef>
                <a:spcPts val="300"/>
              </a:spcBef>
              <a:spcAft>
                <a:spcPts val="120"/>
              </a:spcAft>
              <a:buNone/>
            </a:pPr>
            <a:r>
              <a:rPr lang="en-US" sz="1000" b="1" dirty="0">
                <a:solidFill>
                  <a:srgbClr val="5CD3BD"/>
                </a:solidFill>
                <a:latin typeface="Arial"/>
              </a:rPr>
              <a:t>BOUNDARY</a:t>
            </a:r>
            <a:endParaRPr lang="en-US" sz="1000"/>
          </a:p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Arial"/>
              </a:rPr>
              <a:t>Voluntary enrollment, conventional fallback and no performance-management use.</a:t>
            </a:r>
            <a:endParaRPr lang="en-US" sz="1050"/>
          </a:p>
          <a:p>
            <a:pPr algn="l" marL="0" indent="0">
              <a:spcBef>
                <a:spcPts val="300"/>
              </a:spcBef>
              <a:spcAft>
                <a:spcPts val="120"/>
              </a:spcAft>
              <a:buNone/>
            </a:pPr>
            <a:r>
              <a:rPr lang="en-US" sz="1000" b="1" dirty="0">
                <a:solidFill>
                  <a:srgbClr val="5CD3BD"/>
                </a:solidFill>
                <a:latin typeface="Arial"/>
              </a:rPr>
              <a:t>SOURCE</a:t>
            </a:r>
            <a:endParaRPr lang="en-US" sz="1000"/>
          </a:p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Arial"/>
              </a:rPr>
              <a:t>provenance/decisions.md.</a:t>
            </a:r>
            <a:endParaRPr lang="en-US" sz="105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Slide 5 presenter 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Text Placeholder 1"/>
          <p:cNvSpPr txBox="1"/>
          <p:nvPr>
            <p:ph type="body" idx="1"/>
          </p:nvPr>
        </p:nvSpPr>
        <p:spPr>
          <a:xfrm>
            <a:off x="594360" y="594360"/>
            <a:ext cx="5669280" cy="7589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 marL="0" indent="0">
              <a:spcBef>
                <a:spcPts val="300"/>
              </a:spcBef>
              <a:spcAft>
                <a:spcPts val="120"/>
              </a:spcAft>
              <a:buNone/>
            </a:pPr>
            <a:r>
              <a:rPr lang="en-US" sz="1000" b="1" dirty="0">
                <a:solidFill>
                  <a:srgbClr val="5CD3BD"/>
                </a:solidFill>
                <a:latin typeface="Arial"/>
              </a:rPr>
              <a:t>TALK TRACK</a:t>
            </a:r>
            <a:endParaRPr lang="en-US" sz="1000"/>
          </a:p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Arial"/>
              </a:rPr>
              <a:t>The decoder is new AI. Candidate alternatives, abstention and confirmation stay visible.</a:t>
            </a:r>
            <a:endParaRPr lang="en-US" sz="1050"/>
          </a:p>
          <a:p>
            <a:pPr algn="l" marL="0" indent="0">
              <a:spcBef>
                <a:spcPts val="300"/>
              </a:spcBef>
              <a:spcAft>
                <a:spcPts val="120"/>
              </a:spcAft>
              <a:buNone/>
            </a:pPr>
            <a:r>
              <a:rPr lang="en-US" sz="1000" b="1" dirty="0">
                <a:solidFill>
                  <a:srgbClr val="5CD3BD"/>
                </a:solidFill>
                <a:latin typeface="Arial"/>
              </a:rPr>
              <a:t>BOUNDARY</a:t>
            </a:r>
            <a:endParaRPr lang="en-US" sz="1000"/>
          </a:p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Arial"/>
              </a:rPr>
              <a:t>2.47 ms is external model inference after a 0.8–1.4 s sensing window, not end-to-end latency.</a:t>
            </a:r>
            <a:endParaRPr lang="en-US" sz="1050"/>
          </a:p>
          <a:p>
            <a:pPr algn="l" marL="0" indent="0">
              <a:spcBef>
                <a:spcPts val="300"/>
              </a:spcBef>
              <a:spcAft>
                <a:spcPts val="120"/>
              </a:spcAft>
              <a:buNone/>
            </a:pPr>
            <a:r>
              <a:rPr lang="en-US" sz="1000" b="1" dirty="0">
                <a:solidFill>
                  <a:srgbClr val="5CD3BD"/>
                </a:solidFill>
                <a:latin typeface="Arial"/>
              </a:rPr>
              <a:t>SOURCE</a:t>
            </a:r>
            <a:endParaRPr lang="en-US" sz="1000"/>
          </a:p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Arial"/>
              </a:rPr>
              <a:t>SilentWear arXiv:2603.02847v2; research/scout-review.md.</a:t>
            </a:r>
            <a:endParaRPr lang="en-US" sz="105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Slide 6 presenter 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Text Placeholder 1"/>
          <p:cNvSpPr txBox="1"/>
          <p:nvPr>
            <p:ph type="body" idx="1"/>
          </p:nvPr>
        </p:nvSpPr>
        <p:spPr>
          <a:xfrm>
            <a:off x="594360" y="594360"/>
            <a:ext cx="5669280" cy="7589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 marL="0" indent="0">
              <a:spcBef>
                <a:spcPts val="300"/>
              </a:spcBef>
              <a:spcAft>
                <a:spcPts val="120"/>
              </a:spcAft>
              <a:buNone/>
            </a:pPr>
            <a:r>
              <a:rPr lang="en-US" sz="1000" b="1" dirty="0">
                <a:solidFill>
                  <a:srgbClr val="5CD3BD"/>
                </a:solidFill>
                <a:latin typeface="Arial"/>
              </a:rPr>
              <a:t>OPERATOR</a:t>
            </a:r>
            <a:endParaRPr lang="en-US" sz="1000"/>
          </a:p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Arial"/>
              </a:rPr>
              <a:t>Open demo/index.html. Unlock. Scenario 1: confirm and show egress. Scenario 2: reject, authored repair, confirm. Never mouth a phrase as if the browser sensed it.</a:t>
            </a:r>
            <a:endParaRPr lang="en-US" sz="1050"/>
          </a:p>
          <a:p>
            <a:pPr algn="l" marL="0" indent="0">
              <a:spcBef>
                <a:spcPts val="300"/>
              </a:spcBef>
              <a:spcAft>
                <a:spcPts val="120"/>
              </a:spcAft>
              <a:buNone/>
            </a:pPr>
            <a:r>
              <a:rPr lang="en-US" sz="1000" b="1" dirty="0">
                <a:solidFill>
                  <a:srgbClr val="5CD3BD"/>
                </a:solidFill>
                <a:latin typeface="Arial"/>
              </a:rPr>
              <a:t>BOUNDARY</a:t>
            </a:r>
            <a:endParaRPr lang="en-US" sz="1000"/>
          </a:p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Arial"/>
              </a:rPr>
              <a:t>All delay, failure, score and waveform behavior is authored.</a:t>
            </a:r>
            <a:endParaRPr lang="en-US" sz="1050"/>
          </a:p>
          <a:p>
            <a:pPr algn="l" marL="0" indent="0">
              <a:spcBef>
                <a:spcPts val="300"/>
              </a:spcBef>
              <a:spcAft>
                <a:spcPts val="120"/>
              </a:spcAft>
              <a:buNone/>
            </a:pPr>
            <a:r>
              <a:rPr lang="en-US" sz="1000" b="1" dirty="0">
                <a:solidFill>
                  <a:srgbClr val="5CD3BD"/>
                </a:solidFill>
                <a:latin typeface="Arial"/>
              </a:rPr>
              <a:t>SOURCE</a:t>
            </a:r>
            <a:endParaRPr lang="en-US" sz="1000"/>
          </a:p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Arial"/>
              </a:rPr>
              <a:t>demo/PRESENTER.md.</a:t>
            </a:r>
            <a:endParaRPr lang="en-US" sz="105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Slide 7 presenter 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Text Placeholder 1"/>
          <p:cNvSpPr txBox="1"/>
          <p:nvPr>
            <p:ph type="body" idx="1"/>
          </p:nvPr>
        </p:nvSpPr>
        <p:spPr>
          <a:xfrm>
            <a:off x="594360" y="594360"/>
            <a:ext cx="5669280" cy="7589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 marL="0" indent="0">
              <a:spcBef>
                <a:spcPts val="300"/>
              </a:spcBef>
              <a:spcAft>
                <a:spcPts val="120"/>
              </a:spcAft>
              <a:buNone/>
            </a:pPr>
            <a:r>
              <a:rPr lang="en-US" sz="1000" b="1" dirty="0">
                <a:solidFill>
                  <a:srgbClr val="5CD3BD"/>
                </a:solidFill>
                <a:latin typeface="Arial"/>
              </a:rPr>
              <a:t>TALK TRACK</a:t>
            </a:r>
            <a:endParaRPr lang="en-US" sz="1000"/>
          </a:p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Arial"/>
              </a:rPr>
              <a:t>Read conditions before numbers. SilentWear: preprint; n=4; 14 differential neck channels; 8 commands plus rest. Silent accuracy 77.5±6.6% global cross-validation and 59.3±2.2% held-out session. GAP9 2.47 ms inference and 20.5 mW; 27.1 h estimated with 150 mAh.</a:t>
            </a:r>
            <a:endParaRPr lang="en-US" sz="1050"/>
          </a:p>
          <a:p>
            <a:pPr algn="l" marL="0" indent="0">
              <a:spcBef>
                <a:spcPts val="300"/>
              </a:spcBef>
              <a:spcAft>
                <a:spcPts val="120"/>
              </a:spcAft>
              <a:buNone/>
            </a:pPr>
            <a:r>
              <a:rPr lang="en-US" sz="1000" b="1" dirty="0">
                <a:solidFill>
                  <a:srgbClr val="5CD3BD"/>
                </a:solidFill>
                <a:latin typeface="Arial"/>
              </a:rPr>
              <a:t>BOUNDARY</a:t>
            </a:r>
            <a:endParaRPr lang="en-US" sz="1000"/>
          </a:p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Arial"/>
              </a:rPr>
              <a:t>External study—not this project; comfort and complete latency unknown.</a:t>
            </a:r>
            <a:endParaRPr lang="en-US" sz="1050"/>
          </a:p>
          <a:p>
            <a:pPr algn="l" marL="0" indent="0">
              <a:spcBef>
                <a:spcPts val="300"/>
              </a:spcBef>
              <a:spcAft>
                <a:spcPts val="120"/>
              </a:spcAft>
              <a:buNone/>
            </a:pPr>
            <a:r>
              <a:rPr lang="en-US" sz="1000" b="1" dirty="0">
                <a:solidFill>
                  <a:srgbClr val="5CD3BD"/>
                </a:solidFill>
                <a:latin typeface="Arial"/>
              </a:rPr>
              <a:t>SOURCE</a:t>
            </a:r>
            <a:endParaRPr lang="en-US" sz="1000"/>
          </a:p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Arial"/>
              </a:rPr>
              <a:t>arXiv:2603.02847v2.</a:t>
            </a:r>
            <a:endParaRPr lang="en-US" sz="105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Slide 8 presenter 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Text Placeholder 1"/>
          <p:cNvSpPr txBox="1"/>
          <p:nvPr>
            <p:ph type="body" idx="1"/>
          </p:nvPr>
        </p:nvSpPr>
        <p:spPr>
          <a:xfrm>
            <a:off x="594360" y="594360"/>
            <a:ext cx="5669280" cy="7589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 marL="0" indent="0">
              <a:spcBef>
                <a:spcPts val="300"/>
              </a:spcBef>
              <a:spcAft>
                <a:spcPts val="120"/>
              </a:spcAft>
              <a:buNone/>
            </a:pPr>
            <a:r>
              <a:rPr lang="en-US" sz="1000" b="1" dirty="0">
                <a:solidFill>
                  <a:srgbClr val="5CD3BD"/>
                </a:solidFill>
                <a:latin typeface="Arial"/>
              </a:rPr>
              <a:t>TALK TRACK</a:t>
            </a:r>
            <a:endParaRPr lang="en-US" sz="1000"/>
          </a:p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Arial"/>
              </a:rPr>
              <a:t>Privacy is not 'no microphone.' It is purpose, lock, minimization, access, deletion, incident handling and a veto on surveillance uses.</a:t>
            </a:r>
            <a:endParaRPr lang="en-US" sz="1050"/>
          </a:p>
          <a:p>
            <a:pPr algn="l" marL="0" indent="0">
              <a:spcBef>
                <a:spcPts val="300"/>
              </a:spcBef>
              <a:spcAft>
                <a:spcPts val="120"/>
              </a:spcAft>
              <a:buNone/>
            </a:pPr>
            <a:r>
              <a:rPr lang="en-US" sz="1000" b="1" dirty="0">
                <a:solidFill>
                  <a:srgbClr val="5CD3BD"/>
                </a:solidFill>
                <a:latin typeface="Arial"/>
              </a:rPr>
              <a:t>BOUNDARY</a:t>
            </a:r>
            <a:endParaRPr lang="en-US" sz="1000"/>
          </a:p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Arial"/>
              </a:rPr>
              <a:t>No compliance certification; UAE Executive Regulations and legal interpretation require counsel.</a:t>
            </a:r>
            <a:endParaRPr lang="en-US" sz="1050"/>
          </a:p>
          <a:p>
            <a:pPr algn="l" marL="0" indent="0">
              <a:spcBef>
                <a:spcPts val="300"/>
              </a:spcBef>
              <a:spcAft>
                <a:spcPts val="120"/>
              </a:spcAft>
              <a:buNone/>
            </a:pPr>
            <a:r>
              <a:rPr lang="en-US" sz="1000" b="1" dirty="0">
                <a:solidFill>
                  <a:srgbClr val="5CD3BD"/>
                </a:solidFill>
                <a:latin typeface="Arial"/>
              </a:rPr>
              <a:t>SOURCES</a:t>
            </a:r>
            <a:endParaRPr lang="en-US" sz="1000"/>
          </a:p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Arial"/>
              </a:rPr>
              <a:t>u.ae data protection laws; eur-lex.europa.eu/eli/reg/2024/1689/oj/eng; NIST Privacy Framework.</a:t>
            </a:r>
            <a:endParaRPr lang="en-US" sz="105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Slide 9 presenter 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Text Placeholder 1"/>
          <p:cNvSpPr txBox="1"/>
          <p:nvPr>
            <p:ph type="body" idx="1"/>
          </p:nvPr>
        </p:nvSpPr>
        <p:spPr>
          <a:xfrm>
            <a:off x="594360" y="594360"/>
            <a:ext cx="5669280" cy="7589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 marL="0" indent="0">
              <a:spcBef>
                <a:spcPts val="300"/>
              </a:spcBef>
              <a:spcAft>
                <a:spcPts val="120"/>
              </a:spcAft>
              <a:buNone/>
            </a:pPr>
            <a:r>
              <a:rPr lang="en-US" sz="1000" b="1" dirty="0">
                <a:solidFill>
                  <a:srgbClr val="5CD3BD"/>
                </a:solidFill>
                <a:latin typeface="Arial"/>
              </a:rPr>
              <a:t>TALK TRACK</a:t>
            </a:r>
            <a:endParaRPr lang="en-US" sz="1000"/>
          </a:p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Arial"/>
              </a:rPr>
              <a:t>Name AlterEgo before the audience does. Meta is gesture and Q Cue is optical. EarCommand, EchoSpeech and MuteIt are peer-reviewed systems with different sensing assumptions. Whispp describes acoustic apps; clinical systems are separate.</a:t>
            </a:r>
            <a:endParaRPr lang="en-US" sz="1050"/>
          </a:p>
          <a:p>
            <a:pPr algn="l" marL="0" indent="0">
              <a:spcBef>
                <a:spcPts val="300"/>
              </a:spcBef>
              <a:spcAft>
                <a:spcPts val="120"/>
              </a:spcAft>
              <a:buNone/>
            </a:pPr>
            <a:r>
              <a:rPr lang="en-US" sz="1000" b="1" dirty="0">
                <a:solidFill>
                  <a:srgbClr val="5CD3BD"/>
                </a:solidFill>
                <a:latin typeface="Arial"/>
              </a:rPr>
              <a:t>BOUNDARY</a:t>
            </a:r>
            <a:endParaRPr lang="en-US" sz="1000"/>
          </a:p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Arial"/>
              </a:rPr>
              <a:t>No funding total, regional leadership, approval, FTO or competitor product-performance claim. Whispp status is company-described.</a:t>
            </a:r>
            <a:endParaRPr lang="en-US" sz="1050"/>
          </a:p>
          <a:p>
            <a:pPr algn="l" marL="0" indent="0">
              <a:spcBef>
                <a:spcPts val="300"/>
              </a:spcBef>
              <a:spcAft>
                <a:spcPts val="120"/>
              </a:spcAft>
              <a:buNone/>
            </a:pPr>
            <a:r>
              <a:rPr lang="en-US" sz="1000" b="1" dirty="0">
                <a:solidFill>
                  <a:srgbClr val="5CD3BD"/>
                </a:solidFill>
                <a:latin typeface="Arial"/>
              </a:rPr>
              <a:t>SOURCES</a:t>
            </a:r>
            <a:endParaRPr lang="en-US" sz="1000"/>
          </a:p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Arial"/>
              </a:rPr>
              <a:t>DOI 10.1145/3534613; DOI 10.1145/3544548.3580801; DOI 10.1145/3550281; whispp.com; research/references.md.</a:t>
            </a:r>
            <a:endParaRPr lang="en-US" sz="105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Slide 10 presenter 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Text Placeholder 1"/>
          <p:cNvSpPr txBox="1"/>
          <p:nvPr>
            <p:ph type="body" idx="1"/>
          </p:nvPr>
        </p:nvSpPr>
        <p:spPr>
          <a:xfrm>
            <a:off x="594360" y="594360"/>
            <a:ext cx="5669280" cy="7589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 marL="0" indent="0">
              <a:spcBef>
                <a:spcPts val="300"/>
              </a:spcBef>
              <a:spcAft>
                <a:spcPts val="120"/>
              </a:spcAft>
              <a:buNone/>
            </a:pPr>
            <a:r>
              <a:rPr lang="en-US" sz="1000" b="1" dirty="0">
                <a:solidFill>
                  <a:srgbClr val="5CD3BD"/>
                </a:solidFill>
                <a:latin typeface="Arial"/>
              </a:rPr>
              <a:t>TALK TRACK</a:t>
            </a:r>
            <a:endParaRPr lang="en-US" sz="1000"/>
          </a:p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Arial"/>
              </a:rPr>
              <a:t>The bounded scan did not identify an Arabic sEMG corpus; do not turn a negative search into certainty. A corpus is a governed liability before a moat.</a:t>
            </a:r>
            <a:endParaRPr lang="en-US" sz="1050"/>
          </a:p>
          <a:p>
            <a:pPr algn="l" marL="0" indent="0">
              <a:spcBef>
                <a:spcPts val="300"/>
              </a:spcBef>
              <a:spcAft>
                <a:spcPts val="120"/>
              </a:spcAft>
              <a:buNone/>
            </a:pPr>
            <a:r>
              <a:rPr lang="en-US" sz="1000" b="1" dirty="0">
                <a:solidFill>
                  <a:srgbClr val="5CD3BD"/>
                </a:solidFill>
                <a:latin typeface="Arial"/>
              </a:rPr>
              <a:t>LICENCES</a:t>
            </a:r>
            <a:endParaRPr lang="en-US" sz="1000"/>
          </a:p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Arial"/>
              </a:rPr>
              <a:t>Gaddy code MIT/data CC BY 4.0; SilentWear code Apache-2.0; checked Meta assets non-commercial; two BCI repos had no LICENSE.</a:t>
            </a:r>
            <a:endParaRPr lang="en-US" sz="1050"/>
          </a:p>
          <a:p>
            <a:pPr algn="l" marL="0" indent="0">
              <a:spcBef>
                <a:spcPts val="300"/>
              </a:spcBef>
              <a:spcAft>
                <a:spcPts val="120"/>
              </a:spcAft>
              <a:buNone/>
            </a:pPr>
            <a:r>
              <a:rPr lang="en-US" sz="1000" b="1" dirty="0">
                <a:solidFill>
                  <a:srgbClr val="5CD3BD"/>
                </a:solidFill>
                <a:latin typeface="Arial"/>
              </a:rPr>
              <a:t>BOUNDARY</a:t>
            </a:r>
            <a:endParaRPr lang="en-US" sz="1000"/>
          </a:p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Arial"/>
              </a:rPr>
              <a:t>No artifact was downloaded or reused.</a:t>
            </a:r>
            <a:endParaRPr lang="en-US" sz="1050"/>
          </a:p>
          <a:p>
            <a:pPr algn="l" marL="0" indent="0">
              <a:spcBef>
                <a:spcPts val="300"/>
              </a:spcBef>
              <a:spcAft>
                <a:spcPts val="120"/>
              </a:spcAft>
              <a:buNone/>
            </a:pPr>
            <a:r>
              <a:rPr lang="en-US" sz="1000" b="1" dirty="0">
                <a:solidFill>
                  <a:srgbClr val="5CD3BD"/>
                </a:solidFill>
                <a:latin typeface="Arial"/>
              </a:rPr>
              <a:t>SOURCE</a:t>
            </a:r>
            <a:endParaRPr lang="en-US" sz="1000"/>
          </a:p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Arial"/>
              </a:rPr>
              <a:t>research/references.md; research/evidence-matrix.md.</a:t>
            </a:r>
            <a:endParaRPr lang="en-US" sz="105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Slide 11 presenter 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Text Placeholder 1"/>
          <p:cNvSpPr txBox="1"/>
          <p:nvPr>
            <p:ph type="body" idx="1"/>
          </p:nvPr>
        </p:nvSpPr>
        <p:spPr>
          <a:xfrm>
            <a:off x="594360" y="594360"/>
            <a:ext cx="5669280" cy="7589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 marL="0" indent="0">
              <a:spcBef>
                <a:spcPts val="300"/>
              </a:spcBef>
              <a:spcAft>
                <a:spcPts val="120"/>
              </a:spcAft>
              <a:buNone/>
            </a:pPr>
            <a:r>
              <a:rPr lang="en-US" sz="1000" b="1" dirty="0">
                <a:solidFill>
                  <a:srgbClr val="5CD3BD"/>
                </a:solidFill>
                <a:latin typeface="Arial"/>
              </a:rPr>
              <a:t>TALK TRACK</a:t>
            </a:r>
            <a:endParaRPr lang="en-US" sz="1000"/>
          </a:p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Arial"/>
              </a:rPr>
              <a:t>Lead with operating path: AED 1M for the 90-day pilot; annual per-seat only if gates pass. Strategic IP/data ownership is negotiated upside.</a:t>
            </a:r>
            <a:endParaRPr lang="en-US" sz="1050"/>
          </a:p>
          <a:p>
            <a:pPr algn="l" marL="0" indent="0">
              <a:spcBef>
                <a:spcPts val="300"/>
              </a:spcBef>
              <a:spcAft>
                <a:spcPts val="120"/>
              </a:spcAft>
              <a:buNone/>
            </a:pPr>
            <a:r>
              <a:rPr lang="en-US" sz="1000" b="1" dirty="0">
                <a:solidFill>
                  <a:srgbClr val="5CD3BD"/>
                </a:solidFill>
                <a:latin typeface="Arial"/>
              </a:rPr>
              <a:t>BOUNDARY</a:t>
            </a:r>
            <a:endParaRPr lang="en-US" sz="1000"/>
          </a:p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Arial"/>
              </a:rPr>
              <a:t>Annual pricing, strategic funding, valuation and acquisition/exit amounts are TBD.</a:t>
            </a:r>
            <a:endParaRPr lang="en-US" sz="1050"/>
          </a:p>
          <a:p>
            <a:pPr algn="l" marL="0" indent="0">
              <a:spcBef>
                <a:spcPts val="300"/>
              </a:spcBef>
              <a:spcAft>
                <a:spcPts val="120"/>
              </a:spcAft>
              <a:buNone/>
            </a:pPr>
            <a:r>
              <a:rPr lang="en-US" sz="1000" b="1" dirty="0">
                <a:solidFill>
                  <a:srgbClr val="5CD3BD"/>
                </a:solidFill>
                <a:latin typeface="Arial"/>
              </a:rPr>
              <a:t>SOURCE</a:t>
            </a:r>
            <a:endParaRPr lang="en-US" sz="1000"/>
          </a:p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Arial"/>
              </a:rPr>
              <a:t>provenance/decisions.md.</a:t>
            </a:r>
            <a:endParaRPr lang="en-US" sz="105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Slide 12 presenter 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Text Placeholder 1"/>
          <p:cNvSpPr txBox="1"/>
          <p:nvPr>
            <p:ph type="body" idx="1"/>
          </p:nvPr>
        </p:nvSpPr>
        <p:spPr>
          <a:xfrm>
            <a:off x="594360" y="594360"/>
            <a:ext cx="5669280" cy="7589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 marL="0" indent="0">
              <a:spcBef>
                <a:spcPts val="300"/>
              </a:spcBef>
              <a:spcAft>
                <a:spcPts val="120"/>
              </a:spcAft>
              <a:buNone/>
            </a:pPr>
            <a:r>
              <a:rPr lang="en-US" sz="1000" b="1" dirty="0">
                <a:solidFill>
                  <a:srgbClr val="5CD3BD"/>
                </a:solidFill>
                <a:latin typeface="Arial"/>
              </a:rPr>
              <a:t>TALK TRACK</a:t>
            </a:r>
            <a:endParaRPr lang="en-US" sz="1000"/>
          </a:p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Arial"/>
              </a:rPr>
              <a:t>Ask for AED 1,000,000 and accountable workflow/data-governance owners. Work starts with discovery and approvals—not immediate biometric collection or enclosure design.</a:t>
            </a:r>
            <a:endParaRPr lang="en-US" sz="1050"/>
          </a:p>
          <a:p>
            <a:pPr algn="l" marL="0" indent="0">
              <a:spcBef>
                <a:spcPts val="300"/>
              </a:spcBef>
              <a:spcAft>
                <a:spcPts val="120"/>
              </a:spcAft>
              <a:buNone/>
            </a:pPr>
            <a:r>
              <a:rPr lang="en-US" sz="1000" b="1" dirty="0">
                <a:solidFill>
                  <a:srgbClr val="5CD3BD"/>
                </a:solidFill>
                <a:latin typeface="Arial"/>
              </a:rPr>
              <a:t>BOUNDARY</a:t>
            </a:r>
            <a:endParaRPr lang="en-US" sz="1000"/>
          </a:p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Arial"/>
              </a:rPr>
              <a:t>Fee applies only to fixed 90-day pilot; allocations and all later amounts remain TBD.</a:t>
            </a:r>
            <a:endParaRPr lang="en-US" sz="1050"/>
          </a:p>
          <a:p>
            <a:pPr algn="l" marL="0" indent="0">
              <a:spcBef>
                <a:spcPts val="300"/>
              </a:spcBef>
              <a:spcAft>
                <a:spcPts val="120"/>
              </a:spcAft>
              <a:buNone/>
            </a:pPr>
            <a:r>
              <a:rPr lang="en-US" sz="1000" b="1" dirty="0">
                <a:solidFill>
                  <a:srgbClr val="5CD3BD"/>
                </a:solidFill>
                <a:latin typeface="Arial"/>
              </a:rPr>
              <a:t>SOURCE</a:t>
            </a:r>
            <a:endParaRPr lang="en-US" sz="1000"/>
          </a:p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Arial"/>
              </a:rPr>
              <a:t>provenance/decisions.md.</a:t>
            </a:r>
            <a:endParaRPr lang="en-US" sz="105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Slide 13 presenter 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Text Placeholder 1"/>
          <p:cNvSpPr txBox="1"/>
          <p:nvPr>
            <p:ph type="body" idx="1"/>
          </p:nvPr>
        </p:nvSpPr>
        <p:spPr>
          <a:xfrm>
            <a:off x="594360" y="594360"/>
            <a:ext cx="5669280" cy="7589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/>
          <a:lstStyle/>
          <a:p>
            <a:pPr algn="l" marL="0" indent="0">
              <a:spcBef>
                <a:spcPts val="300"/>
              </a:spcBef>
              <a:spcAft>
                <a:spcPts val="120"/>
              </a:spcAft>
              <a:buNone/>
            </a:pPr>
            <a:r>
              <a:rPr lang="en-US" sz="1000" b="1" dirty="0">
                <a:solidFill>
                  <a:srgbClr val="5CD3BD"/>
                </a:solidFill>
                <a:latin typeface="Arial"/>
              </a:rPr>
              <a:t>TALK TRACK</a:t>
            </a:r>
            <a:endParaRPr lang="en-US" sz="1000"/>
          </a:p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Arial"/>
              </a:rPr>
              <a:t>A sponsor should know what stops the work. Thresholds are approved before collection by workflow, statistics, safety/ethics and governance owners.</a:t>
            </a:r>
            <a:endParaRPr lang="en-US" sz="1050"/>
          </a:p>
          <a:p>
            <a:pPr algn="l" marL="0" indent="0">
              <a:spcBef>
                <a:spcPts val="300"/>
              </a:spcBef>
              <a:spcAft>
                <a:spcPts val="120"/>
              </a:spcAft>
              <a:buNone/>
            </a:pPr>
            <a:r>
              <a:rPr lang="en-US" sz="1000" b="1" dirty="0">
                <a:solidFill>
                  <a:srgbClr val="5CD3BD"/>
                </a:solidFill>
                <a:latin typeface="Arial"/>
              </a:rPr>
              <a:t>BOUNDARY</a:t>
            </a:r>
            <a:endParaRPr lang="en-US" sz="1000"/>
          </a:p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Arial"/>
              </a:rPr>
              <a:t>A negative product result can be a successful evidence programme.</a:t>
            </a:r>
            <a:endParaRPr lang="en-US" sz="1050"/>
          </a:p>
          <a:p>
            <a:pPr algn="l" marL="0" indent="0">
              <a:spcBef>
                <a:spcPts val="300"/>
              </a:spcBef>
              <a:spcAft>
                <a:spcPts val="120"/>
              </a:spcAft>
              <a:buNone/>
            </a:pPr>
            <a:r>
              <a:rPr lang="en-US" sz="1000" b="1" dirty="0">
                <a:solidFill>
                  <a:srgbClr val="5CD3BD"/>
                </a:solidFill>
                <a:latin typeface="Arial"/>
              </a:rPr>
              <a:t>SOURCE</a:t>
            </a:r>
            <a:endParaRPr lang="en-US" sz="1000"/>
          </a:p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Arial"/>
              </a:rPr>
              <a:t>research/claim-ledger.md; research/evidence-matrix.md.</a:t>
            </a:r>
            <a:endParaRPr lang="en-US" sz="1050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 name="Quiet Channel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dk1" bg2="dk2" folHlink="folHlink" hlink="hlink" tx1="lt1" tx2="lt2"/>
  <p:sldLayoutIdLst>
    <p:sldLayoutId id="1" r:id="rId1"/>
  </p:sldLayoutIdLst>
  <p:txStyles>
    <p:titleStyle>
      <a:lvl1pPr algn="l">
        <a:defRPr sz="2800" b="1"/>
      </a:lvl1pPr>
    </p:titleStyle>
    <p:bodyStyle>
      <a:lvl1pPr marL="0" indent="0">
        <a:defRPr sz="1800"/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concept-research-rig.svg"/><Relationship Id="rId3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pipeline-gates.svg"/><Relationship Id="rId3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evidence-gap.svg"/><Relationship Id="rId3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privacy-flow.svg"/><Relationship Id="rId3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: A quiet path into the assistant you already run.">
    <p:bg>
      <p:bgPr>
        <a:solidFill>
          <a:srgbClr val="101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16"/>
          </a:solidFill>
          <a:ln w="12700">
            <a:solidFill>
              <a:srgbClr val="10181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Accent line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FF8B5C"/>
          </a:solidFill>
          <a:ln w="12700">
            <a:solidFill>
              <a:srgbClr val="FF8B5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" name="Brand"/>
          <p:cNvSpPr txBox="1"/>
          <p:nvPr/>
        </p:nvSpPr>
        <p:spPr>
          <a:xfrm>
            <a:off x="411480" y="182880"/>
            <a:ext cx="51206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dirty="0">
                <a:solidFill>
                  <a:srgbClr val="5CD3BD"/>
                </a:solidFill>
                <a:latin typeface="Arial"/>
              </a:rPr>
              <a:t>QUIET CHANNEL LAB</a:t>
            </a:r>
            <a:endParaRPr lang="en-US" sz="900"/>
          </a:p>
        </p:txBody>
      </p:sp>
      <p:sp>
        <p:nvSpPr>
          <p:cNvPr id="5" name="Slide number"/>
          <p:cNvSpPr txBox="1"/>
          <p:nvPr/>
        </p:nvSpPr>
        <p:spPr>
          <a:xfrm>
            <a:off x="10561320" y="182880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dirty="0">
                <a:solidFill>
                  <a:srgbClr val="B8B7AD"/>
                </a:solidFill>
                <a:latin typeface="Arial"/>
              </a:rPr>
              <a:t>01 / 13</a:t>
            </a:r>
            <a:endParaRPr lang="en-US" sz="850"/>
          </a:p>
        </p:txBody>
      </p:sp>
      <p:sp>
        <p:nvSpPr>
          <p:cNvPr id="6" name="Title"/>
          <p:cNvSpPr txBox="1"/>
          <p:nvPr/>
        </p:nvSpPr>
        <p:spPr>
          <a:xfrm>
            <a:off x="566928" y="694944"/>
            <a:ext cx="1097280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F4F0E6"/>
                </a:solidFill>
                <a:latin typeface="Arial"/>
              </a:rPr>
              <a:t>A quiet path into the assistant you already run.</a:t>
            </a:r>
            <a:endParaRPr lang="en-US" sz="3200"/>
          </a:p>
        </p:txBody>
      </p:sp>
      <p:sp>
        <p:nvSpPr>
          <p:cNvPr id="7" name="Subtitle"/>
          <p:cNvSpPr txBox="1"/>
          <p:nvPr/>
        </p:nvSpPr>
        <p:spPr>
          <a:xfrm>
            <a:off x="594360" y="1417320"/>
            <a:ext cx="1069848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80" dirty="0">
                <a:solidFill>
                  <a:srgbClr val="B8B7AD"/>
                </a:solidFill>
                <a:latin typeface="Arial"/>
              </a:rPr>
              <a:t>A confirmation-first silent command channel for e&amp; frontline work—proposed as research, not presented as mind reading.</a:t>
            </a:r>
            <a:endParaRPr lang="en-US" sz="1280"/>
          </a:p>
        </p:txBody>
      </p:sp>
      <p:pic>
        <p:nvPicPr>
          <p:cNvPr id="8" name="concept-research-rig.svg" descr="Original unvalidated surface EMG research rig concep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920240"/>
            <a:ext cx="4800600" cy="4069080"/>
          </a:xfrm>
          <a:prstGeom prst="rect">
            <a:avLst/>
          </a:prstGeom>
          <a:ln>
            <a:noFill/>
          </a:ln>
        </p:spPr>
      </p:pic>
      <p:sp>
        <p:nvSpPr>
          <p:cNvPr id="9" name="Card Interaction proof"/>
          <p:cNvSpPr/>
          <p:nvPr/>
        </p:nvSpPr>
        <p:spPr>
          <a:xfrm>
            <a:off x="594360" y="2212848"/>
            <a:ext cx="1828800" cy="1993392"/>
          </a:xfrm>
          <a:prstGeom prst="roundRect">
            <a:avLst/>
          </a:prstGeom>
          <a:solidFill>
            <a:srgbClr val="1C2925"/>
          </a:solidFill>
          <a:ln w="12700">
            <a:solidFill>
              <a:srgbClr val="53665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Card accent Interaction proof"/>
          <p:cNvSpPr/>
          <p:nvPr/>
        </p:nvSpPr>
        <p:spPr>
          <a:xfrm>
            <a:off x="594360" y="2212848"/>
            <a:ext cx="54864" cy="1993392"/>
          </a:xfrm>
          <a:prstGeom prst="rect">
            <a:avLst/>
          </a:prstGeom>
          <a:solidFill>
            <a:srgbClr val="5CD3BD"/>
          </a:solidFill>
          <a:ln w="12700">
            <a:solidFill>
              <a:srgbClr val="5CD3B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abel Interaction proof"/>
          <p:cNvSpPr txBox="1"/>
          <p:nvPr/>
        </p:nvSpPr>
        <p:spPr>
          <a:xfrm>
            <a:off x="758952" y="2350008"/>
            <a:ext cx="1517904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0" b="1" dirty="0">
                <a:solidFill>
                  <a:srgbClr val="5CD3BD"/>
                </a:solidFill>
                <a:latin typeface="Arial"/>
              </a:rPr>
              <a:t>TOMORROW</a:t>
            </a:r>
            <a:endParaRPr lang="en-US" sz="680"/>
          </a:p>
        </p:txBody>
      </p:sp>
      <p:sp>
        <p:nvSpPr>
          <p:cNvPr id="12" name="Card title Interaction proof"/>
          <p:cNvSpPr txBox="1"/>
          <p:nvPr/>
        </p:nvSpPr>
        <p:spPr>
          <a:xfrm>
            <a:off x="758952" y="2651760"/>
            <a:ext cx="1517904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dirty="0">
                <a:solidFill>
                  <a:srgbClr val="F4F0E6"/>
                </a:solidFill>
                <a:latin typeface="Arial"/>
              </a:rPr>
              <a:t>Interaction proof</a:t>
            </a:r>
            <a:endParaRPr lang="en-US" sz="1250"/>
          </a:p>
        </p:txBody>
      </p:sp>
      <p:sp>
        <p:nvSpPr>
          <p:cNvPr id="13" name="Card body Interaction proof"/>
          <p:cNvSpPr txBox="1"/>
          <p:nvPr/>
        </p:nvSpPr>
        <p:spPr>
          <a:xfrm>
            <a:off x="758952" y="3063240"/>
            <a:ext cx="1517904" cy="10607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B8B7AD"/>
                </a:solidFill>
                <a:latin typeface="Arial"/>
              </a:rPr>
              <a:t>Offline concept / simulated pipeline. Authored traces and failure behavior.</a:t>
            </a:r>
            <a:endParaRPr lang="en-US" sz="900"/>
          </a:p>
        </p:txBody>
      </p:sp>
      <p:sp>
        <p:nvSpPr>
          <p:cNvPr id="14" name="Card Fixed grammar"/>
          <p:cNvSpPr/>
          <p:nvPr/>
        </p:nvSpPr>
        <p:spPr>
          <a:xfrm>
            <a:off x="2578608" y="2212848"/>
            <a:ext cx="1828800" cy="1993392"/>
          </a:xfrm>
          <a:prstGeom prst="roundRect">
            <a:avLst/>
          </a:prstGeom>
          <a:solidFill>
            <a:srgbClr val="1C2925"/>
          </a:solidFill>
          <a:ln w="12700">
            <a:solidFill>
              <a:srgbClr val="53665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Card accent Fixed grammar"/>
          <p:cNvSpPr/>
          <p:nvPr/>
        </p:nvSpPr>
        <p:spPr>
          <a:xfrm>
            <a:off x="2578608" y="2212848"/>
            <a:ext cx="54864" cy="1993392"/>
          </a:xfrm>
          <a:prstGeom prst="rect">
            <a:avLst/>
          </a:prstGeom>
          <a:solidFill>
            <a:srgbClr val="DDEB79"/>
          </a:solidFill>
          <a:ln w="12700">
            <a:solidFill>
              <a:srgbClr val="DDEB7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" name="Label Fixed grammar"/>
          <p:cNvSpPr txBox="1"/>
          <p:nvPr/>
        </p:nvSpPr>
        <p:spPr>
          <a:xfrm>
            <a:off x="2743200" y="2350008"/>
            <a:ext cx="1517904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0" b="1" dirty="0">
                <a:solidFill>
                  <a:srgbClr val="DDEB79"/>
                </a:solidFill>
                <a:latin typeface="Arial"/>
              </a:rPr>
              <a:t>NEXT PROOF</a:t>
            </a:r>
            <a:endParaRPr lang="en-US" sz="680"/>
          </a:p>
        </p:txBody>
      </p:sp>
      <p:sp>
        <p:nvSpPr>
          <p:cNvPr id="17" name="Card title Fixed grammar"/>
          <p:cNvSpPr txBox="1"/>
          <p:nvPr/>
        </p:nvSpPr>
        <p:spPr>
          <a:xfrm>
            <a:off x="2743200" y="2651760"/>
            <a:ext cx="1517904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dirty="0">
                <a:solidFill>
                  <a:srgbClr val="F4F0E6"/>
                </a:solidFill>
                <a:latin typeface="Arial"/>
              </a:rPr>
              <a:t>Fixed grammar</a:t>
            </a:r>
            <a:endParaRPr lang="en-US" sz="1250"/>
          </a:p>
        </p:txBody>
      </p:sp>
      <p:sp>
        <p:nvSpPr>
          <p:cNvPr id="18" name="Card body Fixed grammar"/>
          <p:cNvSpPr txBox="1"/>
          <p:nvPr/>
        </p:nvSpPr>
        <p:spPr>
          <a:xfrm>
            <a:off x="2743200" y="3063240"/>
            <a:ext cx="1517904" cy="10607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B8B7AD"/>
                </a:solidFill>
                <a:latin typeface="Arial"/>
              </a:rPr>
              <a:t>Surface-EMG research rig, one workflow, pre-agreed gates.</a:t>
            </a:r>
            <a:endParaRPr lang="en-US" sz="900"/>
          </a:p>
        </p:txBody>
      </p:sp>
      <p:sp>
        <p:nvSpPr>
          <p:cNvPr id="19" name="Card No conversation"/>
          <p:cNvSpPr/>
          <p:nvPr/>
        </p:nvSpPr>
        <p:spPr>
          <a:xfrm>
            <a:off x="4562856" y="2212848"/>
            <a:ext cx="1828800" cy="1993392"/>
          </a:xfrm>
          <a:prstGeom prst="roundRect">
            <a:avLst/>
          </a:prstGeom>
          <a:solidFill>
            <a:srgbClr val="2A211E"/>
          </a:solidFill>
          <a:ln w="12700">
            <a:solidFill>
              <a:srgbClr val="53665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" name="Card accent No conversation"/>
          <p:cNvSpPr/>
          <p:nvPr/>
        </p:nvSpPr>
        <p:spPr>
          <a:xfrm>
            <a:off x="4562856" y="2212848"/>
            <a:ext cx="54864" cy="1993392"/>
          </a:xfrm>
          <a:prstGeom prst="rect">
            <a:avLst/>
          </a:prstGeom>
          <a:solidFill>
            <a:srgbClr val="FF8B5C"/>
          </a:solidFill>
          <a:ln w="12700">
            <a:solidFill>
              <a:srgbClr val="FF8B5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Label No conversation"/>
          <p:cNvSpPr txBox="1"/>
          <p:nvPr/>
        </p:nvSpPr>
        <p:spPr>
          <a:xfrm>
            <a:off x="4727448" y="2350008"/>
            <a:ext cx="1517904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0" b="1" dirty="0">
                <a:solidFill>
                  <a:srgbClr val="FF8B5C"/>
                </a:solidFill>
                <a:latin typeface="Arial"/>
              </a:rPr>
              <a:t>NOT CLAIMED</a:t>
            </a:r>
            <a:endParaRPr lang="en-US" sz="680"/>
          </a:p>
        </p:txBody>
      </p:sp>
      <p:sp>
        <p:nvSpPr>
          <p:cNvPr id="22" name="Card title No conversation"/>
          <p:cNvSpPr txBox="1"/>
          <p:nvPr/>
        </p:nvSpPr>
        <p:spPr>
          <a:xfrm>
            <a:off x="4727448" y="2651760"/>
            <a:ext cx="1517904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dirty="0">
                <a:solidFill>
                  <a:srgbClr val="F4F0E6"/>
                </a:solidFill>
                <a:latin typeface="Arial"/>
              </a:rPr>
              <a:t>No conversation</a:t>
            </a:r>
            <a:endParaRPr lang="en-US" sz="1250"/>
          </a:p>
        </p:txBody>
      </p:sp>
      <p:sp>
        <p:nvSpPr>
          <p:cNvPr id="23" name="Card body No conversation"/>
          <p:cNvSpPr txBox="1"/>
          <p:nvPr/>
        </p:nvSpPr>
        <p:spPr>
          <a:xfrm>
            <a:off x="4727448" y="3063240"/>
            <a:ext cx="1517904" cy="10607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B8B7AD"/>
                </a:solidFill>
                <a:latin typeface="Arial"/>
              </a:rPr>
              <a:t>No wearable, model, project accuracy, AAC indication or deployment.</a:t>
            </a:r>
            <a:endParaRPr lang="en-US" sz="900"/>
          </a:p>
        </p:txBody>
      </p:sp>
      <p:sp>
        <p:nvSpPr>
          <p:cNvPr id="24" name="Thesis"/>
          <p:cNvSpPr txBox="1"/>
          <p:nvPr/>
        </p:nvSpPr>
        <p:spPr>
          <a:xfrm>
            <a:off x="621792" y="4617720"/>
            <a:ext cx="566928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20" b="1" dirty="0">
                <a:solidFill>
                  <a:srgbClr val="FF8B5C"/>
                </a:solidFill>
                <a:latin typeface="Arial"/>
              </a:rPr>
              <a:t>PRIVATE INPUT, WITHOUT PRETENDING THE RESEARCH IS DONE</a:t>
            </a:r>
            <a:endParaRPr lang="en-US" sz="1220"/>
          </a:p>
        </p:txBody>
      </p:sp>
      <p:sp>
        <p:nvSpPr>
          <p:cNvPr id="25" name="Source footer"/>
          <p:cNvSpPr txBox="1"/>
          <p:nvPr/>
        </p:nvSpPr>
        <p:spPr>
          <a:xfrm>
            <a:off x="566928" y="6510528"/>
            <a:ext cx="109728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0" dirty="0">
                <a:solidFill>
                  <a:srgbClr val="858B85"/>
                </a:solidFill>
                <a:latin typeface="Arial"/>
              </a:rPr>
              <a:t>Claim boundary: C01–C06, C21–C30. Original concept schematic; no device exists.</a:t>
            </a:r>
            <a:endParaRPr lang="en-US" sz="61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: Voice can be costly. Touch can break the moment.">
    <p:bg>
      <p:bgPr>
        <a:solidFill>
          <a:srgbClr val="101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16"/>
          </a:solidFill>
          <a:ln w="12700">
            <a:solidFill>
              <a:srgbClr val="10181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Accent line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FF8B5C"/>
          </a:solidFill>
          <a:ln w="12700">
            <a:solidFill>
              <a:srgbClr val="FF8B5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" name="Brand"/>
          <p:cNvSpPr txBox="1"/>
          <p:nvPr/>
        </p:nvSpPr>
        <p:spPr>
          <a:xfrm>
            <a:off x="411480" y="182880"/>
            <a:ext cx="51206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dirty="0">
                <a:solidFill>
                  <a:srgbClr val="5CD3BD"/>
                </a:solidFill>
                <a:latin typeface="Arial"/>
              </a:rPr>
              <a:t>QUIET CHANNEL LAB</a:t>
            </a:r>
            <a:endParaRPr lang="en-US" sz="900"/>
          </a:p>
        </p:txBody>
      </p:sp>
      <p:sp>
        <p:nvSpPr>
          <p:cNvPr id="5" name="Slide number"/>
          <p:cNvSpPr txBox="1"/>
          <p:nvPr/>
        </p:nvSpPr>
        <p:spPr>
          <a:xfrm>
            <a:off x="10561320" y="182880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dirty="0">
                <a:solidFill>
                  <a:srgbClr val="B8B7AD"/>
                </a:solidFill>
                <a:latin typeface="Arial"/>
              </a:rPr>
              <a:t>02 / 13</a:t>
            </a:r>
            <a:endParaRPr lang="en-US" sz="850"/>
          </a:p>
        </p:txBody>
      </p:sp>
      <p:sp>
        <p:nvSpPr>
          <p:cNvPr id="6" name="Title"/>
          <p:cNvSpPr txBox="1"/>
          <p:nvPr/>
        </p:nvSpPr>
        <p:spPr>
          <a:xfrm>
            <a:off x="566928" y="694944"/>
            <a:ext cx="1097280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dirty="0">
                <a:solidFill>
                  <a:srgbClr val="F4F0E6"/>
                </a:solidFill>
                <a:latin typeface="Arial"/>
              </a:rPr>
              <a:t>Voice can be costly. Touch can break the moment.</a:t>
            </a:r>
            <a:endParaRPr lang="en-US" sz="2850"/>
          </a:p>
        </p:txBody>
      </p:sp>
      <p:sp>
        <p:nvSpPr>
          <p:cNvPr id="7" name="Subtitle"/>
          <p:cNvSpPr txBox="1"/>
          <p:nvPr/>
        </p:nvSpPr>
        <p:spPr>
          <a:xfrm>
            <a:off x="594360" y="1417320"/>
            <a:ext cx="1069848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80" dirty="0">
                <a:solidFill>
                  <a:srgbClr val="B8B7AD"/>
                </a:solidFill>
                <a:latin typeface="Arial"/>
              </a:rPr>
              <a:t>Test whether a deliberate private-input path helps when an advisor or technician needs information without losing eyes, hands, or the customer conversation.</a:t>
            </a:r>
            <a:endParaRPr lang="en-US" sz="1280"/>
          </a:p>
        </p:txBody>
      </p:sp>
      <p:sp>
        <p:nvSpPr>
          <p:cNvPr id="8" name="Card Frontline moments"/>
          <p:cNvSpPr/>
          <p:nvPr/>
        </p:nvSpPr>
        <p:spPr>
          <a:xfrm>
            <a:off x="594360" y="2148840"/>
            <a:ext cx="3401568" cy="1965960"/>
          </a:xfrm>
          <a:prstGeom prst="roundRect">
            <a:avLst/>
          </a:prstGeom>
          <a:solidFill>
            <a:srgbClr val="1C2925"/>
          </a:solidFill>
          <a:ln w="12700">
            <a:solidFill>
              <a:srgbClr val="53665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Card accent Frontline moments"/>
          <p:cNvSpPr/>
          <p:nvPr/>
        </p:nvSpPr>
        <p:spPr>
          <a:xfrm>
            <a:off x="594360" y="2148840"/>
            <a:ext cx="54864" cy="1965960"/>
          </a:xfrm>
          <a:prstGeom prst="rect">
            <a:avLst/>
          </a:prstGeom>
          <a:solidFill>
            <a:srgbClr val="5CD3BD"/>
          </a:solidFill>
          <a:ln w="12700">
            <a:solidFill>
              <a:srgbClr val="5CD3B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Label Frontline moments"/>
          <p:cNvSpPr txBox="1"/>
          <p:nvPr/>
        </p:nvSpPr>
        <p:spPr>
          <a:xfrm>
            <a:off x="758952" y="2286000"/>
            <a:ext cx="309067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0" b="1" dirty="0">
                <a:solidFill>
                  <a:srgbClr val="5CD3BD"/>
                </a:solidFill>
                <a:latin typeface="Arial"/>
              </a:rPr>
              <a:t>SCENES TO TEST</a:t>
            </a:r>
            <a:endParaRPr lang="en-US" sz="680"/>
          </a:p>
        </p:txBody>
      </p:sp>
      <p:sp>
        <p:nvSpPr>
          <p:cNvPr id="11" name="Card title Frontline moments"/>
          <p:cNvSpPr txBox="1"/>
          <p:nvPr/>
        </p:nvSpPr>
        <p:spPr>
          <a:xfrm>
            <a:off x="758952" y="2587752"/>
            <a:ext cx="3090672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dirty="0">
                <a:solidFill>
                  <a:srgbClr val="F4F0E6"/>
                </a:solidFill>
                <a:latin typeface="Arial"/>
              </a:rPr>
              <a:t>Frontline moments</a:t>
            </a:r>
            <a:endParaRPr lang="en-US" sz="1250"/>
          </a:p>
        </p:txBody>
      </p:sp>
      <p:sp>
        <p:nvSpPr>
          <p:cNvPr id="12" name="Card body Frontline moments"/>
          <p:cNvSpPr txBox="1"/>
          <p:nvPr/>
        </p:nvSpPr>
        <p:spPr>
          <a:xfrm>
            <a:off x="758952" y="2999232"/>
            <a:ext cx="3090672" cy="10332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B8B7AD"/>
                </a:solidFill>
                <a:latin typeface="Arial"/>
              </a:rPr>
              <a:t>Busy retail interaction · customer-site work · private lookup in a meeting.</a:t>
            </a:r>
            <a:endParaRPr lang="en-US" sz="900"/>
          </a:p>
        </p:txBody>
      </p:sp>
      <p:sp>
        <p:nvSpPr>
          <p:cNvPr id="13" name="Card The baseline can win"/>
          <p:cNvSpPr/>
          <p:nvPr/>
        </p:nvSpPr>
        <p:spPr>
          <a:xfrm>
            <a:off x="4160520" y="2148840"/>
            <a:ext cx="3401568" cy="1965960"/>
          </a:xfrm>
          <a:prstGeom prst="roundRect">
            <a:avLst/>
          </a:prstGeom>
          <a:solidFill>
            <a:srgbClr val="1C2925"/>
          </a:solidFill>
          <a:ln w="12700">
            <a:solidFill>
              <a:srgbClr val="53665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Card accent The baseline can win"/>
          <p:cNvSpPr/>
          <p:nvPr/>
        </p:nvSpPr>
        <p:spPr>
          <a:xfrm>
            <a:off x="4160520" y="2148840"/>
            <a:ext cx="54864" cy="1965960"/>
          </a:xfrm>
          <a:prstGeom prst="rect">
            <a:avLst/>
          </a:prstGeom>
          <a:solidFill>
            <a:srgbClr val="DDEB79"/>
          </a:solidFill>
          <a:ln w="12700">
            <a:solidFill>
              <a:srgbClr val="DDEB7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Label The baseline can win"/>
          <p:cNvSpPr txBox="1"/>
          <p:nvPr/>
        </p:nvSpPr>
        <p:spPr>
          <a:xfrm>
            <a:off x="4325112" y="2286000"/>
            <a:ext cx="309067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0" b="1" dirty="0">
                <a:solidFill>
                  <a:srgbClr val="DDEB79"/>
                </a:solidFill>
                <a:latin typeface="Arial"/>
              </a:rPr>
              <a:t>CURRENT ALTERNATIVES</a:t>
            </a:r>
            <a:endParaRPr lang="en-US" sz="680"/>
          </a:p>
        </p:txBody>
      </p:sp>
      <p:sp>
        <p:nvSpPr>
          <p:cNvPr id="16" name="Card title The baseline can win"/>
          <p:cNvSpPr txBox="1"/>
          <p:nvPr/>
        </p:nvSpPr>
        <p:spPr>
          <a:xfrm>
            <a:off x="4325112" y="2587752"/>
            <a:ext cx="3090672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dirty="0">
                <a:solidFill>
                  <a:srgbClr val="F4F0E6"/>
                </a:solidFill>
                <a:latin typeface="Arial"/>
              </a:rPr>
              <a:t>The baseline can win</a:t>
            </a:r>
            <a:endParaRPr lang="en-US" sz="1250"/>
          </a:p>
        </p:txBody>
      </p:sp>
      <p:sp>
        <p:nvSpPr>
          <p:cNvPr id="17" name="Card body The baseline can win"/>
          <p:cNvSpPr txBox="1"/>
          <p:nvPr/>
        </p:nvSpPr>
        <p:spPr>
          <a:xfrm>
            <a:off x="4325112" y="2999232"/>
            <a:ext cx="3090672" cy="10332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B8B7AD"/>
                </a:solidFill>
                <a:latin typeface="Arial"/>
              </a:rPr>
              <a:t>Touch · keyboard · push-to-talk · ordinary voice · earpiece · whisper/contact mic · colleague · no system.</a:t>
            </a:r>
            <a:endParaRPr lang="en-US" sz="900"/>
          </a:p>
        </p:txBody>
      </p:sp>
      <p:sp>
        <p:nvSpPr>
          <p:cNvPr id="18" name="Card Whole-task value"/>
          <p:cNvSpPr/>
          <p:nvPr/>
        </p:nvSpPr>
        <p:spPr>
          <a:xfrm>
            <a:off x="7726680" y="2148840"/>
            <a:ext cx="3401568" cy="1965960"/>
          </a:xfrm>
          <a:prstGeom prst="roundRect">
            <a:avLst/>
          </a:prstGeom>
          <a:solidFill>
            <a:srgbClr val="2A211E"/>
          </a:solidFill>
          <a:ln w="12700">
            <a:solidFill>
              <a:srgbClr val="53665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Card accent Whole-task value"/>
          <p:cNvSpPr/>
          <p:nvPr/>
        </p:nvSpPr>
        <p:spPr>
          <a:xfrm>
            <a:off x="7726680" y="2148840"/>
            <a:ext cx="54864" cy="1965960"/>
          </a:xfrm>
          <a:prstGeom prst="rect">
            <a:avLst/>
          </a:prstGeom>
          <a:solidFill>
            <a:srgbClr val="FF8B5C"/>
          </a:solidFill>
          <a:ln w="12700">
            <a:solidFill>
              <a:srgbClr val="FF8B5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" name="Label Whole-task value"/>
          <p:cNvSpPr txBox="1"/>
          <p:nvPr/>
        </p:nvSpPr>
        <p:spPr>
          <a:xfrm>
            <a:off x="7891272" y="2286000"/>
            <a:ext cx="309067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0" b="1" dirty="0">
                <a:solidFill>
                  <a:srgbClr val="FF8B5C"/>
                </a:solidFill>
                <a:latin typeface="Arial"/>
              </a:rPr>
              <a:t>WIN BAR</a:t>
            </a:r>
            <a:endParaRPr lang="en-US" sz="680"/>
          </a:p>
        </p:txBody>
      </p:sp>
      <p:sp>
        <p:nvSpPr>
          <p:cNvPr id="21" name="Card title Whole-task value"/>
          <p:cNvSpPr txBox="1"/>
          <p:nvPr/>
        </p:nvSpPr>
        <p:spPr>
          <a:xfrm>
            <a:off x="7891272" y="2587752"/>
            <a:ext cx="3090672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dirty="0">
                <a:solidFill>
                  <a:srgbClr val="F4F0E6"/>
                </a:solidFill>
                <a:latin typeface="Arial"/>
              </a:rPr>
              <a:t>Whole-task value</a:t>
            </a:r>
            <a:endParaRPr lang="en-US" sz="1250"/>
          </a:p>
        </p:txBody>
      </p:sp>
      <p:sp>
        <p:nvSpPr>
          <p:cNvPr id="22" name="Card body Whole-task value"/>
          <p:cNvSpPr txBox="1"/>
          <p:nvPr/>
        </p:nvSpPr>
        <p:spPr>
          <a:xfrm>
            <a:off x="7891272" y="2999232"/>
            <a:ext cx="3090672" cy="10332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B8B7AD"/>
                </a:solidFill>
                <a:latin typeface="Arial"/>
              </a:rPr>
              <a:t>Improve setup + completion + correction + fallback + user preference—not only inference.</a:t>
            </a:r>
            <a:endParaRPr lang="en-US" sz="900"/>
          </a:p>
        </p:txBody>
      </p:sp>
      <p:sp>
        <p:nvSpPr>
          <p:cNvPr id="23" name="Discovery gap"/>
          <p:cNvSpPr/>
          <p:nvPr/>
        </p:nvSpPr>
        <p:spPr>
          <a:xfrm>
            <a:off x="594360" y="4434840"/>
            <a:ext cx="10533888" cy="1051560"/>
          </a:xfrm>
          <a:prstGeom prst="roundRect">
            <a:avLst/>
          </a:prstGeom>
          <a:solidFill>
            <a:srgbClr val="2A211E"/>
          </a:solidFill>
          <a:ln w="12700">
            <a:solidFill>
              <a:srgbClr val="FF8B5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" name="Discovery gap text"/>
          <p:cNvSpPr txBox="1"/>
          <p:nvPr/>
        </p:nvSpPr>
        <p:spPr>
          <a:xfrm>
            <a:off x="841248" y="4645152"/>
            <a:ext cx="100584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F4F0E6"/>
                </a:solidFill>
                <a:latin typeface="Arial"/>
              </a:rPr>
              <a:t>DISCOVERY GAP  No interviews, observed frequency, baseline task result, user preference, buyer or willingness-to-pay evidence has been supplied.</a:t>
            </a:r>
            <a:endParaRPr lang="en-US" sz="1050"/>
          </a:p>
        </p:txBody>
      </p:sp>
      <p:sp>
        <p:nvSpPr>
          <p:cNvPr id="25" name="Source footer"/>
          <p:cNvSpPr txBox="1"/>
          <p:nvPr/>
        </p:nvSpPr>
        <p:spPr>
          <a:xfrm>
            <a:off x="566928" y="6510528"/>
            <a:ext cx="109728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0" dirty="0">
                <a:solidFill>
                  <a:srgbClr val="858B85"/>
                </a:solidFill>
                <a:latin typeface="Arial"/>
              </a:rPr>
              <a:t>Commercial problem hypothesis—not validated customer evidence. C06, C24, C29.</a:t>
            </a:r>
            <a:endParaRPr lang="en-US" sz="61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3: Three category signals. None proves this product.">
    <p:bg>
      <p:bgPr>
        <a:solidFill>
          <a:srgbClr val="101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16"/>
          </a:solidFill>
          <a:ln w="12700">
            <a:solidFill>
              <a:srgbClr val="10181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Accent line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FF8B5C"/>
          </a:solidFill>
          <a:ln w="12700">
            <a:solidFill>
              <a:srgbClr val="FF8B5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" name="Brand"/>
          <p:cNvSpPr txBox="1"/>
          <p:nvPr/>
        </p:nvSpPr>
        <p:spPr>
          <a:xfrm>
            <a:off x="411480" y="182880"/>
            <a:ext cx="51206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dirty="0">
                <a:solidFill>
                  <a:srgbClr val="5CD3BD"/>
                </a:solidFill>
                <a:latin typeface="Arial"/>
              </a:rPr>
              <a:t>QUIET CHANNEL LAB</a:t>
            </a:r>
            <a:endParaRPr lang="en-US" sz="900"/>
          </a:p>
        </p:txBody>
      </p:sp>
      <p:sp>
        <p:nvSpPr>
          <p:cNvPr id="5" name="Slide number"/>
          <p:cNvSpPr txBox="1"/>
          <p:nvPr/>
        </p:nvSpPr>
        <p:spPr>
          <a:xfrm>
            <a:off x="10561320" y="182880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dirty="0">
                <a:solidFill>
                  <a:srgbClr val="B8B7AD"/>
                </a:solidFill>
                <a:latin typeface="Arial"/>
              </a:rPr>
              <a:t>03 / 13</a:t>
            </a:r>
            <a:endParaRPr lang="en-US" sz="850"/>
          </a:p>
        </p:txBody>
      </p:sp>
      <p:sp>
        <p:nvSpPr>
          <p:cNvPr id="6" name="Title"/>
          <p:cNvSpPr txBox="1"/>
          <p:nvPr/>
        </p:nvSpPr>
        <p:spPr>
          <a:xfrm>
            <a:off x="566928" y="694944"/>
            <a:ext cx="1097280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dirty="0">
                <a:solidFill>
                  <a:srgbClr val="F4F0E6"/>
                </a:solidFill>
                <a:latin typeface="Arial"/>
              </a:rPr>
              <a:t>Three category signals. None proves this product.</a:t>
            </a:r>
            <a:endParaRPr lang="en-US" sz="2850"/>
          </a:p>
        </p:txBody>
      </p:sp>
      <p:sp>
        <p:nvSpPr>
          <p:cNvPr id="7" name="Subtitle"/>
          <p:cNvSpPr txBox="1"/>
          <p:nvPr/>
        </p:nvSpPr>
        <p:spPr>
          <a:xfrm>
            <a:off x="594360" y="1417320"/>
            <a:ext cx="1069848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80" dirty="0">
                <a:solidFill>
                  <a:srgbClr val="B8B7AD"/>
                </a:solidFill>
                <a:latin typeface="Arial"/>
              </a:rPr>
              <a:t>Sensors are entering wearables. Speech transfer across sessions is still research. That gap is both the opportunity and the risk.</a:t>
            </a:r>
            <a:endParaRPr lang="en-US" sz="1280"/>
          </a:p>
        </p:txBody>
      </p:sp>
      <p:sp>
        <p:nvSpPr>
          <p:cNvPr id="8" name="Card SilentWear"/>
          <p:cNvSpPr/>
          <p:nvPr/>
        </p:nvSpPr>
        <p:spPr>
          <a:xfrm>
            <a:off x="594360" y="2194560"/>
            <a:ext cx="3401568" cy="2468880"/>
          </a:xfrm>
          <a:prstGeom prst="roundRect">
            <a:avLst/>
          </a:prstGeom>
          <a:solidFill>
            <a:srgbClr val="1C2925"/>
          </a:solidFill>
          <a:ln w="12700">
            <a:solidFill>
              <a:srgbClr val="53665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Card accent SilentWear"/>
          <p:cNvSpPr/>
          <p:nvPr/>
        </p:nvSpPr>
        <p:spPr>
          <a:xfrm>
            <a:off x="594360" y="2194560"/>
            <a:ext cx="54864" cy="2468880"/>
          </a:xfrm>
          <a:prstGeom prst="rect">
            <a:avLst/>
          </a:prstGeom>
          <a:solidFill>
            <a:srgbClr val="5CD3BD"/>
          </a:solidFill>
          <a:ln w="12700">
            <a:solidFill>
              <a:srgbClr val="5CD3B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Label SilentWear"/>
          <p:cNvSpPr txBox="1"/>
          <p:nvPr/>
        </p:nvSpPr>
        <p:spPr>
          <a:xfrm>
            <a:off x="758952" y="2331720"/>
            <a:ext cx="309067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0" b="1" dirty="0">
                <a:solidFill>
                  <a:srgbClr val="5CD3BD"/>
                </a:solidFill>
                <a:latin typeface="Arial"/>
              </a:rPr>
              <a:t>PREPRINT / WEARABLE RESEARCH</a:t>
            </a:r>
            <a:endParaRPr lang="en-US" sz="680"/>
          </a:p>
        </p:txBody>
      </p:sp>
      <p:sp>
        <p:nvSpPr>
          <p:cNvPr id="11" name="Card title SilentWear"/>
          <p:cNvSpPr txBox="1"/>
          <p:nvPr/>
        </p:nvSpPr>
        <p:spPr>
          <a:xfrm>
            <a:off x="758952" y="2633472"/>
            <a:ext cx="3090672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dirty="0">
                <a:solidFill>
                  <a:srgbClr val="F4F0E6"/>
                </a:solidFill>
                <a:latin typeface="Arial"/>
              </a:rPr>
              <a:t>SilentWear</a:t>
            </a:r>
            <a:endParaRPr lang="en-US" sz="1250"/>
          </a:p>
        </p:txBody>
      </p:sp>
      <p:sp>
        <p:nvSpPr>
          <p:cNvPr id="12" name="Card body SilentWear"/>
          <p:cNvSpPr txBox="1"/>
          <p:nvPr/>
        </p:nvSpPr>
        <p:spPr>
          <a:xfrm>
            <a:off x="758952" y="3044952"/>
            <a:ext cx="3090672" cy="1536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B8B7AD"/>
                </a:solidFill>
                <a:latin typeface="Arial"/>
              </a:rPr>
              <a:t>Four participants · 14 neck channels · 8 commands plus rest · on-MCU classification. Held-out-session gap remains material.</a:t>
            </a:r>
            <a:endParaRPr lang="en-US" sz="900"/>
          </a:p>
        </p:txBody>
      </p:sp>
      <p:sp>
        <p:nvSpPr>
          <p:cNvPr id="13" name="Card Meta Neural Band"/>
          <p:cNvSpPr/>
          <p:nvPr/>
        </p:nvSpPr>
        <p:spPr>
          <a:xfrm>
            <a:off x="4160520" y="2194560"/>
            <a:ext cx="3401568" cy="2468880"/>
          </a:xfrm>
          <a:prstGeom prst="roundRect">
            <a:avLst/>
          </a:prstGeom>
          <a:solidFill>
            <a:srgbClr val="1C2925"/>
          </a:solidFill>
          <a:ln w="12700">
            <a:solidFill>
              <a:srgbClr val="53665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Card accent Meta Neural Band"/>
          <p:cNvSpPr/>
          <p:nvPr/>
        </p:nvSpPr>
        <p:spPr>
          <a:xfrm>
            <a:off x="4160520" y="2194560"/>
            <a:ext cx="54864" cy="2468880"/>
          </a:xfrm>
          <a:prstGeom prst="rect">
            <a:avLst/>
          </a:prstGeom>
          <a:solidFill>
            <a:srgbClr val="DDEB79"/>
          </a:solidFill>
          <a:ln w="12700">
            <a:solidFill>
              <a:srgbClr val="DDEB7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Label Meta Neural Band"/>
          <p:cNvSpPr txBox="1"/>
          <p:nvPr/>
        </p:nvSpPr>
        <p:spPr>
          <a:xfrm>
            <a:off x="4325112" y="2331720"/>
            <a:ext cx="309067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0" b="1" dirty="0">
                <a:solidFill>
                  <a:srgbClr val="DDEB79"/>
                </a:solidFill>
                <a:latin typeface="Arial"/>
              </a:rPr>
              <a:t>COMPANY / SHIPPING GESTURE INPUT</a:t>
            </a:r>
            <a:endParaRPr lang="en-US" sz="680"/>
          </a:p>
        </p:txBody>
      </p:sp>
      <p:sp>
        <p:nvSpPr>
          <p:cNvPr id="16" name="Card title Meta Neural Band"/>
          <p:cNvSpPr txBox="1"/>
          <p:nvPr/>
        </p:nvSpPr>
        <p:spPr>
          <a:xfrm>
            <a:off x="4325112" y="2633472"/>
            <a:ext cx="3090672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dirty="0">
                <a:solidFill>
                  <a:srgbClr val="F4F0E6"/>
                </a:solidFill>
                <a:latin typeface="Arial"/>
              </a:rPr>
              <a:t>Meta Neural Band</a:t>
            </a:r>
            <a:endParaRPr lang="en-US" sz="1250"/>
          </a:p>
        </p:txBody>
      </p:sp>
      <p:sp>
        <p:nvSpPr>
          <p:cNvPr id="17" name="Card body Meta Neural Band"/>
          <p:cNvSpPr txBox="1"/>
          <p:nvPr/>
        </p:nvSpPr>
        <p:spPr>
          <a:xfrm>
            <a:off x="4325112" y="3044952"/>
            <a:ext cx="3090672" cy="1536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B8B7AD"/>
                </a:solidFill>
                <a:latin typeface="Arial"/>
              </a:rPr>
              <a:t>US$799 bundle available September 2025. Wrist gestures and handwriting—not speech from muscle.</a:t>
            </a:r>
            <a:endParaRPr lang="en-US" sz="900"/>
          </a:p>
        </p:txBody>
      </p:sp>
      <p:sp>
        <p:nvSpPr>
          <p:cNvPr id="18" name="Card Q Cue / Apple"/>
          <p:cNvSpPr/>
          <p:nvPr/>
        </p:nvSpPr>
        <p:spPr>
          <a:xfrm>
            <a:off x="7726680" y="2194560"/>
            <a:ext cx="3401568" cy="2468880"/>
          </a:xfrm>
          <a:prstGeom prst="roundRect">
            <a:avLst/>
          </a:prstGeom>
          <a:solidFill>
            <a:srgbClr val="2A211E"/>
          </a:solidFill>
          <a:ln w="12700">
            <a:solidFill>
              <a:srgbClr val="53665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Card accent Q Cue / Apple"/>
          <p:cNvSpPr/>
          <p:nvPr/>
        </p:nvSpPr>
        <p:spPr>
          <a:xfrm>
            <a:off x="7726680" y="2194560"/>
            <a:ext cx="54864" cy="2468880"/>
          </a:xfrm>
          <a:prstGeom prst="rect">
            <a:avLst/>
          </a:prstGeom>
          <a:solidFill>
            <a:srgbClr val="FF8B5C"/>
          </a:solidFill>
          <a:ln w="12700">
            <a:solidFill>
              <a:srgbClr val="FF8B5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" name="Label Q Cue / Apple"/>
          <p:cNvSpPr txBox="1"/>
          <p:nvPr/>
        </p:nvSpPr>
        <p:spPr>
          <a:xfrm>
            <a:off x="7891272" y="2331720"/>
            <a:ext cx="309067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0" b="1" dirty="0">
                <a:solidFill>
                  <a:srgbClr val="FF8B5C"/>
                </a:solidFill>
                <a:latin typeface="Arial"/>
              </a:rPr>
              <a:t>PATENT + ACQUISITION CONTEXT</a:t>
            </a:r>
            <a:endParaRPr lang="en-US" sz="680"/>
          </a:p>
        </p:txBody>
      </p:sp>
      <p:sp>
        <p:nvSpPr>
          <p:cNvPr id="21" name="Card title Q Cue / Apple"/>
          <p:cNvSpPr txBox="1"/>
          <p:nvPr/>
        </p:nvSpPr>
        <p:spPr>
          <a:xfrm>
            <a:off x="7891272" y="2633472"/>
            <a:ext cx="3090672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dirty="0">
                <a:solidFill>
                  <a:srgbClr val="F4F0E6"/>
                </a:solidFill>
                <a:latin typeface="Arial"/>
              </a:rPr>
              <a:t>Q Cue / Apple</a:t>
            </a:r>
            <a:endParaRPr lang="en-US" sz="1250"/>
          </a:p>
        </p:txBody>
      </p:sp>
      <p:sp>
        <p:nvSpPr>
          <p:cNvPr id="22" name="Card body Q Cue / Apple"/>
          <p:cNvSpPr txBox="1"/>
          <p:nvPr/>
        </p:nvSpPr>
        <p:spPr>
          <a:xfrm>
            <a:off x="7891272" y="3044952"/>
            <a:ext cx="3090672" cy="1536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B8B7AD"/>
                </a:solidFill>
                <a:latin typeface="Arial"/>
              </a:rPr>
              <a:t>Coherent-light facial micromovement approach, not electrodes. Terms undisclosed; no product performance.</a:t>
            </a:r>
            <a:endParaRPr lang="en-US" sz="900"/>
          </a:p>
        </p:txBody>
      </p:sp>
      <p:sp>
        <p:nvSpPr>
          <p:cNvPr id="23" name="Why now conclusion"/>
          <p:cNvSpPr txBox="1"/>
          <p:nvPr/>
        </p:nvSpPr>
        <p:spPr>
          <a:xfrm>
            <a:off x="731520" y="5047488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dirty="0">
                <a:solidFill>
                  <a:srgbClr val="FF8B5C"/>
                </a:solidFill>
                <a:latin typeface="Arial"/>
              </a:rPr>
              <a:t>SENSORS ARE ENTERING WEARABLES. SPEECH TRANSFER ACROSS SESSIONS IS STILL RESEARCH.</a:t>
            </a:r>
            <a:endParaRPr lang="en-US" sz="1250"/>
          </a:p>
        </p:txBody>
      </p:sp>
      <p:sp>
        <p:nvSpPr>
          <p:cNvPr id="24" name="Source footer"/>
          <p:cNvSpPr txBox="1"/>
          <p:nvPr/>
        </p:nvSpPr>
        <p:spPr>
          <a:xfrm>
            <a:off x="566928" y="6510528"/>
            <a:ext cx="109728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0" dirty="0">
                <a:solidFill>
                  <a:srgbClr val="858B85"/>
                </a:solidFill>
                <a:latin typeface="Arial"/>
              </a:rPr>
              <a:t>SilentWear preprint; Meta official announcement; Q Cue patent metadata. C07–C17; R26–R31.</a:t>
            </a:r>
            <a:endParaRPr lang="en-US" sz="61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: e&amp; frontline retail advisors and field technicians.">
    <p:bg>
      <p:bgPr>
        <a:solidFill>
          <a:srgbClr val="101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16"/>
          </a:solidFill>
          <a:ln w="12700">
            <a:solidFill>
              <a:srgbClr val="10181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Accent line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FF8B5C"/>
          </a:solidFill>
          <a:ln w="12700">
            <a:solidFill>
              <a:srgbClr val="FF8B5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" name="Brand"/>
          <p:cNvSpPr txBox="1"/>
          <p:nvPr/>
        </p:nvSpPr>
        <p:spPr>
          <a:xfrm>
            <a:off x="411480" y="182880"/>
            <a:ext cx="51206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dirty="0">
                <a:solidFill>
                  <a:srgbClr val="5CD3BD"/>
                </a:solidFill>
                <a:latin typeface="Arial"/>
              </a:rPr>
              <a:t>QUIET CHANNEL LAB</a:t>
            </a:r>
            <a:endParaRPr lang="en-US" sz="900"/>
          </a:p>
        </p:txBody>
      </p:sp>
      <p:sp>
        <p:nvSpPr>
          <p:cNvPr id="5" name="Slide number"/>
          <p:cNvSpPr txBox="1"/>
          <p:nvPr/>
        </p:nvSpPr>
        <p:spPr>
          <a:xfrm>
            <a:off x="10561320" y="182880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dirty="0">
                <a:solidFill>
                  <a:srgbClr val="B8B7AD"/>
                </a:solidFill>
                <a:latin typeface="Arial"/>
              </a:rPr>
              <a:t>04 / 13</a:t>
            </a:r>
            <a:endParaRPr lang="en-US" sz="850"/>
          </a:p>
        </p:txBody>
      </p:sp>
      <p:sp>
        <p:nvSpPr>
          <p:cNvPr id="6" name="Title"/>
          <p:cNvSpPr txBox="1"/>
          <p:nvPr/>
        </p:nvSpPr>
        <p:spPr>
          <a:xfrm>
            <a:off x="566928" y="694944"/>
            <a:ext cx="1097280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dirty="0">
                <a:solidFill>
                  <a:srgbClr val="F4F0E6"/>
                </a:solidFill>
                <a:latin typeface="Arial"/>
              </a:rPr>
              <a:t>e&amp; frontline retail advisors and field technicians.</a:t>
            </a:r>
            <a:endParaRPr lang="en-US" sz="2850"/>
          </a:p>
        </p:txBody>
      </p:sp>
      <p:sp>
        <p:nvSpPr>
          <p:cNvPr id="7" name="Subtitle"/>
          <p:cNvSpPr txBox="1"/>
          <p:nvPr/>
        </p:nvSpPr>
        <p:spPr>
          <a:xfrm>
            <a:off x="594360" y="1417320"/>
            <a:ext cx="1069848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80" dirty="0">
                <a:solidFill>
                  <a:srgbClr val="B8B7AD"/>
                </a:solidFill>
                <a:latin typeface="Arial"/>
              </a:rPr>
              <a:t>Start opt in, non-medical, and low consequence. Stage 0 chooses one workflow and tests the two roles separately before biosignal collection.</a:t>
            </a:r>
            <a:endParaRPr lang="en-US" sz="1280"/>
          </a:p>
        </p:txBody>
      </p:sp>
      <p:sp>
        <p:nvSpPr>
          <p:cNvPr id="8" name="Card Current controls must lose"/>
          <p:cNvSpPr/>
          <p:nvPr/>
        </p:nvSpPr>
        <p:spPr>
          <a:xfrm>
            <a:off x="594360" y="2139696"/>
            <a:ext cx="2514600" cy="2103120"/>
          </a:xfrm>
          <a:prstGeom prst="roundRect">
            <a:avLst/>
          </a:prstGeom>
          <a:solidFill>
            <a:srgbClr val="1C2925"/>
          </a:solidFill>
          <a:ln w="12700">
            <a:solidFill>
              <a:srgbClr val="53665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Card accent Current controls must lose"/>
          <p:cNvSpPr/>
          <p:nvPr/>
        </p:nvSpPr>
        <p:spPr>
          <a:xfrm>
            <a:off x="594360" y="2139696"/>
            <a:ext cx="54864" cy="2103120"/>
          </a:xfrm>
          <a:prstGeom prst="rect">
            <a:avLst/>
          </a:prstGeom>
          <a:solidFill>
            <a:srgbClr val="5CD3BD"/>
          </a:solidFill>
          <a:ln w="12700">
            <a:solidFill>
              <a:srgbClr val="5CD3B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Label Current controls must lose"/>
          <p:cNvSpPr txBox="1"/>
          <p:nvPr/>
        </p:nvSpPr>
        <p:spPr>
          <a:xfrm>
            <a:off x="758952" y="2276856"/>
            <a:ext cx="2203704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0" b="1" dirty="0">
                <a:solidFill>
                  <a:srgbClr val="5CD3BD"/>
                </a:solidFill>
                <a:latin typeface="Arial"/>
              </a:rPr>
              <a:t>USER-VALUE GATE</a:t>
            </a:r>
            <a:endParaRPr lang="en-US" sz="680"/>
          </a:p>
        </p:txBody>
      </p:sp>
      <p:sp>
        <p:nvSpPr>
          <p:cNvPr id="11" name="Card title Current controls must lose"/>
          <p:cNvSpPr txBox="1"/>
          <p:nvPr/>
        </p:nvSpPr>
        <p:spPr>
          <a:xfrm>
            <a:off x="758952" y="2578608"/>
            <a:ext cx="2203704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dirty="0">
                <a:solidFill>
                  <a:srgbClr val="F4F0E6"/>
                </a:solidFill>
                <a:latin typeface="Arial"/>
              </a:rPr>
              <a:t>Current controls must lose</a:t>
            </a:r>
            <a:endParaRPr lang="en-US" sz="1250"/>
          </a:p>
        </p:txBody>
      </p:sp>
      <p:sp>
        <p:nvSpPr>
          <p:cNvPr id="12" name="Card body Current controls must lose"/>
          <p:cNvSpPr txBox="1"/>
          <p:nvPr/>
        </p:nvSpPr>
        <p:spPr>
          <a:xfrm>
            <a:off x="758952" y="2990088"/>
            <a:ext cx="2203704" cy="11704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B8B7AD"/>
                </a:solidFill>
                <a:latin typeface="Arial"/>
              </a:rPr>
              <a:t>Recurring private-input job, named baseline and voluntary user preference.</a:t>
            </a:r>
            <a:endParaRPr lang="en-US" sz="900"/>
          </a:p>
        </p:txBody>
      </p:sp>
      <p:sp>
        <p:nvSpPr>
          <p:cNvPr id="13" name="Card Voluntary means voluntary"/>
          <p:cNvSpPr/>
          <p:nvPr/>
        </p:nvSpPr>
        <p:spPr>
          <a:xfrm>
            <a:off x="3273552" y="2139696"/>
            <a:ext cx="2514600" cy="2103120"/>
          </a:xfrm>
          <a:prstGeom prst="roundRect">
            <a:avLst/>
          </a:prstGeom>
          <a:solidFill>
            <a:srgbClr val="1C2925"/>
          </a:solidFill>
          <a:ln w="12700">
            <a:solidFill>
              <a:srgbClr val="53665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Card accent Voluntary means voluntary"/>
          <p:cNvSpPr/>
          <p:nvPr/>
        </p:nvSpPr>
        <p:spPr>
          <a:xfrm>
            <a:off x="3273552" y="2139696"/>
            <a:ext cx="54864" cy="2103120"/>
          </a:xfrm>
          <a:prstGeom prst="rect">
            <a:avLst/>
          </a:prstGeom>
          <a:solidFill>
            <a:srgbClr val="DDEB79"/>
          </a:solidFill>
          <a:ln w="12700">
            <a:solidFill>
              <a:srgbClr val="DDEB7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Label Voluntary means voluntary"/>
          <p:cNvSpPr txBox="1"/>
          <p:nvPr/>
        </p:nvSpPr>
        <p:spPr>
          <a:xfrm>
            <a:off x="3438144" y="2276856"/>
            <a:ext cx="2203704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0" b="1" dirty="0">
                <a:solidFill>
                  <a:srgbClr val="DDEB79"/>
                </a:solidFill>
                <a:latin typeface="Arial"/>
              </a:rPr>
              <a:t>CONSENT GATE</a:t>
            </a:r>
            <a:endParaRPr lang="en-US" sz="680"/>
          </a:p>
        </p:txBody>
      </p:sp>
      <p:sp>
        <p:nvSpPr>
          <p:cNvPr id="16" name="Card title Voluntary means voluntary"/>
          <p:cNvSpPr txBox="1"/>
          <p:nvPr/>
        </p:nvSpPr>
        <p:spPr>
          <a:xfrm>
            <a:off x="3438144" y="2578608"/>
            <a:ext cx="2203704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dirty="0">
                <a:solidFill>
                  <a:srgbClr val="F4F0E6"/>
                </a:solidFill>
                <a:latin typeface="Arial"/>
              </a:rPr>
              <a:t>Voluntary means voluntary</a:t>
            </a:r>
            <a:endParaRPr lang="en-US" sz="1250"/>
          </a:p>
        </p:txBody>
      </p:sp>
      <p:sp>
        <p:nvSpPr>
          <p:cNvPr id="17" name="Card body Voluntary means voluntary"/>
          <p:cNvSpPr txBox="1"/>
          <p:nvPr/>
        </p:nvSpPr>
        <p:spPr>
          <a:xfrm>
            <a:off x="3438144" y="2990088"/>
            <a:ext cx="2203704" cy="11704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B8B7AD"/>
                </a:solidFill>
                <a:latin typeface="Arial"/>
              </a:rPr>
              <a:t>Non-biometric alternative; no employment or performance-management consequence.</a:t>
            </a:r>
            <a:endParaRPr lang="en-US" sz="900"/>
          </a:p>
        </p:txBody>
      </p:sp>
      <p:sp>
        <p:nvSpPr>
          <p:cNvPr id="18" name="Card Confirmation contains harm"/>
          <p:cNvSpPr/>
          <p:nvPr/>
        </p:nvSpPr>
        <p:spPr>
          <a:xfrm>
            <a:off x="5952744" y="2139696"/>
            <a:ext cx="2514600" cy="2103120"/>
          </a:xfrm>
          <a:prstGeom prst="roundRect">
            <a:avLst/>
          </a:prstGeom>
          <a:solidFill>
            <a:srgbClr val="1C2925"/>
          </a:solidFill>
          <a:ln w="12700">
            <a:solidFill>
              <a:srgbClr val="53665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Card accent Confirmation contains harm"/>
          <p:cNvSpPr/>
          <p:nvPr/>
        </p:nvSpPr>
        <p:spPr>
          <a:xfrm>
            <a:off x="5952744" y="2139696"/>
            <a:ext cx="54864" cy="2103120"/>
          </a:xfrm>
          <a:prstGeom prst="rect">
            <a:avLst/>
          </a:prstGeom>
          <a:solidFill>
            <a:srgbClr val="FF8B5C"/>
          </a:solidFill>
          <a:ln w="12700">
            <a:solidFill>
              <a:srgbClr val="FF8B5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" name="Label Confirmation contains harm"/>
          <p:cNvSpPr txBox="1"/>
          <p:nvPr/>
        </p:nvSpPr>
        <p:spPr>
          <a:xfrm>
            <a:off x="6117336" y="2276856"/>
            <a:ext cx="2203704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0" b="1" dirty="0">
                <a:solidFill>
                  <a:srgbClr val="FF8B5C"/>
                </a:solidFill>
                <a:latin typeface="Arial"/>
              </a:rPr>
              <a:t>ERROR GATE</a:t>
            </a:r>
            <a:endParaRPr lang="en-US" sz="680"/>
          </a:p>
        </p:txBody>
      </p:sp>
      <p:sp>
        <p:nvSpPr>
          <p:cNvPr id="21" name="Card title Confirmation contains harm"/>
          <p:cNvSpPr txBox="1"/>
          <p:nvPr/>
        </p:nvSpPr>
        <p:spPr>
          <a:xfrm>
            <a:off x="6117336" y="2578608"/>
            <a:ext cx="2203704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dirty="0">
                <a:solidFill>
                  <a:srgbClr val="F4F0E6"/>
                </a:solidFill>
                <a:latin typeface="Arial"/>
              </a:rPr>
              <a:t>Confirmation contains harm</a:t>
            </a:r>
            <a:endParaRPr lang="en-US" sz="1250"/>
          </a:p>
        </p:txBody>
      </p:sp>
      <p:sp>
        <p:nvSpPr>
          <p:cNvPr id="22" name="Card body Confirmation contains harm"/>
          <p:cNvSpPr txBox="1"/>
          <p:nvPr/>
        </p:nvSpPr>
        <p:spPr>
          <a:xfrm>
            <a:off x="6117336" y="2990088"/>
            <a:ext cx="2203704" cy="11704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B8B7AD"/>
                </a:solidFill>
                <a:latin typeface="Arial"/>
              </a:rPr>
              <a:t>Grammar and fallback must survive false accepts and false rejects.</a:t>
            </a:r>
            <a:endParaRPr lang="en-US" sz="900"/>
          </a:p>
        </p:txBody>
      </p:sp>
      <p:sp>
        <p:nvSpPr>
          <p:cNvPr id="23" name="Card Contact must fit"/>
          <p:cNvSpPr/>
          <p:nvPr/>
        </p:nvSpPr>
        <p:spPr>
          <a:xfrm>
            <a:off x="8631936" y="2139696"/>
            <a:ext cx="2514600" cy="2103120"/>
          </a:xfrm>
          <a:prstGeom prst="roundRect">
            <a:avLst/>
          </a:prstGeom>
          <a:solidFill>
            <a:srgbClr val="2A211E"/>
          </a:solidFill>
          <a:ln w="12700">
            <a:solidFill>
              <a:srgbClr val="53665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" name="Card accent Contact must fit"/>
          <p:cNvSpPr/>
          <p:nvPr/>
        </p:nvSpPr>
        <p:spPr>
          <a:xfrm>
            <a:off x="8631936" y="2139696"/>
            <a:ext cx="54864" cy="2103120"/>
          </a:xfrm>
          <a:prstGeom prst="rect">
            <a:avLst/>
          </a:prstGeom>
          <a:solidFill>
            <a:srgbClr val="FF857E"/>
          </a:solidFill>
          <a:ln w="12700">
            <a:solidFill>
              <a:srgbClr val="FF857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" name="Label Contact must fit"/>
          <p:cNvSpPr txBox="1"/>
          <p:nvPr/>
        </p:nvSpPr>
        <p:spPr>
          <a:xfrm>
            <a:off x="8796528" y="2276856"/>
            <a:ext cx="2203704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0" b="1" dirty="0">
                <a:solidFill>
                  <a:srgbClr val="FF857E"/>
                </a:solidFill>
                <a:latin typeface="Arial"/>
              </a:rPr>
              <a:t>OPERATIONS GATE</a:t>
            </a:r>
            <a:endParaRPr lang="en-US" sz="680"/>
          </a:p>
        </p:txBody>
      </p:sp>
      <p:sp>
        <p:nvSpPr>
          <p:cNvPr id="26" name="Card title Contact must fit"/>
          <p:cNvSpPr txBox="1"/>
          <p:nvPr/>
        </p:nvSpPr>
        <p:spPr>
          <a:xfrm>
            <a:off x="8796528" y="2578608"/>
            <a:ext cx="2203704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dirty="0">
                <a:solidFill>
                  <a:srgbClr val="F4F0E6"/>
                </a:solidFill>
                <a:latin typeface="Arial"/>
              </a:rPr>
              <a:t>Contact must fit</a:t>
            </a:r>
            <a:endParaRPr lang="en-US" sz="1250"/>
          </a:p>
        </p:txBody>
      </p:sp>
      <p:sp>
        <p:nvSpPr>
          <p:cNvPr id="27" name="Card body Contact must fit"/>
          <p:cNvSpPr txBox="1"/>
          <p:nvPr/>
        </p:nvSpPr>
        <p:spPr>
          <a:xfrm>
            <a:off x="8796528" y="2990088"/>
            <a:ext cx="2203704" cy="11704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B8B7AD"/>
                </a:solidFill>
                <a:latin typeface="Arial"/>
              </a:rPr>
              <a:t>Setup, skin, fatigue, motion and reapplication are product costs.</a:t>
            </a:r>
            <a:endParaRPr lang="en-US" sz="900"/>
          </a:p>
        </p:txBody>
      </p:sp>
      <p:sp>
        <p:nvSpPr>
          <p:cNvPr id="28" name="Out of scope"/>
          <p:cNvSpPr/>
          <p:nvPr/>
        </p:nvSpPr>
        <p:spPr>
          <a:xfrm>
            <a:off x="594360" y="4553712"/>
            <a:ext cx="10552176" cy="896112"/>
          </a:xfrm>
          <a:prstGeom prst="roundRect">
            <a:avLst/>
          </a:prstGeom>
          <a:solidFill>
            <a:srgbClr val="2A211E"/>
          </a:solidFill>
          <a:ln w="12700">
            <a:solidFill>
              <a:srgbClr val="FF8B5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9" name="Out of scope text"/>
          <p:cNvSpPr txBox="1"/>
          <p:nvPr/>
        </p:nvSpPr>
        <p:spPr>
          <a:xfrm>
            <a:off x="822960" y="4718304"/>
            <a:ext cx="1005840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F4F0E6"/>
                </a:solidFill>
                <a:latin typeface="Arial"/>
              </a:rPr>
              <a:t>OUT OF STAGE 1  Record changes · payments · access control · scoring · emergencies · diagnosis · replacement AAC</a:t>
            </a:r>
            <a:endParaRPr lang="en-US" sz="1050"/>
          </a:p>
        </p:txBody>
      </p:sp>
      <p:sp>
        <p:nvSpPr>
          <p:cNvPr id="30" name="Source footer"/>
          <p:cNvSpPr txBox="1"/>
          <p:nvPr/>
        </p:nvSpPr>
        <p:spPr>
          <a:xfrm>
            <a:off x="566928" y="6510528"/>
            <a:ext cx="109728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0" dirty="0">
                <a:solidFill>
                  <a:srgbClr val="858B85"/>
                </a:solidFill>
                <a:latin typeface="Arial"/>
              </a:rPr>
              <a:t>Captain decision, 2026-07-28; provenance/decisions.md. Beachhead decision—not traction.</a:t>
            </a:r>
            <a:endParaRPr lang="en-US" sz="61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5: Capture → decode → human gate → existing assistant.">
    <p:bg>
      <p:bgPr>
        <a:solidFill>
          <a:srgbClr val="101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16"/>
          </a:solidFill>
          <a:ln w="12700">
            <a:solidFill>
              <a:srgbClr val="10181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Accent line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FF8B5C"/>
          </a:solidFill>
          <a:ln w="12700">
            <a:solidFill>
              <a:srgbClr val="FF8B5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" name="Brand"/>
          <p:cNvSpPr txBox="1"/>
          <p:nvPr/>
        </p:nvSpPr>
        <p:spPr>
          <a:xfrm>
            <a:off x="411480" y="182880"/>
            <a:ext cx="51206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dirty="0">
                <a:solidFill>
                  <a:srgbClr val="5CD3BD"/>
                </a:solidFill>
                <a:latin typeface="Arial"/>
              </a:rPr>
              <a:t>QUIET CHANNEL LAB</a:t>
            </a:r>
            <a:endParaRPr lang="en-US" sz="900"/>
          </a:p>
        </p:txBody>
      </p:sp>
      <p:sp>
        <p:nvSpPr>
          <p:cNvPr id="5" name="Slide number"/>
          <p:cNvSpPr txBox="1"/>
          <p:nvPr/>
        </p:nvSpPr>
        <p:spPr>
          <a:xfrm>
            <a:off x="10561320" y="182880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dirty="0">
                <a:solidFill>
                  <a:srgbClr val="B8B7AD"/>
                </a:solidFill>
                <a:latin typeface="Arial"/>
              </a:rPr>
              <a:t>05 / 13</a:t>
            </a:r>
            <a:endParaRPr lang="en-US" sz="850"/>
          </a:p>
        </p:txBody>
      </p:sp>
      <p:sp>
        <p:nvSpPr>
          <p:cNvPr id="6" name="Title"/>
          <p:cNvSpPr txBox="1"/>
          <p:nvPr/>
        </p:nvSpPr>
        <p:spPr>
          <a:xfrm>
            <a:off x="566928" y="694944"/>
            <a:ext cx="1097280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dirty="0">
                <a:solidFill>
                  <a:srgbClr val="F4F0E6"/>
                </a:solidFill>
                <a:latin typeface="Arial"/>
              </a:rPr>
              <a:t>Capture → decode → human gate → existing assistant.</a:t>
            </a:r>
            <a:endParaRPr lang="en-US" sz="2850"/>
          </a:p>
        </p:txBody>
      </p:sp>
      <p:sp>
        <p:nvSpPr>
          <p:cNvPr id="7" name="Subtitle"/>
          <p:cNvSpPr txBox="1"/>
          <p:nvPr/>
        </p:nvSpPr>
        <p:spPr>
          <a:xfrm>
            <a:off x="594360" y="1417320"/>
            <a:ext cx="1069848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80" dirty="0">
                <a:solidFill>
                  <a:srgbClr val="B8B7AD"/>
                </a:solidFill>
                <a:latin typeface="Arial"/>
              </a:rPr>
              <a:t>Alternatives, abstention and confirmation stay visible. The decoder is the new AI; the downstream assistant can be reused.</a:t>
            </a:r>
            <a:endParaRPr lang="en-US" sz="1280"/>
          </a:p>
        </p:txBody>
      </p:sp>
      <p:pic>
        <p:nvPicPr>
          <p:cNvPr id="8" name="pipeline-gates.svg" descr="Original proposed confirmation-first data-flow diagr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011680"/>
            <a:ext cx="10991088" cy="3941064"/>
          </a:xfrm>
          <a:prstGeom prst="rect">
            <a:avLst/>
          </a:prstGeom>
          <a:ln>
            <a:noFill/>
          </a:ln>
        </p:spPr>
      </p:pic>
      <p:sp>
        <p:nvSpPr>
          <p:cNvPr id="9" name="Source footer"/>
          <p:cNvSpPr txBox="1"/>
          <p:nvPr/>
        </p:nvSpPr>
        <p:spPr>
          <a:xfrm>
            <a:off x="566928" y="6510528"/>
            <a:ext cx="109728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0" dirty="0">
                <a:solidFill>
                  <a:srgbClr val="858B85"/>
                </a:solidFill>
                <a:latin typeface="Arial"/>
              </a:rPr>
              <a:t>Architecture intent, not implementation. SilentWear 2.47 ms is model inference—not complete latency.</a:t>
            </a:r>
            <a:endParaRPr lang="en-US" sz="61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6: Show the miss. Make repair the product.">
    <p:bg>
      <p:bgPr>
        <a:solidFill>
          <a:srgbClr val="101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16"/>
          </a:solidFill>
          <a:ln w="12700">
            <a:solidFill>
              <a:srgbClr val="10181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Accent line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FF8B5C"/>
          </a:solidFill>
          <a:ln w="12700">
            <a:solidFill>
              <a:srgbClr val="FF8B5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" name="Brand"/>
          <p:cNvSpPr txBox="1"/>
          <p:nvPr/>
        </p:nvSpPr>
        <p:spPr>
          <a:xfrm>
            <a:off x="411480" y="182880"/>
            <a:ext cx="51206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dirty="0">
                <a:solidFill>
                  <a:srgbClr val="5CD3BD"/>
                </a:solidFill>
                <a:latin typeface="Arial"/>
              </a:rPr>
              <a:t>QUIET CHANNEL LAB</a:t>
            </a:r>
            <a:endParaRPr lang="en-US" sz="900"/>
          </a:p>
        </p:txBody>
      </p:sp>
      <p:sp>
        <p:nvSpPr>
          <p:cNvPr id="5" name="Slide number"/>
          <p:cNvSpPr txBox="1"/>
          <p:nvPr/>
        </p:nvSpPr>
        <p:spPr>
          <a:xfrm>
            <a:off x="10561320" y="182880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dirty="0">
                <a:solidFill>
                  <a:srgbClr val="B8B7AD"/>
                </a:solidFill>
                <a:latin typeface="Arial"/>
              </a:rPr>
              <a:t>06 / 13</a:t>
            </a:r>
            <a:endParaRPr lang="en-US" sz="850"/>
          </a:p>
        </p:txBody>
      </p:sp>
      <p:sp>
        <p:nvSpPr>
          <p:cNvPr id="6" name="Title"/>
          <p:cNvSpPr txBox="1"/>
          <p:nvPr/>
        </p:nvSpPr>
        <p:spPr>
          <a:xfrm>
            <a:off x="566928" y="694944"/>
            <a:ext cx="1097280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dirty="0">
                <a:solidFill>
                  <a:srgbClr val="F4F0E6"/>
                </a:solidFill>
                <a:latin typeface="Arial"/>
              </a:rPr>
              <a:t>Show the miss. Make repair the product.</a:t>
            </a:r>
            <a:endParaRPr lang="en-US" sz="2850"/>
          </a:p>
        </p:txBody>
      </p:sp>
      <p:sp>
        <p:nvSpPr>
          <p:cNvPr id="7" name="Subtitle"/>
          <p:cNvSpPr txBox="1"/>
          <p:nvPr/>
        </p:nvSpPr>
        <p:spPr>
          <a:xfrm>
            <a:off x="594360" y="1417320"/>
            <a:ext cx="1069848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80" dirty="0">
                <a:solidFill>
                  <a:srgbClr val="B8B7AD"/>
                </a:solidFill>
                <a:latin typeface="Arial"/>
              </a:rPr>
              <a:t>The offline demo starts locked, rejects an authored ambiguous case, requires a manual authored repair, and keeps output behind confirmation.</a:t>
            </a:r>
            <a:endParaRPr lang="en-US" sz="1280"/>
          </a:p>
        </p:txBody>
      </p:sp>
      <p:sp>
        <p:nvSpPr>
          <p:cNvPr id="8" name="Card DECLARE"/>
          <p:cNvSpPr/>
          <p:nvPr/>
        </p:nvSpPr>
        <p:spPr>
          <a:xfrm>
            <a:off x="594360" y="2176272"/>
            <a:ext cx="1984248" cy="2487168"/>
          </a:xfrm>
          <a:prstGeom prst="roundRect">
            <a:avLst/>
          </a:prstGeom>
          <a:solidFill>
            <a:srgbClr val="1C2925"/>
          </a:solidFill>
          <a:ln w="12700">
            <a:solidFill>
              <a:srgbClr val="53665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Card accent DECLARE"/>
          <p:cNvSpPr/>
          <p:nvPr/>
        </p:nvSpPr>
        <p:spPr>
          <a:xfrm>
            <a:off x="594360" y="2176272"/>
            <a:ext cx="54864" cy="2487168"/>
          </a:xfrm>
          <a:prstGeom prst="rect">
            <a:avLst/>
          </a:prstGeom>
          <a:solidFill>
            <a:srgbClr val="5CD3BD"/>
          </a:solidFill>
          <a:ln w="12700">
            <a:solidFill>
              <a:srgbClr val="5CD3B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Label DECLARE"/>
          <p:cNvSpPr txBox="1"/>
          <p:nvPr/>
        </p:nvSpPr>
        <p:spPr>
          <a:xfrm>
            <a:off x="758952" y="2313432"/>
            <a:ext cx="167335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0" b="1" dirty="0">
                <a:solidFill>
                  <a:srgbClr val="5CD3BD"/>
                </a:solidFill>
                <a:latin typeface="Arial"/>
              </a:rPr>
              <a:t>01</a:t>
            </a:r>
            <a:endParaRPr lang="en-US" sz="680"/>
          </a:p>
        </p:txBody>
      </p:sp>
      <p:sp>
        <p:nvSpPr>
          <p:cNvPr id="11" name="Card title DECLARE"/>
          <p:cNvSpPr txBox="1"/>
          <p:nvPr/>
        </p:nvSpPr>
        <p:spPr>
          <a:xfrm>
            <a:off x="758952" y="2615184"/>
            <a:ext cx="1673352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dirty="0">
                <a:solidFill>
                  <a:srgbClr val="F4F0E6"/>
                </a:solidFill>
                <a:latin typeface="Arial"/>
              </a:rPr>
              <a:t>DECLARE</a:t>
            </a:r>
            <a:endParaRPr lang="en-US" sz="1250"/>
          </a:p>
        </p:txBody>
      </p:sp>
      <p:sp>
        <p:nvSpPr>
          <p:cNvPr id="12" name="Card body DECLARE"/>
          <p:cNvSpPr txBox="1"/>
          <p:nvPr/>
        </p:nvSpPr>
        <p:spPr>
          <a:xfrm>
            <a:off x="758952" y="3026664"/>
            <a:ext cx="1673352" cy="1554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B8B7AD"/>
                </a:solidFill>
                <a:latin typeface="Arial"/>
              </a:rPr>
              <a:t>Concept / simulated. No sensor or project accuracy.</a:t>
            </a:r>
            <a:endParaRPr lang="en-US" sz="900"/>
          </a:p>
        </p:txBody>
      </p:sp>
      <p:sp>
        <p:nvSpPr>
          <p:cNvPr id="13" name="Card UNLOCK"/>
          <p:cNvSpPr/>
          <p:nvPr/>
        </p:nvSpPr>
        <p:spPr>
          <a:xfrm>
            <a:off x="2752344" y="2176272"/>
            <a:ext cx="1984248" cy="2487168"/>
          </a:xfrm>
          <a:prstGeom prst="roundRect">
            <a:avLst/>
          </a:prstGeom>
          <a:solidFill>
            <a:srgbClr val="1C2925"/>
          </a:solidFill>
          <a:ln w="12700">
            <a:solidFill>
              <a:srgbClr val="53665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Card accent UNLOCK"/>
          <p:cNvSpPr/>
          <p:nvPr/>
        </p:nvSpPr>
        <p:spPr>
          <a:xfrm>
            <a:off x="2752344" y="2176272"/>
            <a:ext cx="54864" cy="2487168"/>
          </a:xfrm>
          <a:prstGeom prst="rect">
            <a:avLst/>
          </a:prstGeom>
          <a:solidFill>
            <a:srgbClr val="5CD3BD"/>
          </a:solidFill>
          <a:ln w="12700">
            <a:solidFill>
              <a:srgbClr val="5CD3B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Label UNLOCK"/>
          <p:cNvSpPr txBox="1"/>
          <p:nvPr/>
        </p:nvSpPr>
        <p:spPr>
          <a:xfrm>
            <a:off x="2916936" y="2313432"/>
            <a:ext cx="167335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0" b="1" dirty="0">
                <a:solidFill>
                  <a:srgbClr val="5CD3BD"/>
                </a:solidFill>
                <a:latin typeface="Arial"/>
              </a:rPr>
              <a:t>02</a:t>
            </a:r>
            <a:endParaRPr lang="en-US" sz="680"/>
          </a:p>
        </p:txBody>
      </p:sp>
      <p:sp>
        <p:nvSpPr>
          <p:cNvPr id="16" name="Card title UNLOCK"/>
          <p:cNvSpPr txBox="1"/>
          <p:nvPr/>
        </p:nvSpPr>
        <p:spPr>
          <a:xfrm>
            <a:off x="2916936" y="2615184"/>
            <a:ext cx="1673352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dirty="0">
                <a:solidFill>
                  <a:srgbClr val="F4F0E6"/>
                </a:solidFill>
                <a:latin typeface="Arial"/>
              </a:rPr>
              <a:t>UNLOCK</a:t>
            </a:r>
            <a:endParaRPr lang="en-US" sz="1250"/>
          </a:p>
        </p:txBody>
      </p:sp>
      <p:sp>
        <p:nvSpPr>
          <p:cNvPr id="17" name="Card body UNLOCK"/>
          <p:cNvSpPr txBox="1"/>
          <p:nvPr/>
        </p:nvSpPr>
        <p:spPr>
          <a:xfrm>
            <a:off x="2916936" y="3026664"/>
            <a:ext cx="1673352" cy="1554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B8B7AD"/>
                </a:solidFill>
                <a:latin typeface="Arial"/>
              </a:rPr>
              <a:t>Deliberate page state + illustrative fixed grammar.</a:t>
            </a:r>
            <a:endParaRPr lang="en-US" sz="900"/>
          </a:p>
        </p:txBody>
      </p:sp>
      <p:sp>
        <p:nvSpPr>
          <p:cNvPr id="18" name="Card INSPECT"/>
          <p:cNvSpPr/>
          <p:nvPr/>
        </p:nvSpPr>
        <p:spPr>
          <a:xfrm>
            <a:off x="4910328" y="2176272"/>
            <a:ext cx="1984248" cy="2487168"/>
          </a:xfrm>
          <a:prstGeom prst="roundRect">
            <a:avLst/>
          </a:prstGeom>
          <a:solidFill>
            <a:srgbClr val="1C2925"/>
          </a:solidFill>
          <a:ln w="12700">
            <a:solidFill>
              <a:srgbClr val="53665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Card accent INSPECT"/>
          <p:cNvSpPr/>
          <p:nvPr/>
        </p:nvSpPr>
        <p:spPr>
          <a:xfrm>
            <a:off x="4910328" y="2176272"/>
            <a:ext cx="54864" cy="2487168"/>
          </a:xfrm>
          <a:prstGeom prst="rect">
            <a:avLst/>
          </a:prstGeom>
          <a:solidFill>
            <a:srgbClr val="5CD3BD"/>
          </a:solidFill>
          <a:ln w="12700">
            <a:solidFill>
              <a:srgbClr val="5CD3B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" name="Label INSPECT"/>
          <p:cNvSpPr txBox="1"/>
          <p:nvPr/>
        </p:nvSpPr>
        <p:spPr>
          <a:xfrm>
            <a:off x="5074920" y="2313432"/>
            <a:ext cx="167335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0" b="1" dirty="0">
                <a:solidFill>
                  <a:srgbClr val="5CD3BD"/>
                </a:solidFill>
                <a:latin typeface="Arial"/>
              </a:rPr>
              <a:t>03</a:t>
            </a:r>
            <a:endParaRPr lang="en-US" sz="680"/>
          </a:p>
        </p:txBody>
      </p:sp>
      <p:sp>
        <p:nvSpPr>
          <p:cNvPr id="21" name="Card title INSPECT"/>
          <p:cNvSpPr txBox="1"/>
          <p:nvPr/>
        </p:nvSpPr>
        <p:spPr>
          <a:xfrm>
            <a:off x="5074920" y="2615184"/>
            <a:ext cx="1673352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dirty="0">
                <a:solidFill>
                  <a:srgbClr val="F4F0E6"/>
                </a:solidFill>
                <a:latin typeface="Arial"/>
              </a:rPr>
              <a:t>INSPECT</a:t>
            </a:r>
            <a:endParaRPr lang="en-US" sz="1250"/>
          </a:p>
        </p:txBody>
      </p:sp>
      <p:sp>
        <p:nvSpPr>
          <p:cNvPr id="22" name="Card body INSPECT"/>
          <p:cNvSpPr txBox="1"/>
          <p:nvPr/>
        </p:nvSpPr>
        <p:spPr>
          <a:xfrm>
            <a:off x="5074920" y="3026664"/>
            <a:ext cx="1673352" cy="1554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B8B7AD"/>
                </a:solidFill>
                <a:latin typeface="Arial"/>
              </a:rPr>
              <a:t>Authored signal, features and alternatives.</a:t>
            </a:r>
            <a:endParaRPr lang="en-US" sz="900"/>
          </a:p>
        </p:txBody>
      </p:sp>
      <p:sp>
        <p:nvSpPr>
          <p:cNvPr id="23" name="Card FAIL + REPAIR"/>
          <p:cNvSpPr/>
          <p:nvPr/>
        </p:nvSpPr>
        <p:spPr>
          <a:xfrm>
            <a:off x="7068312" y="2176272"/>
            <a:ext cx="1984248" cy="2487168"/>
          </a:xfrm>
          <a:prstGeom prst="roundRect">
            <a:avLst/>
          </a:prstGeom>
          <a:solidFill>
            <a:srgbClr val="2A211E"/>
          </a:solidFill>
          <a:ln w="12700">
            <a:solidFill>
              <a:srgbClr val="53665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" name="Card accent FAIL + REPAIR"/>
          <p:cNvSpPr/>
          <p:nvPr/>
        </p:nvSpPr>
        <p:spPr>
          <a:xfrm>
            <a:off x="7068312" y="2176272"/>
            <a:ext cx="54864" cy="2487168"/>
          </a:xfrm>
          <a:prstGeom prst="rect">
            <a:avLst/>
          </a:prstGeom>
          <a:solidFill>
            <a:srgbClr val="DDEB79"/>
          </a:solidFill>
          <a:ln w="12700">
            <a:solidFill>
              <a:srgbClr val="DDEB7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" name="Label FAIL + REPAIR"/>
          <p:cNvSpPr txBox="1"/>
          <p:nvPr/>
        </p:nvSpPr>
        <p:spPr>
          <a:xfrm>
            <a:off x="7232904" y="2313432"/>
            <a:ext cx="167335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0" b="1" dirty="0">
                <a:solidFill>
                  <a:srgbClr val="DDEB79"/>
                </a:solidFill>
                <a:latin typeface="Arial"/>
              </a:rPr>
              <a:t>04</a:t>
            </a:r>
            <a:endParaRPr lang="en-US" sz="680"/>
          </a:p>
        </p:txBody>
      </p:sp>
      <p:sp>
        <p:nvSpPr>
          <p:cNvPr id="26" name="Card title FAIL + REPAIR"/>
          <p:cNvSpPr txBox="1"/>
          <p:nvPr/>
        </p:nvSpPr>
        <p:spPr>
          <a:xfrm>
            <a:off x="7232904" y="2615184"/>
            <a:ext cx="1673352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dirty="0">
                <a:solidFill>
                  <a:srgbClr val="F4F0E6"/>
                </a:solidFill>
                <a:latin typeface="Arial"/>
              </a:rPr>
              <a:t>FAIL + REPAIR</a:t>
            </a:r>
            <a:endParaRPr lang="en-US" sz="1250"/>
          </a:p>
        </p:txBody>
      </p:sp>
      <p:sp>
        <p:nvSpPr>
          <p:cNvPr id="27" name="Card body FAIL + REPAIR"/>
          <p:cNvSpPr txBox="1"/>
          <p:nvPr/>
        </p:nvSpPr>
        <p:spPr>
          <a:xfrm>
            <a:off x="7232904" y="3026664"/>
            <a:ext cx="1673352" cy="1554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B8B7AD"/>
                </a:solidFill>
                <a:latin typeface="Arial"/>
              </a:rPr>
              <a:t>Reject ambiguous case; manual repair stays gated.</a:t>
            </a:r>
            <a:endParaRPr lang="en-US" sz="900"/>
          </a:p>
        </p:txBody>
      </p:sp>
      <p:sp>
        <p:nvSpPr>
          <p:cNvPr id="28" name="Card AUDIT"/>
          <p:cNvSpPr/>
          <p:nvPr/>
        </p:nvSpPr>
        <p:spPr>
          <a:xfrm>
            <a:off x="9226296" y="2176272"/>
            <a:ext cx="1984248" cy="2487168"/>
          </a:xfrm>
          <a:prstGeom prst="roundRect">
            <a:avLst/>
          </a:prstGeom>
          <a:solidFill>
            <a:srgbClr val="1C2925"/>
          </a:solidFill>
          <a:ln w="12700">
            <a:solidFill>
              <a:srgbClr val="53665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9" name="Card accent AUDIT"/>
          <p:cNvSpPr/>
          <p:nvPr/>
        </p:nvSpPr>
        <p:spPr>
          <a:xfrm>
            <a:off x="9226296" y="2176272"/>
            <a:ext cx="54864" cy="2487168"/>
          </a:xfrm>
          <a:prstGeom prst="rect">
            <a:avLst/>
          </a:prstGeom>
          <a:solidFill>
            <a:srgbClr val="5CD3BD"/>
          </a:solidFill>
          <a:ln w="12700">
            <a:solidFill>
              <a:srgbClr val="5CD3B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" name="Label AUDIT"/>
          <p:cNvSpPr txBox="1"/>
          <p:nvPr/>
        </p:nvSpPr>
        <p:spPr>
          <a:xfrm>
            <a:off x="9390888" y="2313432"/>
            <a:ext cx="167335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0" b="1" dirty="0">
                <a:solidFill>
                  <a:srgbClr val="5CD3BD"/>
                </a:solidFill>
                <a:latin typeface="Arial"/>
              </a:rPr>
              <a:t>05</a:t>
            </a:r>
            <a:endParaRPr lang="en-US" sz="680"/>
          </a:p>
        </p:txBody>
      </p:sp>
      <p:sp>
        <p:nvSpPr>
          <p:cNvPr id="31" name="Card title AUDIT"/>
          <p:cNvSpPr txBox="1"/>
          <p:nvPr/>
        </p:nvSpPr>
        <p:spPr>
          <a:xfrm>
            <a:off x="9390888" y="2615184"/>
            <a:ext cx="1673352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dirty="0">
                <a:solidFill>
                  <a:srgbClr val="F4F0E6"/>
                </a:solidFill>
                <a:latin typeface="Arial"/>
              </a:rPr>
              <a:t>AUDIT</a:t>
            </a:r>
            <a:endParaRPr lang="en-US" sz="1250"/>
          </a:p>
        </p:txBody>
      </p:sp>
      <p:sp>
        <p:nvSpPr>
          <p:cNvPr id="32" name="Card body AUDIT"/>
          <p:cNvSpPr txBox="1"/>
          <p:nvPr/>
        </p:nvSpPr>
        <p:spPr>
          <a:xfrm>
            <a:off x="9390888" y="3026664"/>
            <a:ext cx="1673352" cy="1554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B8B7AD"/>
                </a:solidFill>
                <a:latin typeface="Arial"/>
              </a:rPr>
              <a:t>Confirmed text increments; raw-fixture egress stays zero.</a:t>
            </a:r>
            <a:endParaRPr lang="en-US" sz="900"/>
          </a:p>
        </p:txBody>
      </p:sp>
      <p:sp>
        <p:nvSpPr>
          <p:cNvPr id="33" name="Demo boundary"/>
          <p:cNvSpPr/>
          <p:nvPr/>
        </p:nvSpPr>
        <p:spPr>
          <a:xfrm>
            <a:off x="594360" y="4956048"/>
            <a:ext cx="10570464" cy="713232"/>
          </a:xfrm>
          <a:prstGeom prst="roundRect">
            <a:avLst/>
          </a:prstGeom>
          <a:solidFill>
            <a:srgbClr val="2A211E"/>
          </a:solidFill>
          <a:ln w="12700">
            <a:solidFill>
              <a:srgbClr val="FF8B5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4" name="Demo boundary text"/>
          <p:cNvSpPr txBox="1"/>
          <p:nvPr/>
        </p:nvSpPr>
        <p:spPr>
          <a:xfrm>
            <a:off x="822960" y="5120640"/>
            <a:ext cx="100584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20" b="1" dirty="0">
                <a:solidFill>
                  <a:srgbClr val="F4F0E6"/>
                </a:solidFill>
                <a:latin typeface="Arial"/>
              </a:rPr>
              <a:t>DO NOT FAKE LIVE  The presenter never mouths a command as if the browser sensed it.</a:t>
            </a:r>
            <a:endParaRPr lang="en-US" sz="1020"/>
          </a:p>
        </p:txBody>
      </p:sp>
      <p:sp>
        <p:nvSpPr>
          <p:cNvPr id="35" name="Source footer"/>
          <p:cNvSpPr txBox="1"/>
          <p:nvPr/>
        </p:nvSpPr>
        <p:spPr>
          <a:xfrm>
            <a:off x="566928" y="6510528"/>
            <a:ext cx="109728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0" dirty="0">
                <a:solidFill>
                  <a:srgbClr val="858B85"/>
                </a:solidFill>
                <a:latin typeface="Arial"/>
              </a:rPr>
              <a:t>CONCEPT / SIMULATED PIPELINE. All traces, scores, thresholds, timing and failures are authored.</a:t>
            </a:r>
            <a:endParaRPr lang="en-US" sz="61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7: External evidence shows a transfer gap.">
    <p:bg>
      <p:bgPr>
        <a:solidFill>
          <a:srgbClr val="101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16"/>
          </a:solidFill>
          <a:ln w="12700">
            <a:solidFill>
              <a:srgbClr val="10181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Accent line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FF8B5C"/>
          </a:solidFill>
          <a:ln w="12700">
            <a:solidFill>
              <a:srgbClr val="FF8B5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" name="Brand"/>
          <p:cNvSpPr txBox="1"/>
          <p:nvPr/>
        </p:nvSpPr>
        <p:spPr>
          <a:xfrm>
            <a:off x="411480" y="182880"/>
            <a:ext cx="51206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dirty="0">
                <a:solidFill>
                  <a:srgbClr val="5CD3BD"/>
                </a:solidFill>
                <a:latin typeface="Arial"/>
              </a:rPr>
              <a:t>QUIET CHANNEL LAB</a:t>
            </a:r>
            <a:endParaRPr lang="en-US" sz="900"/>
          </a:p>
        </p:txBody>
      </p:sp>
      <p:sp>
        <p:nvSpPr>
          <p:cNvPr id="5" name="Slide number"/>
          <p:cNvSpPr txBox="1"/>
          <p:nvPr/>
        </p:nvSpPr>
        <p:spPr>
          <a:xfrm>
            <a:off x="10561320" y="182880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dirty="0">
                <a:solidFill>
                  <a:srgbClr val="B8B7AD"/>
                </a:solidFill>
                <a:latin typeface="Arial"/>
              </a:rPr>
              <a:t>07 / 13</a:t>
            </a:r>
            <a:endParaRPr lang="en-US" sz="850"/>
          </a:p>
        </p:txBody>
      </p:sp>
      <p:sp>
        <p:nvSpPr>
          <p:cNvPr id="6" name="Title"/>
          <p:cNvSpPr txBox="1"/>
          <p:nvPr/>
        </p:nvSpPr>
        <p:spPr>
          <a:xfrm>
            <a:off x="566928" y="694944"/>
            <a:ext cx="1097280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dirty="0">
                <a:solidFill>
                  <a:srgbClr val="F4F0E6"/>
                </a:solidFill>
                <a:latin typeface="Arial"/>
              </a:rPr>
              <a:t>External evidence shows a transfer gap.</a:t>
            </a:r>
            <a:endParaRPr lang="en-US" sz="2850"/>
          </a:p>
        </p:txBody>
      </p:sp>
      <p:sp>
        <p:nvSpPr>
          <p:cNvPr id="7" name="Subtitle"/>
          <p:cNvSpPr txBox="1"/>
          <p:nvPr/>
        </p:nvSpPr>
        <p:spPr>
          <a:xfrm>
            <a:off x="594360" y="1417320"/>
            <a:ext cx="1069848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80" dirty="0">
                <a:solidFill>
                  <a:srgbClr val="B8B7AD"/>
                </a:solidFill>
                <a:latin typeface="Arial"/>
              </a:rPr>
              <a:t>We would rather show the gap than have diligence find it.</a:t>
            </a:r>
            <a:endParaRPr lang="en-US" sz="1280"/>
          </a:p>
        </p:txBody>
      </p:sp>
      <p:pic>
        <p:nvPicPr>
          <p:cNvPr id="8" name="evidence-gap.svg" descr="Original chart of external SilentWear transfer result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920240"/>
            <a:ext cx="6537960" cy="4160520"/>
          </a:xfrm>
          <a:prstGeom prst="rect">
            <a:avLst/>
          </a:prstGeom>
          <a:ln>
            <a:noFill/>
          </a:ln>
        </p:spPr>
      </p:pic>
      <p:sp>
        <p:nvSpPr>
          <p:cNvPr id="9" name="Native evidence values"/>
          <p:cNvSpPr txBox="1"/>
          <p:nvPr/>
        </p:nvSpPr>
        <p:spPr>
          <a:xfrm>
            <a:off x="868680" y="5870448"/>
            <a:ext cx="57150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90" b="1" dirty="0">
                <a:solidFill>
                  <a:srgbClr val="B8B7AD"/>
                </a:solidFill>
                <a:latin typeface="Arial"/>
              </a:rPr>
              <a:t>77.5±6.6% global CV  →  59.3±2.2% held-out session</a:t>
            </a:r>
            <a:endParaRPr lang="en-US" sz="790"/>
          </a:p>
        </p:txBody>
      </p:sp>
      <p:sp>
        <p:nvSpPr>
          <p:cNvPr id="10" name="Card 2.47 ms inference · 20.5 mW"/>
          <p:cNvSpPr/>
          <p:nvPr/>
        </p:nvSpPr>
        <p:spPr>
          <a:xfrm>
            <a:off x="7205472" y="1965960"/>
            <a:ext cx="4069080" cy="1097280"/>
          </a:xfrm>
          <a:prstGeom prst="roundRect">
            <a:avLst/>
          </a:prstGeom>
          <a:solidFill>
            <a:srgbClr val="1C2925"/>
          </a:solidFill>
          <a:ln w="12700">
            <a:solidFill>
              <a:srgbClr val="53665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Card accent 2.47 ms inference · 20.5 mW"/>
          <p:cNvSpPr/>
          <p:nvPr/>
        </p:nvSpPr>
        <p:spPr>
          <a:xfrm>
            <a:off x="7205472" y="1965960"/>
            <a:ext cx="54864" cy="1097280"/>
          </a:xfrm>
          <a:prstGeom prst="rect">
            <a:avLst/>
          </a:prstGeom>
          <a:solidFill>
            <a:srgbClr val="5CD3BD"/>
          </a:solidFill>
          <a:ln w="12700">
            <a:solidFill>
              <a:srgbClr val="5CD3B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Label 2.47 ms inference · 20.5 mW"/>
          <p:cNvSpPr txBox="1"/>
          <p:nvPr/>
        </p:nvSpPr>
        <p:spPr>
          <a:xfrm>
            <a:off x="7370064" y="2103120"/>
            <a:ext cx="3758184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0" b="1" dirty="0">
                <a:solidFill>
                  <a:srgbClr val="5CD3BD"/>
                </a:solidFill>
                <a:latin typeface="Arial"/>
              </a:rPr>
              <a:t>EXTERNAL EDGE RESULT</a:t>
            </a:r>
            <a:endParaRPr lang="en-US" sz="680"/>
          </a:p>
        </p:txBody>
      </p:sp>
      <p:sp>
        <p:nvSpPr>
          <p:cNvPr id="13" name="Card title 2.47 ms inference · 20.5 mW"/>
          <p:cNvSpPr txBox="1"/>
          <p:nvPr/>
        </p:nvSpPr>
        <p:spPr>
          <a:xfrm>
            <a:off x="7370064" y="2404872"/>
            <a:ext cx="3758184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dirty="0">
                <a:solidFill>
                  <a:srgbClr val="F4F0E6"/>
                </a:solidFill>
                <a:latin typeface="Arial"/>
              </a:rPr>
              <a:t>2.47 ms inference · 20.5 mW</a:t>
            </a:r>
            <a:endParaRPr lang="en-US" sz="1250"/>
          </a:p>
        </p:txBody>
      </p:sp>
      <p:sp>
        <p:nvSpPr>
          <p:cNvPr id="14" name="Card body 2.47 ms inference · 20.5 mW"/>
          <p:cNvSpPr txBox="1"/>
          <p:nvPr/>
        </p:nvSpPr>
        <p:spPr>
          <a:xfrm>
            <a:off x="7370064" y="2816352"/>
            <a:ext cx="3758184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B8B7AD"/>
                </a:solidFill>
                <a:latin typeface="Arial"/>
              </a:rPr>
              <a:t>27.1 h estimated with 150 mAh. Not complete latency.</a:t>
            </a:r>
            <a:endParaRPr lang="en-US" sz="900"/>
          </a:p>
        </p:txBody>
      </p:sp>
      <p:sp>
        <p:nvSpPr>
          <p:cNvPr id="15" name="Card 12.2% WER"/>
          <p:cNvSpPr/>
          <p:nvPr/>
        </p:nvSpPr>
        <p:spPr>
          <a:xfrm>
            <a:off x="7205472" y="3236976"/>
            <a:ext cx="4069080" cy="1097280"/>
          </a:xfrm>
          <a:prstGeom prst="roundRect">
            <a:avLst/>
          </a:prstGeom>
          <a:solidFill>
            <a:srgbClr val="1C2925"/>
          </a:solidFill>
          <a:ln w="12700">
            <a:solidFill>
              <a:srgbClr val="53665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" name="Card accent 12.2% WER"/>
          <p:cNvSpPr/>
          <p:nvPr/>
        </p:nvSpPr>
        <p:spPr>
          <a:xfrm>
            <a:off x="7205472" y="3236976"/>
            <a:ext cx="54864" cy="1097280"/>
          </a:xfrm>
          <a:prstGeom prst="rect">
            <a:avLst/>
          </a:prstGeom>
          <a:solidFill>
            <a:srgbClr val="DDEB79"/>
          </a:solidFill>
          <a:ln w="12700">
            <a:solidFill>
              <a:srgbClr val="DDEB7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Label 12.2% WER"/>
          <p:cNvSpPr txBox="1"/>
          <p:nvPr/>
        </p:nvSpPr>
        <p:spPr>
          <a:xfrm>
            <a:off x="7370064" y="3374136"/>
            <a:ext cx="3758184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0" b="1" dirty="0">
                <a:solidFill>
                  <a:srgbClr val="DDEB79"/>
                </a:solidFill>
                <a:latin typeface="Arial"/>
              </a:rPr>
              <a:t>OPEN VOCABULARY / PREPRINT</a:t>
            </a:r>
            <a:endParaRPr lang="en-US" sz="680"/>
          </a:p>
        </p:txBody>
      </p:sp>
      <p:sp>
        <p:nvSpPr>
          <p:cNvPr id="18" name="Card title 12.2% WER"/>
          <p:cNvSpPr txBox="1"/>
          <p:nvPr/>
        </p:nvSpPr>
        <p:spPr>
          <a:xfrm>
            <a:off x="7370064" y="3675888"/>
            <a:ext cx="3758184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dirty="0">
                <a:solidFill>
                  <a:srgbClr val="F4F0E6"/>
                </a:solidFill>
                <a:latin typeface="Arial"/>
              </a:rPr>
              <a:t>12.2% WER</a:t>
            </a:r>
            <a:endParaRPr lang="en-US" sz="1250"/>
          </a:p>
        </p:txBody>
      </p:sp>
      <p:sp>
        <p:nvSpPr>
          <p:cNvPr id="19" name="Card body 12.2% WER"/>
          <p:cNvSpPr txBox="1"/>
          <p:nvPr/>
        </p:nvSpPr>
        <p:spPr>
          <a:xfrm>
            <a:off x="7370064" y="4087368"/>
            <a:ext cx="3758184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B8B7AD"/>
                </a:solidFill>
                <a:latin typeface="Arial"/>
              </a:rPr>
              <a:t>Single-speaker Gaddy benchmark with LLM rescoring—not edge/cross-user.</a:t>
            </a:r>
            <a:endParaRPr lang="en-US" sz="900"/>
          </a:p>
        </p:txBody>
      </p:sp>
      <p:sp>
        <p:nvSpPr>
          <p:cNvPr id="20" name="Card Every project metric"/>
          <p:cNvSpPr/>
          <p:nvPr/>
        </p:nvSpPr>
        <p:spPr>
          <a:xfrm>
            <a:off x="7205472" y="4507992"/>
            <a:ext cx="4069080" cy="1097280"/>
          </a:xfrm>
          <a:prstGeom prst="roundRect">
            <a:avLst/>
          </a:prstGeom>
          <a:solidFill>
            <a:srgbClr val="2A211E"/>
          </a:solidFill>
          <a:ln w="12700">
            <a:solidFill>
              <a:srgbClr val="53665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Card accent Every project metric"/>
          <p:cNvSpPr/>
          <p:nvPr/>
        </p:nvSpPr>
        <p:spPr>
          <a:xfrm>
            <a:off x="7205472" y="4507992"/>
            <a:ext cx="54864" cy="1097280"/>
          </a:xfrm>
          <a:prstGeom prst="rect">
            <a:avLst/>
          </a:prstGeom>
          <a:solidFill>
            <a:srgbClr val="FF8B5C"/>
          </a:solidFill>
          <a:ln w="12700">
            <a:solidFill>
              <a:srgbClr val="FF8B5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" name="Label Every project metric"/>
          <p:cNvSpPr txBox="1"/>
          <p:nvPr/>
        </p:nvSpPr>
        <p:spPr>
          <a:xfrm>
            <a:off x="7370064" y="4645152"/>
            <a:ext cx="3758184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0" b="1" dirty="0">
                <a:solidFill>
                  <a:srgbClr val="FF8B5C"/>
                </a:solidFill>
                <a:latin typeface="Arial"/>
              </a:rPr>
              <a:t>MISSING HERE</a:t>
            </a:r>
            <a:endParaRPr lang="en-US" sz="680"/>
          </a:p>
        </p:txBody>
      </p:sp>
      <p:sp>
        <p:nvSpPr>
          <p:cNvPr id="23" name="Card title Every project metric"/>
          <p:cNvSpPr txBox="1"/>
          <p:nvPr/>
        </p:nvSpPr>
        <p:spPr>
          <a:xfrm>
            <a:off x="7370064" y="4946904"/>
            <a:ext cx="3758184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dirty="0">
                <a:solidFill>
                  <a:srgbClr val="F4F0E6"/>
                </a:solidFill>
                <a:latin typeface="Arial"/>
              </a:rPr>
              <a:t>Every project metric</a:t>
            </a:r>
            <a:endParaRPr lang="en-US" sz="1250"/>
          </a:p>
        </p:txBody>
      </p:sp>
      <p:sp>
        <p:nvSpPr>
          <p:cNvPr id="24" name="Card body Every project metric"/>
          <p:cNvSpPr txBox="1"/>
          <p:nvPr/>
        </p:nvSpPr>
        <p:spPr>
          <a:xfrm>
            <a:off x="7370064" y="5358384"/>
            <a:ext cx="3758184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B8B7AD"/>
                </a:solidFill>
                <a:latin typeface="Arial"/>
              </a:rPr>
              <a:t>Hardware · transfer · complete latency · comfort · Arabic · security · user value.</a:t>
            </a:r>
            <a:endParaRPr lang="en-US" sz="900"/>
          </a:p>
        </p:txBody>
      </p:sp>
      <p:sp>
        <p:nvSpPr>
          <p:cNvPr id="25" name="Source footer"/>
          <p:cNvSpPr txBox="1"/>
          <p:nvPr/>
        </p:nvSpPr>
        <p:spPr>
          <a:xfrm>
            <a:off x="566928" y="6510528"/>
            <a:ext cx="109728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0" dirty="0">
                <a:solidFill>
                  <a:srgbClr val="858B85"/>
                </a:solidFill>
                <a:latin typeface="Arial"/>
              </a:rPr>
              <a:t>SilentWear arXiv:2603.02847v2, preprint, n=4, 14 channels, 8 commands + rest. Not this project.</a:t>
            </a:r>
            <a:endParaRPr lang="en-US" sz="61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8: A lock. A data flow. A governance veto.">
    <p:bg>
      <p:bgPr>
        <a:solidFill>
          <a:srgbClr val="101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16"/>
          </a:solidFill>
          <a:ln w="12700">
            <a:solidFill>
              <a:srgbClr val="10181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Accent line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FF8B5C"/>
          </a:solidFill>
          <a:ln w="12700">
            <a:solidFill>
              <a:srgbClr val="FF8B5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" name="Brand"/>
          <p:cNvSpPr txBox="1"/>
          <p:nvPr/>
        </p:nvSpPr>
        <p:spPr>
          <a:xfrm>
            <a:off x="411480" y="182880"/>
            <a:ext cx="51206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dirty="0">
                <a:solidFill>
                  <a:srgbClr val="5CD3BD"/>
                </a:solidFill>
                <a:latin typeface="Arial"/>
              </a:rPr>
              <a:t>QUIET CHANNEL LAB</a:t>
            </a:r>
            <a:endParaRPr lang="en-US" sz="900"/>
          </a:p>
        </p:txBody>
      </p:sp>
      <p:sp>
        <p:nvSpPr>
          <p:cNvPr id="5" name="Slide number"/>
          <p:cNvSpPr txBox="1"/>
          <p:nvPr/>
        </p:nvSpPr>
        <p:spPr>
          <a:xfrm>
            <a:off x="10561320" y="182880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dirty="0">
                <a:solidFill>
                  <a:srgbClr val="B8B7AD"/>
                </a:solidFill>
                <a:latin typeface="Arial"/>
              </a:rPr>
              <a:t>08 / 13</a:t>
            </a:r>
            <a:endParaRPr lang="en-US" sz="850"/>
          </a:p>
        </p:txBody>
      </p:sp>
      <p:sp>
        <p:nvSpPr>
          <p:cNvPr id="6" name="Title"/>
          <p:cNvSpPr txBox="1"/>
          <p:nvPr/>
        </p:nvSpPr>
        <p:spPr>
          <a:xfrm>
            <a:off x="566928" y="694944"/>
            <a:ext cx="1097280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dirty="0">
                <a:solidFill>
                  <a:srgbClr val="F4F0E6"/>
                </a:solidFill>
                <a:latin typeface="Arial"/>
              </a:rPr>
              <a:t>A lock. A data flow. A governance veto.</a:t>
            </a:r>
            <a:endParaRPr lang="en-US" sz="2850"/>
          </a:p>
        </p:txBody>
      </p:sp>
      <p:sp>
        <p:nvSpPr>
          <p:cNvPr id="7" name="Subtitle"/>
          <p:cNvSpPr txBox="1"/>
          <p:nvPr/>
        </p:nvSpPr>
        <p:spPr>
          <a:xfrm>
            <a:off x="594360" y="1417320"/>
            <a:ext cx="1069848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80" dirty="0">
                <a:solidFill>
                  <a:srgbClr val="B8B7AD"/>
                </a:solidFill>
                <a:latin typeface="Arial"/>
              </a:rPr>
              <a:t>No-air-audio is not anonymity. Privacy requires purpose, minimization, access, deletion, confirmation and prohibited uses.</a:t>
            </a:r>
            <a:endParaRPr lang="en-US" sz="1280"/>
          </a:p>
        </p:txBody>
      </p:sp>
      <p:pic>
        <p:nvPicPr>
          <p:cNvPr id="8" name="privacy-flow.svg" descr="Original proposed privacy state machin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874520"/>
            <a:ext cx="4736592" cy="4407408"/>
          </a:xfrm>
          <a:prstGeom prst="rect">
            <a:avLst/>
          </a:prstGeom>
          <a:ln>
            <a:noFill/>
          </a:ln>
        </p:spPr>
      </p:pic>
      <p:sp>
        <p:nvSpPr>
          <p:cNvPr id="9" name="Card Voluntary + reviewed"/>
          <p:cNvSpPr/>
          <p:nvPr/>
        </p:nvSpPr>
        <p:spPr>
          <a:xfrm>
            <a:off x="594360" y="2103120"/>
            <a:ext cx="1847088" cy="2834640"/>
          </a:xfrm>
          <a:prstGeom prst="roundRect">
            <a:avLst/>
          </a:prstGeom>
          <a:solidFill>
            <a:srgbClr val="1C2925"/>
          </a:solidFill>
          <a:ln w="12700">
            <a:solidFill>
              <a:srgbClr val="53665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Card accent Voluntary + reviewed"/>
          <p:cNvSpPr/>
          <p:nvPr/>
        </p:nvSpPr>
        <p:spPr>
          <a:xfrm>
            <a:off x="594360" y="2103120"/>
            <a:ext cx="54864" cy="2834640"/>
          </a:xfrm>
          <a:prstGeom prst="rect">
            <a:avLst/>
          </a:prstGeom>
          <a:solidFill>
            <a:srgbClr val="5CD3BD"/>
          </a:solidFill>
          <a:ln w="12700">
            <a:solidFill>
              <a:srgbClr val="5CD3B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abel Voluntary + reviewed"/>
          <p:cNvSpPr txBox="1"/>
          <p:nvPr/>
        </p:nvSpPr>
        <p:spPr>
          <a:xfrm>
            <a:off x="758952" y="2240280"/>
            <a:ext cx="153619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0" b="1" dirty="0">
                <a:solidFill>
                  <a:srgbClr val="5CD3BD"/>
                </a:solidFill>
                <a:latin typeface="Arial"/>
              </a:rPr>
              <a:t>BEFORE COLLECTION</a:t>
            </a:r>
            <a:endParaRPr lang="en-US" sz="680"/>
          </a:p>
        </p:txBody>
      </p:sp>
      <p:sp>
        <p:nvSpPr>
          <p:cNvPr id="12" name="Card title Voluntary + reviewed"/>
          <p:cNvSpPr txBox="1"/>
          <p:nvPr/>
        </p:nvSpPr>
        <p:spPr>
          <a:xfrm>
            <a:off x="758952" y="2542032"/>
            <a:ext cx="1536192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dirty="0">
                <a:solidFill>
                  <a:srgbClr val="F4F0E6"/>
                </a:solidFill>
                <a:latin typeface="Arial"/>
              </a:rPr>
              <a:t>Voluntary + reviewed</a:t>
            </a:r>
            <a:endParaRPr lang="en-US" sz="1250"/>
          </a:p>
        </p:txBody>
      </p:sp>
      <p:sp>
        <p:nvSpPr>
          <p:cNvPr id="13" name="Card body Voluntary + reviewed"/>
          <p:cNvSpPr txBox="1"/>
          <p:nvPr/>
        </p:nvSpPr>
        <p:spPr>
          <a:xfrm>
            <a:off x="758952" y="2953512"/>
            <a:ext cx="1536192" cy="19019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B8B7AD"/>
                </a:solidFill>
                <a:latin typeface="Arial"/>
              </a:rPr>
              <a:t>Purpose-limited consent · non-biometric alternative · ethics/electrical/labor/jurisdiction review · separate calibration consent.</a:t>
            </a:r>
            <a:endParaRPr lang="en-US" sz="900"/>
          </a:p>
        </p:txBody>
      </p:sp>
      <p:sp>
        <p:nvSpPr>
          <p:cNvPr id="14" name="Card Lock + minimize"/>
          <p:cNvSpPr/>
          <p:nvPr/>
        </p:nvSpPr>
        <p:spPr>
          <a:xfrm>
            <a:off x="2615184" y="2103120"/>
            <a:ext cx="1847088" cy="2834640"/>
          </a:xfrm>
          <a:prstGeom prst="roundRect">
            <a:avLst/>
          </a:prstGeom>
          <a:solidFill>
            <a:srgbClr val="1C2925"/>
          </a:solidFill>
          <a:ln w="12700">
            <a:solidFill>
              <a:srgbClr val="53665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Card accent Lock + minimize"/>
          <p:cNvSpPr/>
          <p:nvPr/>
        </p:nvSpPr>
        <p:spPr>
          <a:xfrm>
            <a:off x="2615184" y="2103120"/>
            <a:ext cx="54864" cy="2834640"/>
          </a:xfrm>
          <a:prstGeom prst="rect">
            <a:avLst/>
          </a:prstGeom>
          <a:solidFill>
            <a:srgbClr val="DDEB79"/>
          </a:solidFill>
          <a:ln w="12700">
            <a:solidFill>
              <a:srgbClr val="DDEB7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" name="Label Lock + minimize"/>
          <p:cNvSpPr txBox="1"/>
          <p:nvPr/>
        </p:nvSpPr>
        <p:spPr>
          <a:xfrm>
            <a:off x="2779776" y="2240280"/>
            <a:ext cx="153619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0" b="1" dirty="0">
                <a:solidFill>
                  <a:srgbClr val="DDEB79"/>
                </a:solidFill>
                <a:latin typeface="Arial"/>
              </a:rPr>
              <a:t>SYSTEM TARGETS</a:t>
            </a:r>
            <a:endParaRPr lang="en-US" sz="680"/>
          </a:p>
        </p:txBody>
      </p:sp>
      <p:sp>
        <p:nvSpPr>
          <p:cNvPr id="17" name="Card title Lock + minimize"/>
          <p:cNvSpPr txBox="1"/>
          <p:nvPr/>
        </p:nvSpPr>
        <p:spPr>
          <a:xfrm>
            <a:off x="2779776" y="2542032"/>
            <a:ext cx="1536192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dirty="0">
                <a:solidFill>
                  <a:srgbClr val="F4F0E6"/>
                </a:solidFill>
                <a:latin typeface="Arial"/>
              </a:rPr>
              <a:t>Lock + minimize</a:t>
            </a:r>
            <a:endParaRPr lang="en-US" sz="1250"/>
          </a:p>
        </p:txBody>
      </p:sp>
      <p:sp>
        <p:nvSpPr>
          <p:cNvPr id="18" name="Card body Lock + minimize"/>
          <p:cNvSpPr txBox="1"/>
          <p:nvPr/>
        </p:nvSpPr>
        <p:spPr>
          <a:xfrm>
            <a:off x="2779776" y="2953512"/>
            <a:ext cx="1536192" cy="19019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B8B7AD"/>
                </a:solidFill>
                <a:latin typeface="Arial"/>
              </a:rPr>
              <a:t>Explicit lock · contact required · raw retention/egress off · least privilege · deletion · confirmation.</a:t>
            </a:r>
            <a:endParaRPr lang="en-US" sz="900"/>
          </a:p>
        </p:txBody>
      </p:sp>
      <p:sp>
        <p:nvSpPr>
          <p:cNvPr id="19" name="Card No surveillance"/>
          <p:cNvSpPr/>
          <p:nvPr/>
        </p:nvSpPr>
        <p:spPr>
          <a:xfrm>
            <a:off x="4636008" y="2103120"/>
            <a:ext cx="1847088" cy="2834640"/>
          </a:xfrm>
          <a:prstGeom prst="roundRect">
            <a:avLst/>
          </a:prstGeom>
          <a:solidFill>
            <a:srgbClr val="2A211E"/>
          </a:solidFill>
          <a:ln w="12700">
            <a:solidFill>
              <a:srgbClr val="53665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" name="Card accent No surveillance"/>
          <p:cNvSpPr/>
          <p:nvPr/>
        </p:nvSpPr>
        <p:spPr>
          <a:xfrm>
            <a:off x="4636008" y="2103120"/>
            <a:ext cx="54864" cy="2834640"/>
          </a:xfrm>
          <a:prstGeom prst="rect">
            <a:avLst/>
          </a:prstGeom>
          <a:solidFill>
            <a:srgbClr val="FF857E"/>
          </a:solidFill>
          <a:ln w="12700">
            <a:solidFill>
              <a:srgbClr val="FF857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Label No surveillance"/>
          <p:cNvSpPr txBox="1"/>
          <p:nvPr/>
        </p:nvSpPr>
        <p:spPr>
          <a:xfrm>
            <a:off x="4800600" y="2240280"/>
            <a:ext cx="153619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0" b="1" dirty="0">
                <a:solidFill>
                  <a:srgbClr val="FF857E"/>
                </a:solidFill>
                <a:latin typeface="Arial"/>
              </a:rPr>
              <a:t>PROHIBITED</a:t>
            </a:r>
            <a:endParaRPr lang="en-US" sz="680"/>
          </a:p>
        </p:txBody>
      </p:sp>
      <p:sp>
        <p:nvSpPr>
          <p:cNvPr id="22" name="Card title No surveillance"/>
          <p:cNvSpPr txBox="1"/>
          <p:nvPr/>
        </p:nvSpPr>
        <p:spPr>
          <a:xfrm>
            <a:off x="4800600" y="2542032"/>
            <a:ext cx="1536192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dirty="0">
                <a:solidFill>
                  <a:srgbClr val="F4F0E6"/>
                </a:solidFill>
                <a:latin typeface="Arial"/>
              </a:rPr>
              <a:t>No surveillance</a:t>
            </a:r>
            <a:endParaRPr lang="en-US" sz="1250"/>
          </a:p>
        </p:txBody>
      </p:sp>
      <p:sp>
        <p:nvSpPr>
          <p:cNvPr id="23" name="Card body No surveillance"/>
          <p:cNvSpPr txBox="1"/>
          <p:nvPr/>
        </p:nvSpPr>
        <p:spPr>
          <a:xfrm>
            <a:off x="4800600" y="2953512"/>
            <a:ext cx="1536192" cy="19019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B8B7AD"/>
                </a:solidFill>
                <a:latin typeface="Arial"/>
              </a:rPr>
              <a:t>Emotion/stress/engagement · productivity scoring · covert sensing · unrelated model training.</a:t>
            </a:r>
            <a:endParaRPr lang="en-US" sz="900"/>
          </a:p>
        </p:txBody>
      </p:sp>
      <p:sp>
        <p:nvSpPr>
          <p:cNvPr id="24" name="Source footer"/>
          <p:cNvSpPr txBox="1"/>
          <p:nvPr/>
        </p:nvSpPr>
        <p:spPr>
          <a:xfrm>
            <a:off x="566928" y="6510528"/>
            <a:ext cx="109728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0" dirty="0">
                <a:solidFill>
                  <a:srgbClr val="858B85"/>
                </a:solidFill>
                <a:latin typeface="Arial"/>
              </a:rPr>
              <a:t>UAE official PDPL page; EU Regulation 2024/1689 Art. 5(1)(f); NIST Privacy Framework.</a:t>
            </a:r>
            <a:endParaRPr lang="en-US" sz="61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9: Five categories. No borrowed validation.">
    <p:bg>
      <p:bgPr>
        <a:solidFill>
          <a:srgbClr val="101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16"/>
          </a:solidFill>
          <a:ln w="12700">
            <a:solidFill>
              <a:srgbClr val="10181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Accent line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FF8B5C"/>
          </a:solidFill>
          <a:ln w="12700">
            <a:solidFill>
              <a:srgbClr val="FF8B5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" name="Brand"/>
          <p:cNvSpPr txBox="1"/>
          <p:nvPr/>
        </p:nvSpPr>
        <p:spPr>
          <a:xfrm>
            <a:off x="411480" y="182880"/>
            <a:ext cx="51206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dirty="0">
                <a:solidFill>
                  <a:srgbClr val="5CD3BD"/>
                </a:solidFill>
                <a:latin typeface="Arial"/>
              </a:rPr>
              <a:t>QUIET CHANNEL LAB</a:t>
            </a:r>
            <a:endParaRPr lang="en-US" sz="900"/>
          </a:p>
        </p:txBody>
      </p:sp>
      <p:sp>
        <p:nvSpPr>
          <p:cNvPr id="5" name="Slide number"/>
          <p:cNvSpPr txBox="1"/>
          <p:nvPr/>
        </p:nvSpPr>
        <p:spPr>
          <a:xfrm>
            <a:off x="10561320" y="182880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dirty="0">
                <a:solidFill>
                  <a:srgbClr val="B8B7AD"/>
                </a:solidFill>
                <a:latin typeface="Arial"/>
              </a:rPr>
              <a:t>09 / 13</a:t>
            </a:r>
            <a:endParaRPr lang="en-US" sz="850"/>
          </a:p>
        </p:txBody>
      </p:sp>
      <p:sp>
        <p:nvSpPr>
          <p:cNvPr id="6" name="Title"/>
          <p:cNvSpPr txBox="1"/>
          <p:nvPr/>
        </p:nvSpPr>
        <p:spPr>
          <a:xfrm>
            <a:off x="566928" y="694944"/>
            <a:ext cx="1097280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dirty="0">
                <a:solidFill>
                  <a:srgbClr val="F4F0E6"/>
                </a:solidFill>
                <a:latin typeface="Arial"/>
              </a:rPr>
              <a:t>Five categories. No borrowed validation.</a:t>
            </a:r>
            <a:endParaRPr lang="en-US" sz="2850"/>
          </a:p>
        </p:txBody>
      </p:sp>
      <p:sp>
        <p:nvSpPr>
          <p:cNvPr id="7" name="Subtitle"/>
          <p:cNvSpPr txBox="1"/>
          <p:nvPr/>
        </p:nvSpPr>
        <p:spPr>
          <a:xfrm>
            <a:off x="594360" y="1417320"/>
            <a:ext cx="1069848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80" dirty="0">
                <a:solidFill>
                  <a:srgbClr val="B8B7AD"/>
                </a:solidFill>
                <a:latin typeface="Arial"/>
              </a:rPr>
              <a:t>Name the closest alternatives and distinguish papers, preprints, shipping gesture products, patents, assistive products and clinical research.</a:t>
            </a:r>
            <a:endParaRPr lang="en-US" sz="1280"/>
          </a:p>
        </p:txBody>
      </p:sp>
      <p:sp>
        <p:nvSpPr>
          <p:cNvPr id="8" name="Matrix header 1"/>
          <p:cNvSpPr txBox="1"/>
          <p:nvPr/>
        </p:nvSpPr>
        <p:spPr>
          <a:xfrm>
            <a:off x="640080" y="201168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40" b="1" dirty="0">
                <a:solidFill>
                  <a:srgbClr val="5CD3BD"/>
                </a:solidFill>
                <a:latin typeface="Arial"/>
              </a:rPr>
              <a:t>CATEGORY</a:t>
            </a:r>
            <a:endParaRPr lang="en-US" sz="740"/>
          </a:p>
        </p:txBody>
      </p:sp>
      <p:sp>
        <p:nvSpPr>
          <p:cNvPr id="9" name="Matrix header 2"/>
          <p:cNvSpPr txBox="1"/>
          <p:nvPr/>
        </p:nvSpPr>
        <p:spPr>
          <a:xfrm>
            <a:off x="2971800" y="2011680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40" b="1" dirty="0">
                <a:solidFill>
                  <a:srgbClr val="5CD3BD"/>
                </a:solidFill>
                <a:latin typeface="Arial"/>
              </a:rPr>
              <a:t>ACTUAL STATUS</a:t>
            </a:r>
            <a:endParaRPr lang="en-US" sz="740"/>
          </a:p>
        </p:txBody>
      </p:sp>
      <p:sp>
        <p:nvSpPr>
          <p:cNvPr id="10" name="Matrix header 3"/>
          <p:cNvSpPr txBox="1"/>
          <p:nvPr/>
        </p:nvSpPr>
        <p:spPr>
          <a:xfrm>
            <a:off x="7909560" y="201168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40" b="1" dirty="0">
                <a:solidFill>
                  <a:srgbClr val="5CD3BD"/>
                </a:solidFill>
                <a:latin typeface="Arial"/>
              </a:rPr>
              <a:t>BOUNDARY</a:t>
            </a:r>
            <a:endParaRPr lang="en-US" sz="740"/>
          </a:p>
        </p:txBody>
      </p:sp>
      <p:sp>
        <p:nvSpPr>
          <p:cNvPr id="11" name="Matrix row 1"/>
          <p:cNvSpPr/>
          <p:nvPr/>
        </p:nvSpPr>
        <p:spPr>
          <a:xfrm>
            <a:off x="594360" y="2359152"/>
            <a:ext cx="10561320" cy="566928"/>
          </a:xfrm>
          <a:prstGeom prst="rect">
            <a:avLst/>
          </a:prstGeom>
          <a:solidFill>
            <a:srgbClr val="1C2925"/>
          </a:solidFill>
          <a:ln w="12700">
            <a:solidFill>
              <a:srgbClr val="53665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Category 1"/>
          <p:cNvSpPr txBox="1"/>
          <p:nvPr/>
        </p:nvSpPr>
        <p:spPr>
          <a:xfrm>
            <a:off x="749808" y="2478024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0" b="1" dirty="0">
                <a:solidFill>
                  <a:srgbClr val="F4F0E6"/>
                </a:solidFill>
                <a:latin typeface="Arial"/>
              </a:rPr>
              <a:t>sEMG speech</a:t>
            </a:r>
            <a:endParaRPr lang="en-US" sz="870"/>
          </a:p>
        </p:txBody>
      </p:sp>
      <p:sp>
        <p:nvSpPr>
          <p:cNvPr id="13" name="Status 1"/>
          <p:cNvSpPr txBox="1"/>
          <p:nvPr/>
        </p:nvSpPr>
        <p:spPr>
          <a:xfrm>
            <a:off x="2971800" y="2478024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dirty="0">
                <a:solidFill>
                  <a:srgbClr val="B8B7AD"/>
                </a:solidFill>
                <a:latin typeface="Arial"/>
              </a:rPr>
              <a:t>Gaddy/Klein · SilentWear · AlterEgo lineage</a:t>
            </a:r>
            <a:endParaRPr lang="en-US" sz="850"/>
          </a:p>
        </p:txBody>
      </p:sp>
      <p:sp>
        <p:nvSpPr>
          <p:cNvPr id="14" name="Boundary 1"/>
          <p:cNvSpPr txBox="1"/>
          <p:nvPr/>
        </p:nvSpPr>
        <p:spPr>
          <a:xfrm>
            <a:off x="7909560" y="247802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dirty="0">
                <a:solidFill>
                  <a:srgbClr val="B8B7AD"/>
                </a:solidFill>
                <a:latin typeface="Arial"/>
              </a:rPr>
              <a:t>Closest modality; no transfer</a:t>
            </a:r>
            <a:endParaRPr lang="en-US" sz="850"/>
          </a:p>
        </p:txBody>
      </p:sp>
      <p:sp>
        <p:nvSpPr>
          <p:cNvPr id="15" name="Matrix row 2"/>
          <p:cNvSpPr/>
          <p:nvPr/>
        </p:nvSpPr>
        <p:spPr>
          <a:xfrm>
            <a:off x="594360" y="3017520"/>
            <a:ext cx="10561320" cy="566928"/>
          </a:xfrm>
          <a:prstGeom prst="rect">
            <a:avLst/>
          </a:prstGeom>
          <a:solidFill>
            <a:srgbClr val="22342E"/>
          </a:solidFill>
          <a:ln w="12700">
            <a:solidFill>
              <a:srgbClr val="53665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" name="Category 2"/>
          <p:cNvSpPr txBox="1"/>
          <p:nvPr/>
        </p:nvSpPr>
        <p:spPr>
          <a:xfrm>
            <a:off x="749808" y="3136392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0" b="1" dirty="0">
                <a:solidFill>
                  <a:srgbClr val="F4F0E6"/>
                </a:solidFill>
                <a:latin typeface="Arial"/>
              </a:rPr>
              <a:t>wrist sEMG</a:t>
            </a:r>
            <a:endParaRPr lang="en-US" sz="870"/>
          </a:p>
        </p:txBody>
      </p:sp>
      <p:sp>
        <p:nvSpPr>
          <p:cNvPr id="17" name="Status 2"/>
          <p:cNvSpPr txBox="1"/>
          <p:nvPr/>
        </p:nvSpPr>
        <p:spPr>
          <a:xfrm>
            <a:off x="2971800" y="3136392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dirty="0">
                <a:solidFill>
                  <a:srgbClr val="B8B7AD"/>
                </a:solidFill>
                <a:latin typeface="Arial"/>
              </a:rPr>
              <a:t>Meta shipping gesture/handwriting input</a:t>
            </a:r>
            <a:endParaRPr lang="en-US" sz="850"/>
          </a:p>
        </p:txBody>
      </p:sp>
      <p:sp>
        <p:nvSpPr>
          <p:cNvPr id="18" name="Boundary 2"/>
          <p:cNvSpPr txBox="1"/>
          <p:nvPr/>
        </p:nvSpPr>
        <p:spPr>
          <a:xfrm>
            <a:off x="7909560" y="3136392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dirty="0">
                <a:solidFill>
                  <a:srgbClr val="B8B7AD"/>
                </a:solidFill>
                <a:latin typeface="Arial"/>
              </a:rPr>
              <a:t>Not speech</a:t>
            </a:r>
            <a:endParaRPr lang="en-US" sz="850"/>
          </a:p>
        </p:txBody>
      </p:sp>
      <p:sp>
        <p:nvSpPr>
          <p:cNvPr id="19" name="Matrix row 3"/>
          <p:cNvSpPr/>
          <p:nvPr/>
        </p:nvSpPr>
        <p:spPr>
          <a:xfrm>
            <a:off x="594360" y="3675888"/>
            <a:ext cx="10561320" cy="566928"/>
          </a:xfrm>
          <a:prstGeom prst="rect">
            <a:avLst/>
          </a:prstGeom>
          <a:solidFill>
            <a:srgbClr val="1C2925"/>
          </a:solidFill>
          <a:ln w="12700">
            <a:solidFill>
              <a:srgbClr val="53665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" name="Category 3"/>
          <p:cNvSpPr txBox="1"/>
          <p:nvPr/>
        </p:nvSpPr>
        <p:spPr>
          <a:xfrm>
            <a:off x="749808" y="379476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0" b="1" dirty="0">
                <a:solidFill>
                  <a:srgbClr val="F4F0E6"/>
                </a:solidFill>
                <a:latin typeface="Arial"/>
              </a:rPr>
              <a:t>optical</a:t>
            </a:r>
            <a:endParaRPr lang="en-US" sz="870"/>
          </a:p>
        </p:txBody>
      </p:sp>
      <p:sp>
        <p:nvSpPr>
          <p:cNvPr id="21" name="Status 3"/>
          <p:cNvSpPr txBox="1"/>
          <p:nvPr/>
        </p:nvSpPr>
        <p:spPr>
          <a:xfrm>
            <a:off x="2971800" y="3794760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dirty="0">
                <a:solidFill>
                  <a:srgbClr val="B8B7AD"/>
                </a:solidFill>
                <a:latin typeface="Arial"/>
              </a:rPr>
              <a:t>Q Cue patent + acquisition context</a:t>
            </a:r>
            <a:endParaRPr lang="en-US" sz="850"/>
          </a:p>
        </p:txBody>
      </p:sp>
      <p:sp>
        <p:nvSpPr>
          <p:cNvPr id="22" name="Boundary 3"/>
          <p:cNvSpPr txBox="1"/>
          <p:nvPr/>
        </p:nvSpPr>
        <p:spPr>
          <a:xfrm>
            <a:off x="7909560" y="379476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dirty="0">
                <a:solidFill>
                  <a:srgbClr val="B8B7AD"/>
                </a:solidFill>
                <a:latin typeface="Arial"/>
              </a:rPr>
              <a:t>No released performance</a:t>
            </a:r>
            <a:endParaRPr lang="en-US" sz="850"/>
          </a:p>
        </p:txBody>
      </p:sp>
      <p:sp>
        <p:nvSpPr>
          <p:cNvPr id="23" name="Matrix row 4"/>
          <p:cNvSpPr/>
          <p:nvPr/>
        </p:nvSpPr>
        <p:spPr>
          <a:xfrm>
            <a:off x="594360" y="4334256"/>
            <a:ext cx="10561320" cy="566928"/>
          </a:xfrm>
          <a:prstGeom prst="rect">
            <a:avLst/>
          </a:prstGeom>
          <a:solidFill>
            <a:srgbClr val="22342E"/>
          </a:solidFill>
          <a:ln w="12700">
            <a:solidFill>
              <a:srgbClr val="53665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" name="Category 4"/>
          <p:cNvSpPr txBox="1"/>
          <p:nvPr/>
        </p:nvSpPr>
        <p:spPr>
          <a:xfrm>
            <a:off x="749808" y="445312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0" b="1" dirty="0">
                <a:solidFill>
                  <a:srgbClr val="F4F0E6"/>
                </a:solidFill>
                <a:latin typeface="Arial"/>
              </a:rPr>
              <a:t>ear/acoustic/IMU</a:t>
            </a:r>
            <a:endParaRPr lang="en-US" sz="870"/>
          </a:p>
        </p:txBody>
      </p:sp>
      <p:sp>
        <p:nvSpPr>
          <p:cNvPr id="25" name="Status 4"/>
          <p:cNvSpPr txBox="1"/>
          <p:nvPr/>
        </p:nvSpPr>
        <p:spPr>
          <a:xfrm>
            <a:off x="2971800" y="4453128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dirty="0">
                <a:solidFill>
                  <a:srgbClr val="B8B7AD"/>
                </a:solidFill>
                <a:latin typeface="Arial"/>
              </a:rPr>
              <a:t>EarCommand · EchoSpeech · MuteIt papers [R38–R40]</a:t>
            </a:r>
            <a:endParaRPr lang="en-US" sz="850"/>
          </a:p>
        </p:txBody>
      </p:sp>
      <p:sp>
        <p:nvSpPr>
          <p:cNvPr id="26" name="Boundary 4"/>
          <p:cNvSpPr txBox="1"/>
          <p:nvPr/>
        </p:nvSpPr>
        <p:spPr>
          <a:xfrm>
            <a:off x="7909560" y="4453128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dirty="0">
                <a:solidFill>
                  <a:srgbClr val="B8B7AD"/>
                </a:solidFill>
                <a:latin typeface="Arial"/>
              </a:rPr>
              <a:t>Different sensing/tasks</a:t>
            </a:r>
            <a:endParaRPr lang="en-US" sz="850"/>
          </a:p>
        </p:txBody>
      </p:sp>
      <p:sp>
        <p:nvSpPr>
          <p:cNvPr id="27" name="Matrix row 5"/>
          <p:cNvSpPr/>
          <p:nvPr/>
        </p:nvSpPr>
        <p:spPr>
          <a:xfrm>
            <a:off x="594360" y="4992624"/>
            <a:ext cx="10561320" cy="566928"/>
          </a:xfrm>
          <a:prstGeom prst="rect">
            <a:avLst/>
          </a:prstGeom>
          <a:solidFill>
            <a:srgbClr val="1C2925"/>
          </a:solidFill>
          <a:ln w="12700">
            <a:solidFill>
              <a:srgbClr val="53665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8" name="Category 5"/>
          <p:cNvSpPr txBox="1"/>
          <p:nvPr/>
        </p:nvSpPr>
        <p:spPr>
          <a:xfrm>
            <a:off x="749808" y="5111496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0" b="1" dirty="0">
                <a:solidFill>
                  <a:srgbClr val="F4F0E6"/>
                </a:solidFill>
                <a:latin typeface="Arial"/>
              </a:rPr>
              <a:t>assistive / implanted</a:t>
            </a:r>
            <a:endParaRPr lang="en-US" sz="870"/>
          </a:p>
        </p:txBody>
      </p:sp>
      <p:sp>
        <p:nvSpPr>
          <p:cNvPr id="29" name="Status 5"/>
          <p:cNvSpPr txBox="1"/>
          <p:nvPr/>
        </p:nvSpPr>
        <p:spPr>
          <a:xfrm>
            <a:off x="2971800" y="5111496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dirty="0">
                <a:solidFill>
                  <a:srgbClr val="B8B7AD"/>
                </a:solidFill>
                <a:latin typeface="Arial"/>
              </a:rPr>
              <a:t>Whispp company apps [R41] · AAC · clinical studies</a:t>
            </a:r>
            <a:endParaRPr lang="en-US" sz="850"/>
          </a:p>
        </p:txBody>
      </p:sp>
      <p:sp>
        <p:nvSpPr>
          <p:cNvPr id="30" name="Boundary 5"/>
          <p:cNvSpPr txBox="1"/>
          <p:nvPr/>
        </p:nvSpPr>
        <p:spPr>
          <a:xfrm>
            <a:off x="7909560" y="5111496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dirty="0">
                <a:solidFill>
                  <a:srgbClr val="B8B7AD"/>
                </a:solidFill>
                <a:latin typeface="Arial"/>
              </a:rPr>
              <a:t>Different intended use/status</a:t>
            </a:r>
            <a:endParaRPr lang="en-US" sz="850"/>
          </a:p>
        </p:txBody>
      </p:sp>
      <p:sp>
        <p:nvSpPr>
          <p:cNvPr id="31" name="Source footer"/>
          <p:cNvSpPr txBox="1"/>
          <p:nvPr/>
        </p:nvSpPr>
        <p:spPr>
          <a:xfrm>
            <a:off x="566928" y="6510528"/>
            <a:ext cx="109728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0" dirty="0">
                <a:solidFill>
                  <a:srgbClr val="858B85"/>
                </a:solidFill>
                <a:latin typeface="Arial"/>
              </a:rPr>
              <a:t>R03–R05, R21, R26–R31, R38–R41; research/competitors.md. Named-system conditions remain separate.</a:t>
            </a:r>
            <a:endParaRPr lang="en-US" sz="61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0: A Gulf bilingual corpus—governed before owned.">
    <p:bg>
      <p:bgPr>
        <a:solidFill>
          <a:srgbClr val="101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16"/>
          </a:solidFill>
          <a:ln w="12700">
            <a:solidFill>
              <a:srgbClr val="10181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Accent line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FF8B5C"/>
          </a:solidFill>
          <a:ln w="12700">
            <a:solidFill>
              <a:srgbClr val="FF8B5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" name="Brand"/>
          <p:cNvSpPr txBox="1"/>
          <p:nvPr/>
        </p:nvSpPr>
        <p:spPr>
          <a:xfrm>
            <a:off x="411480" y="182880"/>
            <a:ext cx="51206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dirty="0">
                <a:solidFill>
                  <a:srgbClr val="5CD3BD"/>
                </a:solidFill>
                <a:latin typeface="Arial"/>
              </a:rPr>
              <a:t>QUIET CHANNEL LAB</a:t>
            </a:r>
            <a:endParaRPr lang="en-US" sz="900"/>
          </a:p>
        </p:txBody>
      </p:sp>
      <p:sp>
        <p:nvSpPr>
          <p:cNvPr id="5" name="Slide number"/>
          <p:cNvSpPr txBox="1"/>
          <p:nvPr/>
        </p:nvSpPr>
        <p:spPr>
          <a:xfrm>
            <a:off x="10561320" y="182880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dirty="0">
                <a:solidFill>
                  <a:srgbClr val="B8B7AD"/>
                </a:solidFill>
                <a:latin typeface="Arial"/>
              </a:rPr>
              <a:t>10 / 13</a:t>
            </a:r>
            <a:endParaRPr lang="en-US" sz="850"/>
          </a:p>
        </p:txBody>
      </p:sp>
      <p:sp>
        <p:nvSpPr>
          <p:cNvPr id="6" name="Title"/>
          <p:cNvSpPr txBox="1"/>
          <p:nvPr/>
        </p:nvSpPr>
        <p:spPr>
          <a:xfrm>
            <a:off x="566928" y="694944"/>
            <a:ext cx="1097280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dirty="0">
                <a:solidFill>
                  <a:srgbClr val="F4F0E6"/>
                </a:solidFill>
                <a:latin typeface="Arial"/>
              </a:rPr>
              <a:t>A Gulf bilingual corpus—governed before owned.</a:t>
            </a:r>
            <a:endParaRPr lang="en-US" sz="2850"/>
          </a:p>
        </p:txBody>
      </p:sp>
      <p:sp>
        <p:nvSpPr>
          <p:cNvPr id="7" name="Subtitle"/>
          <p:cNvSpPr txBox="1"/>
          <p:nvPr/>
        </p:nvSpPr>
        <p:spPr>
          <a:xfrm>
            <a:off x="594360" y="1417320"/>
            <a:ext cx="1069848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80" dirty="0">
                <a:solidFill>
                  <a:srgbClr val="B8B7AD"/>
                </a:solidFill>
                <a:latin typeface="Arial"/>
              </a:rPr>
              <a:t>No public Arabic surface-EMG silent-speech corpus was identified in this bounded review; cited sEMG performance exemplars are English.</a:t>
            </a:r>
            <a:endParaRPr lang="en-US" sz="1280"/>
          </a:p>
        </p:txBody>
      </p:sp>
      <p:sp>
        <p:nvSpPr>
          <p:cNvPr id="8" name="Card Gaddy / SilentWear"/>
          <p:cNvSpPr/>
          <p:nvPr/>
        </p:nvSpPr>
        <p:spPr>
          <a:xfrm>
            <a:off x="594360" y="2103120"/>
            <a:ext cx="2542032" cy="2423160"/>
          </a:xfrm>
          <a:prstGeom prst="roundRect">
            <a:avLst/>
          </a:prstGeom>
          <a:solidFill>
            <a:srgbClr val="1C2925"/>
          </a:solidFill>
          <a:ln w="12700">
            <a:solidFill>
              <a:srgbClr val="53665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Card accent Gaddy / SilentWear"/>
          <p:cNvSpPr/>
          <p:nvPr/>
        </p:nvSpPr>
        <p:spPr>
          <a:xfrm>
            <a:off x="594360" y="2103120"/>
            <a:ext cx="54864" cy="2423160"/>
          </a:xfrm>
          <a:prstGeom prst="rect">
            <a:avLst/>
          </a:prstGeom>
          <a:solidFill>
            <a:srgbClr val="5CD3BD"/>
          </a:solidFill>
          <a:ln w="12700">
            <a:solidFill>
              <a:srgbClr val="5CD3B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Label Gaddy / SilentWear"/>
          <p:cNvSpPr txBox="1"/>
          <p:nvPr/>
        </p:nvSpPr>
        <p:spPr>
          <a:xfrm>
            <a:off x="758952" y="2240280"/>
            <a:ext cx="223113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0" b="1" dirty="0">
                <a:solidFill>
                  <a:srgbClr val="5CD3BD"/>
                </a:solidFill>
                <a:latin typeface="Arial"/>
              </a:rPr>
              <a:t>PERMISSIVE RECORDS</a:t>
            </a:r>
            <a:endParaRPr lang="en-US" sz="680"/>
          </a:p>
        </p:txBody>
      </p:sp>
      <p:sp>
        <p:nvSpPr>
          <p:cNvPr id="11" name="Card title Gaddy / SilentWear"/>
          <p:cNvSpPr txBox="1"/>
          <p:nvPr/>
        </p:nvSpPr>
        <p:spPr>
          <a:xfrm>
            <a:off x="758952" y="2542032"/>
            <a:ext cx="2231136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dirty="0">
                <a:solidFill>
                  <a:srgbClr val="F4F0E6"/>
                </a:solidFill>
                <a:latin typeface="Arial"/>
              </a:rPr>
              <a:t>Gaddy / SilentWear</a:t>
            </a:r>
            <a:endParaRPr lang="en-US" sz="1250"/>
          </a:p>
        </p:txBody>
      </p:sp>
      <p:sp>
        <p:nvSpPr>
          <p:cNvPr id="12" name="Card body Gaddy / SilentWear"/>
          <p:cNvSpPr txBox="1"/>
          <p:nvPr/>
        </p:nvSpPr>
        <p:spPr>
          <a:xfrm>
            <a:off x="758952" y="2953512"/>
            <a:ext cx="2231136" cy="1490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B8B7AD"/>
                </a:solidFill>
                <a:latin typeface="Arial"/>
              </a:rPr>
              <a:t>Gaddy code MIT; data record CC BY 4.0. SilentWear code Apache-2.0. Data/model/dependencies remain separate.</a:t>
            </a:r>
            <a:endParaRPr lang="en-US" sz="900"/>
          </a:p>
        </p:txBody>
      </p:sp>
      <p:sp>
        <p:nvSpPr>
          <p:cNvPr id="13" name="Card Meta terms"/>
          <p:cNvSpPr/>
          <p:nvPr/>
        </p:nvSpPr>
        <p:spPr>
          <a:xfrm>
            <a:off x="3273552" y="2103120"/>
            <a:ext cx="2542032" cy="2423160"/>
          </a:xfrm>
          <a:prstGeom prst="roundRect">
            <a:avLst/>
          </a:prstGeom>
          <a:solidFill>
            <a:srgbClr val="2A211E"/>
          </a:solidFill>
          <a:ln w="12700">
            <a:solidFill>
              <a:srgbClr val="53665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Card accent Meta terms"/>
          <p:cNvSpPr/>
          <p:nvPr/>
        </p:nvSpPr>
        <p:spPr>
          <a:xfrm>
            <a:off x="3273552" y="2103120"/>
            <a:ext cx="54864" cy="2423160"/>
          </a:xfrm>
          <a:prstGeom prst="rect">
            <a:avLst/>
          </a:prstGeom>
          <a:solidFill>
            <a:srgbClr val="FF8B5C"/>
          </a:solidFill>
          <a:ln w="12700">
            <a:solidFill>
              <a:srgbClr val="FF8B5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Label Meta terms"/>
          <p:cNvSpPr txBox="1"/>
          <p:nvPr/>
        </p:nvSpPr>
        <p:spPr>
          <a:xfrm>
            <a:off x="3438144" y="2240280"/>
            <a:ext cx="223113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0" b="1" dirty="0">
                <a:solidFill>
                  <a:srgbClr val="FF8B5C"/>
                </a:solidFill>
                <a:latin typeface="Arial"/>
              </a:rPr>
              <a:t>NOT COMMERCIAL INPUTS</a:t>
            </a:r>
            <a:endParaRPr lang="en-US" sz="680"/>
          </a:p>
        </p:txBody>
      </p:sp>
      <p:sp>
        <p:nvSpPr>
          <p:cNvPr id="16" name="Card title Meta terms"/>
          <p:cNvSpPr txBox="1"/>
          <p:nvPr/>
        </p:nvSpPr>
        <p:spPr>
          <a:xfrm>
            <a:off x="3438144" y="2542032"/>
            <a:ext cx="2231136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dirty="0">
                <a:solidFill>
                  <a:srgbClr val="F4F0E6"/>
                </a:solidFill>
                <a:latin typeface="Arial"/>
              </a:rPr>
              <a:t>Meta terms</a:t>
            </a:r>
            <a:endParaRPr lang="en-US" sz="1250"/>
          </a:p>
        </p:txBody>
      </p:sp>
      <p:sp>
        <p:nvSpPr>
          <p:cNvPr id="17" name="Card body Meta terms"/>
          <p:cNvSpPr txBox="1"/>
          <p:nvPr/>
        </p:nvSpPr>
        <p:spPr>
          <a:xfrm>
            <a:off x="3438144" y="2953512"/>
            <a:ext cx="2231136" cy="1490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B8B7AD"/>
                </a:solidFill>
                <a:latin typeface="Arial"/>
              </a:rPr>
              <a:t>Checked generic-neuromotor code CC BY-NC; emg2qwerty CC BY-NC-SA.</a:t>
            </a:r>
            <a:endParaRPr lang="en-US" sz="900"/>
          </a:p>
        </p:txBody>
      </p:sp>
      <p:sp>
        <p:nvSpPr>
          <p:cNvPr id="18" name="Card Named BCI repos"/>
          <p:cNvSpPr/>
          <p:nvPr/>
        </p:nvSpPr>
        <p:spPr>
          <a:xfrm>
            <a:off x="5952744" y="2103120"/>
            <a:ext cx="2542032" cy="2423160"/>
          </a:xfrm>
          <a:prstGeom prst="roundRect">
            <a:avLst/>
          </a:prstGeom>
          <a:solidFill>
            <a:srgbClr val="2A211E"/>
          </a:solidFill>
          <a:ln w="12700">
            <a:solidFill>
              <a:srgbClr val="53665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Card accent Named BCI repos"/>
          <p:cNvSpPr/>
          <p:nvPr/>
        </p:nvSpPr>
        <p:spPr>
          <a:xfrm>
            <a:off x="5952744" y="2103120"/>
            <a:ext cx="54864" cy="2423160"/>
          </a:xfrm>
          <a:prstGeom prst="rect">
            <a:avLst/>
          </a:prstGeom>
          <a:solidFill>
            <a:srgbClr val="FF857E"/>
          </a:solidFill>
          <a:ln w="12700">
            <a:solidFill>
              <a:srgbClr val="FF857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" name="Label Named BCI repos"/>
          <p:cNvSpPr txBox="1"/>
          <p:nvPr/>
        </p:nvSpPr>
        <p:spPr>
          <a:xfrm>
            <a:off x="6117336" y="2240280"/>
            <a:ext cx="223113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0" b="1" dirty="0">
                <a:solidFill>
                  <a:srgbClr val="FF857E"/>
                </a:solidFill>
                <a:latin typeface="Arial"/>
              </a:rPr>
              <a:t>NO LICENCE</a:t>
            </a:r>
            <a:endParaRPr lang="en-US" sz="680"/>
          </a:p>
        </p:txBody>
      </p:sp>
      <p:sp>
        <p:nvSpPr>
          <p:cNvPr id="21" name="Card title Named BCI repos"/>
          <p:cNvSpPr txBox="1"/>
          <p:nvPr/>
        </p:nvSpPr>
        <p:spPr>
          <a:xfrm>
            <a:off x="6117336" y="2542032"/>
            <a:ext cx="2231136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dirty="0">
                <a:solidFill>
                  <a:srgbClr val="F4F0E6"/>
                </a:solidFill>
                <a:latin typeface="Arial"/>
              </a:rPr>
              <a:t>Named BCI repos</a:t>
            </a:r>
            <a:endParaRPr lang="en-US" sz="1250"/>
          </a:p>
        </p:txBody>
      </p:sp>
      <p:sp>
        <p:nvSpPr>
          <p:cNvPr id="22" name="Card body Named BCI repos"/>
          <p:cNvSpPr txBox="1"/>
          <p:nvPr/>
        </p:nvSpPr>
        <p:spPr>
          <a:xfrm>
            <a:off x="6117336" y="2953512"/>
            <a:ext cx="2231136" cy="1490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B8B7AD"/>
                </a:solidFill>
                <a:latin typeface="Arial"/>
              </a:rPr>
              <a:t>Two checked implanted-BCI repositories have no root LICENSE file; no default reuse permission.</a:t>
            </a:r>
            <a:endParaRPr lang="en-US" sz="900"/>
          </a:p>
        </p:txBody>
      </p:sp>
      <p:sp>
        <p:nvSpPr>
          <p:cNvPr id="23" name="Card Governed corpus"/>
          <p:cNvSpPr/>
          <p:nvPr/>
        </p:nvSpPr>
        <p:spPr>
          <a:xfrm>
            <a:off x="8631936" y="2103120"/>
            <a:ext cx="2542032" cy="2423160"/>
          </a:xfrm>
          <a:prstGeom prst="roundRect">
            <a:avLst/>
          </a:prstGeom>
          <a:solidFill>
            <a:srgbClr val="1C2925"/>
          </a:solidFill>
          <a:ln w="12700">
            <a:solidFill>
              <a:srgbClr val="53665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" name="Card accent Governed corpus"/>
          <p:cNvSpPr/>
          <p:nvPr/>
        </p:nvSpPr>
        <p:spPr>
          <a:xfrm>
            <a:off x="8631936" y="2103120"/>
            <a:ext cx="54864" cy="2423160"/>
          </a:xfrm>
          <a:prstGeom prst="rect">
            <a:avLst/>
          </a:prstGeom>
          <a:solidFill>
            <a:srgbClr val="DDEB79"/>
          </a:solidFill>
          <a:ln w="12700">
            <a:solidFill>
              <a:srgbClr val="DDEB7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" name="Label Governed corpus"/>
          <p:cNvSpPr txBox="1"/>
          <p:nvPr/>
        </p:nvSpPr>
        <p:spPr>
          <a:xfrm>
            <a:off x="8796528" y="2240280"/>
            <a:ext cx="223113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0" b="1" dirty="0">
                <a:solidFill>
                  <a:srgbClr val="DDEB79"/>
                </a:solidFill>
                <a:latin typeface="Arial"/>
              </a:rPr>
              <a:t>RIGHTS BEFORE MOAT</a:t>
            </a:r>
            <a:endParaRPr lang="en-US" sz="680"/>
          </a:p>
        </p:txBody>
      </p:sp>
      <p:sp>
        <p:nvSpPr>
          <p:cNvPr id="26" name="Card title Governed corpus"/>
          <p:cNvSpPr txBox="1"/>
          <p:nvPr/>
        </p:nvSpPr>
        <p:spPr>
          <a:xfrm>
            <a:off x="8796528" y="2542032"/>
            <a:ext cx="2231136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dirty="0">
                <a:solidFill>
                  <a:srgbClr val="F4F0E6"/>
                </a:solidFill>
                <a:latin typeface="Arial"/>
              </a:rPr>
              <a:t>Governed corpus</a:t>
            </a:r>
            <a:endParaRPr lang="en-US" sz="1250"/>
          </a:p>
        </p:txBody>
      </p:sp>
      <p:sp>
        <p:nvSpPr>
          <p:cNvPr id="27" name="Card body Governed corpus"/>
          <p:cNvSpPr txBox="1"/>
          <p:nvPr/>
        </p:nvSpPr>
        <p:spPr>
          <a:xfrm>
            <a:off x="8796528" y="2953512"/>
            <a:ext cx="2231136" cy="1490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B8B7AD"/>
                </a:solidFill>
                <a:latin typeface="Arial"/>
              </a:rPr>
              <a:t>Native-user scope · consent · withdrawal/deletion · labor separation · security · no silent secondary use.</a:t>
            </a:r>
            <a:endParaRPr lang="en-US" sz="900"/>
          </a:p>
        </p:txBody>
      </p:sp>
      <p:sp>
        <p:nvSpPr>
          <p:cNvPr id="28" name="Corpus boundary"/>
          <p:cNvSpPr/>
          <p:nvPr/>
        </p:nvSpPr>
        <p:spPr>
          <a:xfrm>
            <a:off x="594360" y="4846320"/>
            <a:ext cx="10570464" cy="749808"/>
          </a:xfrm>
          <a:prstGeom prst="roundRect">
            <a:avLst/>
          </a:prstGeom>
          <a:solidFill>
            <a:srgbClr val="2A211E"/>
          </a:solidFill>
          <a:ln w="12700">
            <a:solidFill>
              <a:srgbClr val="FF8B5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9" name="Corpus boundary text"/>
          <p:cNvSpPr txBox="1"/>
          <p:nvPr/>
        </p:nvSpPr>
        <p:spPr>
          <a:xfrm>
            <a:off x="822960" y="5010912"/>
            <a:ext cx="100584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F4F0E6"/>
                </a:solidFill>
                <a:latin typeface="Arial"/>
              </a:rPr>
              <a:t>A CORPUS IS A LIABILITY-BEARING RESEARCH RECORD BEFORE IT IS A MOAT.</a:t>
            </a:r>
            <a:endParaRPr lang="en-US" sz="1100"/>
          </a:p>
        </p:txBody>
      </p:sp>
      <p:sp>
        <p:nvSpPr>
          <p:cNvPr id="30" name="Source footer"/>
          <p:cNvSpPr txBox="1"/>
          <p:nvPr/>
        </p:nvSpPr>
        <p:spPr>
          <a:xfrm>
            <a:off x="566928" y="6510528"/>
            <a:ext cx="109728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0" dirty="0">
                <a:solidFill>
                  <a:srgbClr val="858B85"/>
                </a:solidFill>
                <a:latin typeface="Arial"/>
              </a:rPr>
              <a:t>Bounded negative finding. Exact licences/revisions: C24–C26; R34–R37. No artifacts downloaded.</a:t>
            </a:r>
            <a:endParaRPr lang="en-US" sz="61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1: Operating value first. Strategic upside second.">
    <p:bg>
      <p:bgPr>
        <a:solidFill>
          <a:srgbClr val="101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16"/>
          </a:solidFill>
          <a:ln w="12700">
            <a:solidFill>
              <a:srgbClr val="10181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Accent line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FF8B5C"/>
          </a:solidFill>
          <a:ln w="12700">
            <a:solidFill>
              <a:srgbClr val="FF8B5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" name="Brand"/>
          <p:cNvSpPr txBox="1"/>
          <p:nvPr/>
        </p:nvSpPr>
        <p:spPr>
          <a:xfrm>
            <a:off x="411480" y="182880"/>
            <a:ext cx="51206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dirty="0">
                <a:solidFill>
                  <a:srgbClr val="5CD3BD"/>
                </a:solidFill>
                <a:latin typeface="Arial"/>
              </a:rPr>
              <a:t>QUIET CHANNEL LAB</a:t>
            </a:r>
            <a:endParaRPr lang="en-US" sz="900"/>
          </a:p>
        </p:txBody>
      </p:sp>
      <p:sp>
        <p:nvSpPr>
          <p:cNvPr id="5" name="Slide number"/>
          <p:cNvSpPr txBox="1"/>
          <p:nvPr/>
        </p:nvSpPr>
        <p:spPr>
          <a:xfrm>
            <a:off x="10561320" y="182880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dirty="0">
                <a:solidFill>
                  <a:srgbClr val="B8B7AD"/>
                </a:solidFill>
                <a:latin typeface="Arial"/>
              </a:rPr>
              <a:t>11 / 13</a:t>
            </a:r>
            <a:endParaRPr lang="en-US" sz="850"/>
          </a:p>
        </p:txBody>
      </p:sp>
      <p:sp>
        <p:nvSpPr>
          <p:cNvPr id="6" name="Title"/>
          <p:cNvSpPr txBox="1"/>
          <p:nvPr/>
        </p:nvSpPr>
        <p:spPr>
          <a:xfrm>
            <a:off x="566928" y="694944"/>
            <a:ext cx="1097280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dirty="0">
                <a:solidFill>
                  <a:srgbClr val="F4F0E6"/>
                </a:solidFill>
                <a:latin typeface="Arial"/>
              </a:rPr>
              <a:t>Operating value first. Strategic upside second.</a:t>
            </a:r>
            <a:endParaRPr lang="en-US" sz="2850"/>
          </a:p>
        </p:txBody>
      </p:sp>
      <p:sp>
        <p:nvSpPr>
          <p:cNvPr id="7" name="Subtitle"/>
          <p:cNvSpPr txBox="1"/>
          <p:nvPr/>
        </p:nvSpPr>
        <p:spPr>
          <a:xfrm>
            <a:off x="594360" y="1417320"/>
            <a:ext cx="1069848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80" dirty="0">
                <a:solidFill>
                  <a:srgbClr val="B8B7AD"/>
                </a:solidFill>
                <a:latin typeface="Arial"/>
              </a:rPr>
              <a:t>Lead: fixed-fee 90-day pilot, then per-seat annual deployment only if evidence gates pass. IP/data funding and acquisition/exit optionality are unpriced upside.</a:t>
            </a:r>
            <a:endParaRPr lang="en-US" sz="1280"/>
          </a:p>
        </p:txBody>
      </p:sp>
      <p:sp>
        <p:nvSpPr>
          <p:cNvPr id="8" name="Pilot price"/>
          <p:cNvSpPr/>
          <p:nvPr/>
        </p:nvSpPr>
        <p:spPr>
          <a:xfrm>
            <a:off x="594360" y="2103120"/>
            <a:ext cx="3063240" cy="3337560"/>
          </a:xfrm>
          <a:prstGeom prst="roundRect">
            <a:avLst/>
          </a:prstGeom>
          <a:solidFill>
            <a:srgbClr val="2A211E"/>
          </a:solidFill>
          <a:ln w="12700">
            <a:solidFill>
              <a:srgbClr val="FF8B5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Pilot label"/>
          <p:cNvSpPr txBox="1"/>
          <p:nvPr/>
        </p:nvSpPr>
        <p:spPr>
          <a:xfrm>
            <a:off x="868680" y="2423160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0" b="1" dirty="0">
                <a:solidFill>
                  <a:srgbClr val="FF8B5C"/>
                </a:solidFill>
                <a:latin typeface="Arial"/>
              </a:rPr>
              <a:t>FIXED 90-DAY PILOT</a:t>
            </a:r>
            <a:endParaRPr lang="en-US" sz="820"/>
          </a:p>
        </p:txBody>
      </p:sp>
      <p:sp>
        <p:nvSpPr>
          <p:cNvPr id="10" name="Pilot amount"/>
          <p:cNvSpPr txBox="1"/>
          <p:nvPr/>
        </p:nvSpPr>
        <p:spPr>
          <a:xfrm>
            <a:off x="804672" y="2926080"/>
            <a:ext cx="265176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dirty="0">
                <a:solidFill>
                  <a:srgbClr val="FF8B5C"/>
                </a:solidFill>
                <a:latin typeface="Arial"/>
              </a:rPr>
              <a:t>AED 1M</a:t>
            </a:r>
            <a:endParaRPr lang="en-US" sz="3150"/>
          </a:p>
        </p:txBody>
      </p:sp>
      <p:sp>
        <p:nvSpPr>
          <p:cNvPr id="11" name="Pilot boundary"/>
          <p:cNvSpPr txBox="1"/>
          <p:nvPr/>
        </p:nvSpPr>
        <p:spPr>
          <a:xfrm>
            <a:off x="868680" y="3840480"/>
            <a:ext cx="251460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20" dirty="0">
                <a:solidFill>
                  <a:srgbClr val="B8B7AD"/>
                </a:solidFill>
                <a:latin typeface="Arial"/>
              </a:rPr>
              <a:t>Captain-approved fee only—not annual pricing, strategic funding, valuation or exit value.</a:t>
            </a:r>
            <a:endParaRPr lang="en-US" sz="920"/>
          </a:p>
        </p:txBody>
      </p:sp>
      <p:sp>
        <p:nvSpPr>
          <p:cNvPr id="12" name="Card Pilot → annual seats"/>
          <p:cNvSpPr/>
          <p:nvPr/>
        </p:nvSpPr>
        <p:spPr>
          <a:xfrm>
            <a:off x="3977640" y="2103120"/>
            <a:ext cx="3401568" cy="1325880"/>
          </a:xfrm>
          <a:prstGeom prst="roundRect">
            <a:avLst/>
          </a:prstGeom>
          <a:solidFill>
            <a:srgbClr val="1C2925"/>
          </a:solidFill>
          <a:ln w="12700">
            <a:solidFill>
              <a:srgbClr val="53665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Card accent Pilot → annual seats"/>
          <p:cNvSpPr/>
          <p:nvPr/>
        </p:nvSpPr>
        <p:spPr>
          <a:xfrm>
            <a:off x="3977640" y="2103120"/>
            <a:ext cx="54864" cy="1325880"/>
          </a:xfrm>
          <a:prstGeom prst="rect">
            <a:avLst/>
          </a:prstGeom>
          <a:solidFill>
            <a:srgbClr val="5CD3BD"/>
          </a:solidFill>
          <a:ln w="12700">
            <a:solidFill>
              <a:srgbClr val="5CD3B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Label Pilot → annual seats"/>
          <p:cNvSpPr txBox="1"/>
          <p:nvPr/>
        </p:nvSpPr>
        <p:spPr>
          <a:xfrm>
            <a:off x="4142232" y="2240280"/>
            <a:ext cx="309067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0" b="1" dirty="0">
                <a:solidFill>
                  <a:srgbClr val="5CD3BD"/>
                </a:solidFill>
                <a:latin typeface="Arial"/>
              </a:rPr>
              <a:t>LEAD PATH</a:t>
            </a:r>
            <a:endParaRPr lang="en-US" sz="680"/>
          </a:p>
        </p:txBody>
      </p:sp>
      <p:sp>
        <p:nvSpPr>
          <p:cNvPr id="15" name="Card title Pilot → annual seats"/>
          <p:cNvSpPr txBox="1"/>
          <p:nvPr/>
        </p:nvSpPr>
        <p:spPr>
          <a:xfrm>
            <a:off x="4142232" y="2542032"/>
            <a:ext cx="3090672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dirty="0">
                <a:solidFill>
                  <a:srgbClr val="F4F0E6"/>
                </a:solidFill>
                <a:latin typeface="Arial"/>
              </a:rPr>
              <a:t>Pilot → annual seats</a:t>
            </a:r>
            <a:endParaRPr lang="en-US" sz="1250"/>
          </a:p>
        </p:txBody>
      </p:sp>
      <p:sp>
        <p:nvSpPr>
          <p:cNvPr id="16" name="Card body Pilot → annual seats"/>
          <p:cNvSpPr txBox="1"/>
          <p:nvPr/>
        </p:nvSpPr>
        <p:spPr>
          <a:xfrm>
            <a:off x="4142232" y="2953512"/>
            <a:ext cx="3090672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B8B7AD"/>
                </a:solidFill>
                <a:latin typeface="Arial"/>
              </a:rPr>
              <a:t>Per-seat annual price TBD; only after evidence gates and operating economics.</a:t>
            </a:r>
            <a:endParaRPr lang="en-US" sz="900"/>
          </a:p>
        </p:txBody>
      </p:sp>
      <p:sp>
        <p:nvSpPr>
          <p:cNvPr id="17" name="Card IP + governed corpus"/>
          <p:cNvSpPr/>
          <p:nvPr/>
        </p:nvSpPr>
        <p:spPr>
          <a:xfrm>
            <a:off x="3977640" y="3675888"/>
            <a:ext cx="3401568" cy="1325880"/>
          </a:xfrm>
          <a:prstGeom prst="roundRect">
            <a:avLst/>
          </a:prstGeom>
          <a:solidFill>
            <a:srgbClr val="1C2925"/>
          </a:solidFill>
          <a:ln w="12700">
            <a:solidFill>
              <a:srgbClr val="53665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Card accent IP + governed corpus"/>
          <p:cNvSpPr/>
          <p:nvPr/>
        </p:nvSpPr>
        <p:spPr>
          <a:xfrm>
            <a:off x="3977640" y="3675888"/>
            <a:ext cx="54864" cy="1325880"/>
          </a:xfrm>
          <a:prstGeom prst="rect">
            <a:avLst/>
          </a:prstGeom>
          <a:solidFill>
            <a:srgbClr val="DDEB79"/>
          </a:solidFill>
          <a:ln w="12700">
            <a:solidFill>
              <a:srgbClr val="DDEB7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Label IP + governed corpus"/>
          <p:cNvSpPr txBox="1"/>
          <p:nvPr/>
        </p:nvSpPr>
        <p:spPr>
          <a:xfrm>
            <a:off x="4142232" y="3813048"/>
            <a:ext cx="309067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0" b="1" dirty="0">
                <a:solidFill>
                  <a:srgbClr val="DDEB79"/>
                </a:solidFill>
                <a:latin typeface="Arial"/>
              </a:rPr>
              <a:t>STRATEGIC UPSIDE / UNPRICED</a:t>
            </a:r>
            <a:endParaRPr lang="en-US" sz="680"/>
          </a:p>
        </p:txBody>
      </p:sp>
      <p:sp>
        <p:nvSpPr>
          <p:cNvPr id="20" name="Card title IP + governed corpus"/>
          <p:cNvSpPr txBox="1"/>
          <p:nvPr/>
        </p:nvSpPr>
        <p:spPr>
          <a:xfrm>
            <a:off x="4142232" y="4114800"/>
            <a:ext cx="3090672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dirty="0">
                <a:solidFill>
                  <a:srgbClr val="F4F0E6"/>
                </a:solidFill>
                <a:latin typeface="Arial"/>
              </a:rPr>
              <a:t>IP + governed corpus</a:t>
            </a:r>
            <a:endParaRPr lang="en-US" sz="1250"/>
          </a:p>
        </p:txBody>
      </p:sp>
      <p:sp>
        <p:nvSpPr>
          <p:cNvPr id="21" name="Card body IP + governed corpus"/>
          <p:cNvSpPr txBox="1"/>
          <p:nvPr/>
        </p:nvSpPr>
        <p:spPr>
          <a:xfrm>
            <a:off x="4142232" y="4526280"/>
            <a:ext cx="3090672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B8B7AD"/>
                </a:solidFill>
                <a:latin typeface="Arial"/>
              </a:rPr>
              <a:t>e&amp; may fund and negotiate foreground ownership; participant/data rights remain.</a:t>
            </a:r>
            <a:endParaRPr lang="en-US" sz="900"/>
          </a:p>
        </p:txBody>
      </p:sp>
      <p:sp>
        <p:nvSpPr>
          <p:cNvPr id="22" name="Card Acquisition is optionality"/>
          <p:cNvSpPr/>
          <p:nvPr/>
        </p:nvSpPr>
        <p:spPr>
          <a:xfrm>
            <a:off x="7699248" y="2103120"/>
            <a:ext cx="3401568" cy="2898648"/>
          </a:xfrm>
          <a:prstGeom prst="roundRect">
            <a:avLst/>
          </a:prstGeom>
          <a:solidFill>
            <a:srgbClr val="2A211E"/>
          </a:solidFill>
          <a:ln w="12700">
            <a:solidFill>
              <a:srgbClr val="53665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" name="Card accent Acquisition is optionality"/>
          <p:cNvSpPr/>
          <p:nvPr/>
        </p:nvSpPr>
        <p:spPr>
          <a:xfrm>
            <a:off x="7699248" y="2103120"/>
            <a:ext cx="54864" cy="2898648"/>
          </a:xfrm>
          <a:prstGeom prst="rect">
            <a:avLst/>
          </a:prstGeom>
          <a:solidFill>
            <a:srgbClr val="FF8B5C"/>
          </a:solidFill>
          <a:ln w="12700">
            <a:solidFill>
              <a:srgbClr val="FF8B5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" name="Label Acquisition is optionality"/>
          <p:cNvSpPr txBox="1"/>
          <p:nvPr/>
        </p:nvSpPr>
        <p:spPr>
          <a:xfrm>
            <a:off x="7863840" y="2240280"/>
            <a:ext cx="309067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0" b="1" dirty="0">
                <a:solidFill>
                  <a:srgbClr val="FF8B5C"/>
                </a:solidFill>
                <a:latin typeface="Arial"/>
              </a:rPr>
              <a:t>NOT A RETURN FORECAST</a:t>
            </a:r>
            <a:endParaRPr lang="en-US" sz="680"/>
          </a:p>
        </p:txBody>
      </p:sp>
      <p:sp>
        <p:nvSpPr>
          <p:cNvPr id="25" name="Card title Acquisition is optionality"/>
          <p:cNvSpPr txBox="1"/>
          <p:nvPr/>
        </p:nvSpPr>
        <p:spPr>
          <a:xfrm>
            <a:off x="7863840" y="2542032"/>
            <a:ext cx="3090672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dirty="0">
                <a:solidFill>
                  <a:srgbClr val="F4F0E6"/>
                </a:solidFill>
                <a:latin typeface="Arial"/>
              </a:rPr>
              <a:t>Acquisition is optionality</a:t>
            </a:r>
            <a:endParaRPr lang="en-US" sz="1250"/>
          </a:p>
        </p:txBody>
      </p:sp>
      <p:sp>
        <p:nvSpPr>
          <p:cNvPr id="26" name="Card body Acquisition is optionality"/>
          <p:cNvSpPr txBox="1"/>
          <p:nvPr/>
        </p:nvSpPr>
        <p:spPr>
          <a:xfrm>
            <a:off x="7863840" y="2953512"/>
            <a:ext cx="3090672" cy="1965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B8B7AD"/>
                </a:solidFill>
                <a:latin typeface="Arial"/>
              </a:rPr>
              <a:t>No valuation, strategic amount or exit amount. Pilot evidence is never replaced by corporate narrative.</a:t>
            </a:r>
            <a:endParaRPr lang="en-US" sz="900"/>
          </a:p>
        </p:txBody>
      </p:sp>
      <p:sp>
        <p:nvSpPr>
          <p:cNvPr id="27" name="Source footer"/>
          <p:cNvSpPr txBox="1"/>
          <p:nvPr/>
        </p:nvSpPr>
        <p:spPr>
          <a:xfrm>
            <a:off x="566928" y="6510528"/>
            <a:ext cx="109728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0" dirty="0">
                <a:solidFill>
                  <a:srgbClr val="858B85"/>
                </a:solidFill>
                <a:latin typeface="Arial"/>
              </a:rPr>
              <a:t>Captain decision. AED 1M applies only to the 90-day pilot; later prices and amounts are TBD.</a:t>
            </a:r>
            <a:endParaRPr lang="en-US" sz="61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2: Fund a 90-day decision—not an enclosure.">
    <p:bg>
      <p:bgPr>
        <a:solidFill>
          <a:srgbClr val="101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16"/>
          </a:solidFill>
          <a:ln w="12700">
            <a:solidFill>
              <a:srgbClr val="10181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Accent line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FF8B5C"/>
          </a:solidFill>
          <a:ln w="12700">
            <a:solidFill>
              <a:srgbClr val="FF8B5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" name="Brand"/>
          <p:cNvSpPr txBox="1"/>
          <p:nvPr/>
        </p:nvSpPr>
        <p:spPr>
          <a:xfrm>
            <a:off x="411480" y="182880"/>
            <a:ext cx="51206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dirty="0">
                <a:solidFill>
                  <a:srgbClr val="5CD3BD"/>
                </a:solidFill>
                <a:latin typeface="Arial"/>
              </a:rPr>
              <a:t>QUIET CHANNEL LAB</a:t>
            </a:r>
            <a:endParaRPr lang="en-US" sz="900"/>
          </a:p>
        </p:txBody>
      </p:sp>
      <p:sp>
        <p:nvSpPr>
          <p:cNvPr id="5" name="Slide number"/>
          <p:cNvSpPr txBox="1"/>
          <p:nvPr/>
        </p:nvSpPr>
        <p:spPr>
          <a:xfrm>
            <a:off x="10561320" y="182880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dirty="0">
                <a:solidFill>
                  <a:srgbClr val="B8B7AD"/>
                </a:solidFill>
                <a:latin typeface="Arial"/>
              </a:rPr>
              <a:t>12 / 13</a:t>
            </a:r>
            <a:endParaRPr lang="en-US" sz="850"/>
          </a:p>
        </p:txBody>
      </p:sp>
      <p:sp>
        <p:nvSpPr>
          <p:cNvPr id="6" name="Title"/>
          <p:cNvSpPr txBox="1"/>
          <p:nvPr/>
        </p:nvSpPr>
        <p:spPr>
          <a:xfrm>
            <a:off x="566928" y="694944"/>
            <a:ext cx="1097280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dirty="0">
                <a:solidFill>
                  <a:srgbClr val="F4F0E6"/>
                </a:solidFill>
                <a:latin typeface="Arial"/>
              </a:rPr>
              <a:t>Fund a 90-day decision—not an enclosure.</a:t>
            </a:r>
            <a:endParaRPr lang="en-US" sz="2850"/>
          </a:p>
        </p:txBody>
      </p:sp>
      <p:sp>
        <p:nvSpPr>
          <p:cNvPr id="7" name="Subtitle"/>
          <p:cNvSpPr txBox="1"/>
          <p:nvPr/>
        </p:nvSpPr>
        <p:spPr>
          <a:xfrm>
            <a:off x="594360" y="1417320"/>
            <a:ext cx="1069848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80" dirty="0">
                <a:solidFill>
                  <a:srgbClr val="B8B7AD"/>
                </a:solidFill>
                <a:latin typeface="Arial"/>
              </a:rPr>
              <a:t>AED 1,000,000 fixed fee for a gated pilot with an explicit go / change / stop report.</a:t>
            </a:r>
            <a:endParaRPr lang="en-US" sz="1280"/>
          </a:p>
        </p:txBody>
      </p:sp>
      <p:sp>
        <p:nvSpPr>
          <p:cNvPr id="8" name="Ask amount"/>
          <p:cNvSpPr/>
          <p:nvPr/>
        </p:nvSpPr>
        <p:spPr>
          <a:xfrm>
            <a:off x="594360" y="2039112"/>
            <a:ext cx="3703320" cy="3584448"/>
          </a:xfrm>
          <a:prstGeom prst="roundRect">
            <a:avLst/>
          </a:prstGeom>
          <a:solidFill>
            <a:srgbClr val="2A211E"/>
          </a:solidFill>
          <a:ln w="12700">
            <a:solidFill>
              <a:srgbClr val="FF8B5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Ask label"/>
          <p:cNvSpPr txBox="1"/>
          <p:nvPr/>
        </p:nvSpPr>
        <p:spPr>
          <a:xfrm>
            <a:off x="868680" y="2423160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dirty="0">
                <a:solidFill>
                  <a:srgbClr val="FF8B5C"/>
                </a:solidFill>
                <a:latin typeface="Arial"/>
              </a:rPr>
              <a:t>FIXED FEE · 90 DAYS</a:t>
            </a:r>
            <a:endParaRPr lang="en-US" sz="850"/>
          </a:p>
        </p:txBody>
      </p:sp>
      <p:sp>
        <p:nvSpPr>
          <p:cNvPr id="10" name="Ask amount text"/>
          <p:cNvSpPr txBox="1"/>
          <p:nvPr/>
        </p:nvSpPr>
        <p:spPr>
          <a:xfrm>
            <a:off x="749808" y="2944368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 b="1" dirty="0">
                <a:solidFill>
                  <a:srgbClr val="FF8B5C"/>
                </a:solidFill>
                <a:latin typeface="Arial"/>
              </a:rPr>
              <a:t>AED 1,000,000</a:t>
            </a:r>
            <a:endParaRPr lang="en-US" sz="2450"/>
          </a:p>
        </p:txBody>
      </p:sp>
      <p:sp>
        <p:nvSpPr>
          <p:cNvPr id="11" name="Ask boundary"/>
          <p:cNvSpPr txBox="1"/>
          <p:nvPr/>
        </p:nvSpPr>
        <p:spPr>
          <a:xfrm>
            <a:off x="932688" y="3840480"/>
            <a:ext cx="301752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20" dirty="0">
                <a:solidFill>
                  <a:srgbClr val="B8B7AD"/>
                </a:solidFill>
                <a:latin typeface="Arial"/>
              </a:rPr>
              <a:t>One gated go / change / stop report. Later per-seat pricing, strategic funding and acquisition/exit amounts: TBD.</a:t>
            </a:r>
            <a:endParaRPr lang="en-US" sz="1020"/>
          </a:p>
        </p:txBody>
      </p:sp>
      <p:sp>
        <p:nvSpPr>
          <p:cNvPr id="12" name="Card Name accountability"/>
          <p:cNvSpPr/>
          <p:nvPr/>
        </p:nvSpPr>
        <p:spPr>
          <a:xfrm>
            <a:off x="4617720" y="2039112"/>
            <a:ext cx="3063240" cy="1444752"/>
          </a:xfrm>
          <a:prstGeom prst="roundRect">
            <a:avLst/>
          </a:prstGeom>
          <a:solidFill>
            <a:srgbClr val="1C2925"/>
          </a:solidFill>
          <a:ln w="12700">
            <a:solidFill>
              <a:srgbClr val="53665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Card accent Name accountability"/>
          <p:cNvSpPr/>
          <p:nvPr/>
        </p:nvSpPr>
        <p:spPr>
          <a:xfrm>
            <a:off x="4617720" y="2039112"/>
            <a:ext cx="54864" cy="1444752"/>
          </a:xfrm>
          <a:prstGeom prst="rect">
            <a:avLst/>
          </a:prstGeom>
          <a:solidFill>
            <a:srgbClr val="5CD3BD"/>
          </a:solidFill>
          <a:ln w="12700">
            <a:solidFill>
              <a:srgbClr val="5CD3B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Label Name accountability"/>
          <p:cNvSpPr txBox="1"/>
          <p:nvPr/>
        </p:nvSpPr>
        <p:spPr>
          <a:xfrm>
            <a:off x="4782312" y="2176272"/>
            <a:ext cx="2752344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0" b="1" dirty="0">
                <a:solidFill>
                  <a:srgbClr val="5CD3BD"/>
                </a:solidFill>
                <a:latin typeface="Arial"/>
              </a:rPr>
              <a:t>OWNERS</a:t>
            </a:r>
            <a:endParaRPr lang="en-US" sz="680"/>
          </a:p>
        </p:txBody>
      </p:sp>
      <p:sp>
        <p:nvSpPr>
          <p:cNvPr id="15" name="Card title Name accountability"/>
          <p:cNvSpPr txBox="1"/>
          <p:nvPr/>
        </p:nvSpPr>
        <p:spPr>
          <a:xfrm>
            <a:off x="4782312" y="2478024"/>
            <a:ext cx="2752344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dirty="0">
                <a:solidFill>
                  <a:srgbClr val="F4F0E6"/>
                </a:solidFill>
                <a:latin typeface="Arial"/>
              </a:rPr>
              <a:t>Name accountability</a:t>
            </a:r>
            <a:endParaRPr lang="en-US" sz="1250"/>
          </a:p>
        </p:txBody>
      </p:sp>
      <p:sp>
        <p:nvSpPr>
          <p:cNvPr id="16" name="Card body Name accountability"/>
          <p:cNvSpPr txBox="1"/>
          <p:nvPr/>
        </p:nvSpPr>
        <p:spPr>
          <a:xfrm>
            <a:off x="4782312" y="2889504"/>
            <a:ext cx="2752344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B8B7AD"/>
                </a:solidFill>
                <a:latin typeface="Arial"/>
              </a:rPr>
              <a:t>One workflow owner + one data-governance owner.</a:t>
            </a:r>
            <a:endParaRPr lang="en-US" sz="900"/>
          </a:p>
        </p:txBody>
      </p:sp>
      <p:sp>
        <p:nvSpPr>
          <p:cNvPr id="17" name="Card Voluntary access"/>
          <p:cNvSpPr/>
          <p:nvPr/>
        </p:nvSpPr>
        <p:spPr>
          <a:xfrm>
            <a:off x="7973568" y="2039112"/>
            <a:ext cx="3063240" cy="1444752"/>
          </a:xfrm>
          <a:prstGeom prst="roundRect">
            <a:avLst/>
          </a:prstGeom>
          <a:solidFill>
            <a:srgbClr val="1C2925"/>
          </a:solidFill>
          <a:ln w="12700">
            <a:solidFill>
              <a:srgbClr val="53665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Card accent Voluntary access"/>
          <p:cNvSpPr/>
          <p:nvPr/>
        </p:nvSpPr>
        <p:spPr>
          <a:xfrm>
            <a:off x="7973568" y="2039112"/>
            <a:ext cx="54864" cy="1444752"/>
          </a:xfrm>
          <a:prstGeom prst="rect">
            <a:avLst/>
          </a:prstGeom>
          <a:solidFill>
            <a:srgbClr val="DDEB79"/>
          </a:solidFill>
          <a:ln w="12700">
            <a:solidFill>
              <a:srgbClr val="DDEB7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Label Voluntary access"/>
          <p:cNvSpPr txBox="1"/>
          <p:nvPr/>
        </p:nvSpPr>
        <p:spPr>
          <a:xfrm>
            <a:off x="8138160" y="2176272"/>
            <a:ext cx="2752344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0" b="1" dirty="0">
                <a:solidFill>
                  <a:srgbClr val="DDEB79"/>
                </a:solidFill>
                <a:latin typeface="Arial"/>
              </a:rPr>
              <a:t>DISCOVERY</a:t>
            </a:r>
            <a:endParaRPr lang="en-US" sz="680"/>
          </a:p>
        </p:txBody>
      </p:sp>
      <p:sp>
        <p:nvSpPr>
          <p:cNvPr id="20" name="Card title Voluntary access"/>
          <p:cNvSpPr txBox="1"/>
          <p:nvPr/>
        </p:nvSpPr>
        <p:spPr>
          <a:xfrm>
            <a:off x="8138160" y="2478024"/>
            <a:ext cx="2752344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dirty="0">
                <a:solidFill>
                  <a:srgbClr val="F4F0E6"/>
                </a:solidFill>
                <a:latin typeface="Arial"/>
              </a:rPr>
              <a:t>Voluntary access</a:t>
            </a:r>
            <a:endParaRPr lang="en-US" sz="1250"/>
          </a:p>
        </p:txBody>
      </p:sp>
      <p:sp>
        <p:nvSpPr>
          <p:cNvPr id="21" name="Card body Voluntary access"/>
          <p:cNvSpPr txBox="1"/>
          <p:nvPr/>
        </p:nvSpPr>
        <p:spPr>
          <a:xfrm>
            <a:off x="8138160" y="2889504"/>
            <a:ext cx="2752344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B8B7AD"/>
                </a:solidFill>
                <a:latin typeface="Arial"/>
              </a:rPr>
              <a:t>Retail-advisor / field-technician discovery; no biosignals before approvals.</a:t>
            </a:r>
            <a:endParaRPr lang="en-US" sz="900"/>
          </a:p>
        </p:txBody>
      </p:sp>
      <p:sp>
        <p:nvSpPr>
          <p:cNvPr id="22" name="Card After gates"/>
          <p:cNvSpPr/>
          <p:nvPr/>
        </p:nvSpPr>
        <p:spPr>
          <a:xfrm>
            <a:off x="4617720" y="3803904"/>
            <a:ext cx="3063240" cy="1444752"/>
          </a:xfrm>
          <a:prstGeom prst="roundRect">
            <a:avLst/>
          </a:prstGeom>
          <a:solidFill>
            <a:srgbClr val="1C2925"/>
          </a:solidFill>
          <a:ln w="12700">
            <a:solidFill>
              <a:srgbClr val="53665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" name="Card accent After gates"/>
          <p:cNvSpPr/>
          <p:nvPr/>
        </p:nvSpPr>
        <p:spPr>
          <a:xfrm>
            <a:off x="4617720" y="3803904"/>
            <a:ext cx="54864" cy="1444752"/>
          </a:xfrm>
          <a:prstGeom prst="rect">
            <a:avLst/>
          </a:prstGeom>
          <a:solidFill>
            <a:srgbClr val="5CD3BD"/>
          </a:solidFill>
          <a:ln w="12700">
            <a:solidFill>
              <a:srgbClr val="5CD3B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" name="Label After gates"/>
          <p:cNvSpPr txBox="1"/>
          <p:nvPr/>
        </p:nvSpPr>
        <p:spPr>
          <a:xfrm>
            <a:off x="4782312" y="3941064"/>
            <a:ext cx="2752344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0" b="1" dirty="0">
                <a:solidFill>
                  <a:srgbClr val="5CD3BD"/>
                </a:solidFill>
                <a:latin typeface="Arial"/>
              </a:rPr>
              <a:t>SANDBOX</a:t>
            </a:r>
            <a:endParaRPr lang="en-US" sz="680"/>
          </a:p>
        </p:txBody>
      </p:sp>
      <p:sp>
        <p:nvSpPr>
          <p:cNvPr id="25" name="Card title After gates"/>
          <p:cNvSpPr txBox="1"/>
          <p:nvPr/>
        </p:nvSpPr>
        <p:spPr>
          <a:xfrm>
            <a:off x="4782312" y="4242816"/>
            <a:ext cx="2752344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dirty="0">
                <a:solidFill>
                  <a:srgbClr val="F4F0E6"/>
                </a:solidFill>
                <a:latin typeface="Arial"/>
              </a:rPr>
              <a:t>After gates</a:t>
            </a:r>
            <a:endParaRPr lang="en-US" sz="1250"/>
          </a:p>
        </p:txBody>
      </p:sp>
      <p:sp>
        <p:nvSpPr>
          <p:cNvPr id="26" name="Card body After gates"/>
          <p:cNvSpPr txBox="1"/>
          <p:nvPr/>
        </p:nvSpPr>
        <p:spPr>
          <a:xfrm>
            <a:off x="4782312" y="4654296"/>
            <a:ext cx="2752344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B8B7AD"/>
                </a:solidFill>
                <a:latin typeface="Arial"/>
              </a:rPr>
              <a:t>Assistant sandbox only after discovery, protocol, privacy and security gates.</a:t>
            </a:r>
            <a:endParaRPr lang="en-US" sz="900"/>
          </a:p>
        </p:txBody>
      </p:sp>
      <p:sp>
        <p:nvSpPr>
          <p:cNvPr id="27" name="Card Allocations TBD"/>
          <p:cNvSpPr/>
          <p:nvPr/>
        </p:nvSpPr>
        <p:spPr>
          <a:xfrm>
            <a:off x="7973568" y="3803904"/>
            <a:ext cx="3063240" cy="1444752"/>
          </a:xfrm>
          <a:prstGeom prst="roundRect">
            <a:avLst/>
          </a:prstGeom>
          <a:solidFill>
            <a:srgbClr val="2A211E"/>
          </a:solidFill>
          <a:ln w="12700">
            <a:solidFill>
              <a:srgbClr val="53665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8" name="Card accent Allocations TBD"/>
          <p:cNvSpPr/>
          <p:nvPr/>
        </p:nvSpPr>
        <p:spPr>
          <a:xfrm>
            <a:off x="7973568" y="3803904"/>
            <a:ext cx="54864" cy="1444752"/>
          </a:xfrm>
          <a:prstGeom prst="rect">
            <a:avLst/>
          </a:prstGeom>
          <a:solidFill>
            <a:srgbClr val="FF8B5C"/>
          </a:solidFill>
          <a:ln w="12700">
            <a:solidFill>
              <a:srgbClr val="FF8B5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9" name="Label Allocations TBD"/>
          <p:cNvSpPr txBox="1"/>
          <p:nvPr/>
        </p:nvSpPr>
        <p:spPr>
          <a:xfrm>
            <a:off x="8138160" y="3941064"/>
            <a:ext cx="2752344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0" b="1" dirty="0">
                <a:solidFill>
                  <a:srgbClr val="FF8B5C"/>
                </a:solidFill>
                <a:latin typeface="Arial"/>
              </a:rPr>
              <a:t>USE OF FUNDS</a:t>
            </a:r>
            <a:endParaRPr lang="en-US" sz="680"/>
          </a:p>
        </p:txBody>
      </p:sp>
      <p:sp>
        <p:nvSpPr>
          <p:cNvPr id="30" name="Card title Allocations TBD"/>
          <p:cNvSpPr txBox="1"/>
          <p:nvPr/>
        </p:nvSpPr>
        <p:spPr>
          <a:xfrm>
            <a:off x="8138160" y="4242816"/>
            <a:ext cx="2752344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dirty="0">
                <a:solidFill>
                  <a:srgbClr val="F4F0E6"/>
                </a:solidFill>
                <a:latin typeface="Arial"/>
              </a:rPr>
              <a:t>Allocations TBD</a:t>
            </a:r>
            <a:endParaRPr lang="en-US" sz="1250"/>
          </a:p>
        </p:txBody>
      </p:sp>
      <p:sp>
        <p:nvSpPr>
          <p:cNvPr id="31" name="Card body Allocations TBD"/>
          <p:cNvSpPr txBox="1"/>
          <p:nvPr/>
        </p:nvSpPr>
        <p:spPr>
          <a:xfrm>
            <a:off x="8138160" y="4654296"/>
            <a:ext cx="2752344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B8B7AD"/>
                </a:solidFill>
                <a:latin typeface="Arial"/>
              </a:rPr>
              <a:t>Users · sensing/study · privacy/security/ethics/FTO · evaluation/fallback · approved roles.</a:t>
            </a:r>
            <a:endParaRPr lang="en-US" sz="900"/>
          </a:p>
        </p:txBody>
      </p:sp>
      <p:sp>
        <p:nvSpPr>
          <p:cNvPr id="32" name="Source footer"/>
          <p:cNvSpPr txBox="1"/>
          <p:nvPr/>
        </p:nvSpPr>
        <p:spPr>
          <a:xfrm>
            <a:off x="566928" y="6510528"/>
            <a:ext cx="109728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0" dirty="0">
                <a:solidFill>
                  <a:srgbClr val="858B85"/>
                </a:solidFill>
                <a:latin typeface="Arial"/>
              </a:rPr>
              <a:t>Fee approved by Captain for this pilot only. Cohort, thresholds, allocations, team and later amounts remain TBD.</a:t>
            </a:r>
            <a:endParaRPr lang="en-US" sz="61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3: Go. Change. Or stop on purpose.">
    <p:bg>
      <p:bgPr>
        <a:solidFill>
          <a:srgbClr val="101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16"/>
          </a:solidFill>
          <a:ln w="12700">
            <a:solidFill>
              <a:srgbClr val="10181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Accent line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FF8B5C"/>
          </a:solidFill>
          <a:ln w="12700">
            <a:solidFill>
              <a:srgbClr val="FF8B5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" name="Brand"/>
          <p:cNvSpPr txBox="1"/>
          <p:nvPr/>
        </p:nvSpPr>
        <p:spPr>
          <a:xfrm>
            <a:off x="411480" y="182880"/>
            <a:ext cx="51206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dirty="0">
                <a:solidFill>
                  <a:srgbClr val="5CD3BD"/>
                </a:solidFill>
                <a:latin typeface="Arial"/>
              </a:rPr>
              <a:t>QUIET CHANNEL LAB</a:t>
            </a:r>
            <a:endParaRPr lang="en-US" sz="900"/>
          </a:p>
        </p:txBody>
      </p:sp>
      <p:sp>
        <p:nvSpPr>
          <p:cNvPr id="5" name="Slide number"/>
          <p:cNvSpPr txBox="1"/>
          <p:nvPr/>
        </p:nvSpPr>
        <p:spPr>
          <a:xfrm>
            <a:off x="10561320" y="182880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dirty="0">
                <a:solidFill>
                  <a:srgbClr val="B8B7AD"/>
                </a:solidFill>
                <a:latin typeface="Arial"/>
              </a:rPr>
              <a:t>13 / 13</a:t>
            </a:r>
            <a:endParaRPr lang="en-US" sz="850"/>
          </a:p>
        </p:txBody>
      </p:sp>
      <p:sp>
        <p:nvSpPr>
          <p:cNvPr id="6" name="Title"/>
          <p:cNvSpPr txBox="1"/>
          <p:nvPr/>
        </p:nvSpPr>
        <p:spPr>
          <a:xfrm>
            <a:off x="566928" y="694944"/>
            <a:ext cx="10972800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dirty="0">
                <a:solidFill>
                  <a:srgbClr val="F4F0E6"/>
                </a:solidFill>
                <a:latin typeface="Arial"/>
              </a:rPr>
              <a:t>Go. Change. Or stop on purpose.</a:t>
            </a:r>
            <a:endParaRPr lang="en-US" sz="2850"/>
          </a:p>
        </p:txBody>
      </p:sp>
      <p:sp>
        <p:nvSpPr>
          <p:cNvPr id="7" name="Subtitle"/>
          <p:cNvSpPr txBox="1"/>
          <p:nvPr/>
        </p:nvSpPr>
        <p:spPr>
          <a:xfrm>
            <a:off x="594360" y="1417320"/>
            <a:ext cx="1069848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80" dirty="0">
                <a:solidFill>
                  <a:srgbClr val="B8B7AD"/>
                </a:solidFill>
                <a:latin typeface="Arial"/>
              </a:rPr>
              <a:t>Pre-commit to problem, bench, transfer, language and field gates. Numeric thresholds are frozen before data—not invented for the pitch.</a:t>
            </a:r>
            <a:endParaRPr lang="en-US" sz="1280"/>
          </a:p>
        </p:txBody>
      </p:sp>
      <p:sp>
        <p:nvSpPr>
          <p:cNvPr id="8" name="Card PROBLEM"/>
          <p:cNvSpPr/>
          <p:nvPr/>
        </p:nvSpPr>
        <p:spPr>
          <a:xfrm>
            <a:off x="594360" y="2148840"/>
            <a:ext cx="1984248" cy="2578608"/>
          </a:xfrm>
          <a:prstGeom prst="roundRect">
            <a:avLst/>
          </a:prstGeom>
          <a:solidFill>
            <a:srgbClr val="1C2925"/>
          </a:solidFill>
          <a:ln w="12700">
            <a:solidFill>
              <a:srgbClr val="53665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Card accent PROBLEM"/>
          <p:cNvSpPr/>
          <p:nvPr/>
        </p:nvSpPr>
        <p:spPr>
          <a:xfrm>
            <a:off x="594360" y="2148840"/>
            <a:ext cx="54864" cy="2578608"/>
          </a:xfrm>
          <a:prstGeom prst="rect">
            <a:avLst/>
          </a:prstGeom>
          <a:solidFill>
            <a:srgbClr val="5CD3BD"/>
          </a:solidFill>
          <a:ln w="12700">
            <a:solidFill>
              <a:srgbClr val="5CD3B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Label PROBLEM"/>
          <p:cNvSpPr txBox="1"/>
          <p:nvPr/>
        </p:nvSpPr>
        <p:spPr>
          <a:xfrm>
            <a:off x="758952" y="2286000"/>
            <a:ext cx="167335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0" b="1" dirty="0">
                <a:solidFill>
                  <a:srgbClr val="5CD3BD"/>
                </a:solidFill>
                <a:latin typeface="Arial"/>
              </a:rPr>
              <a:t>GATE 0</a:t>
            </a:r>
            <a:endParaRPr lang="en-US" sz="680"/>
          </a:p>
        </p:txBody>
      </p:sp>
      <p:sp>
        <p:nvSpPr>
          <p:cNvPr id="11" name="Card title PROBLEM"/>
          <p:cNvSpPr txBox="1"/>
          <p:nvPr/>
        </p:nvSpPr>
        <p:spPr>
          <a:xfrm>
            <a:off x="758952" y="2587752"/>
            <a:ext cx="1673352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dirty="0">
                <a:solidFill>
                  <a:srgbClr val="F4F0E6"/>
                </a:solidFill>
                <a:latin typeface="Arial"/>
              </a:rPr>
              <a:t>PROBLEM</a:t>
            </a:r>
            <a:endParaRPr lang="en-US" sz="1250"/>
          </a:p>
        </p:txBody>
      </p:sp>
      <p:sp>
        <p:nvSpPr>
          <p:cNvPr id="12" name="Card body PROBLEM"/>
          <p:cNvSpPr txBox="1"/>
          <p:nvPr/>
        </p:nvSpPr>
        <p:spPr>
          <a:xfrm>
            <a:off x="758952" y="2999232"/>
            <a:ext cx="1673352" cy="1645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B8B7AD"/>
                </a:solidFill>
                <a:latin typeface="Arial"/>
              </a:rPr>
              <a:t>Whole task vs current input
Stop if existing input wins</a:t>
            </a:r>
            <a:endParaRPr lang="en-US" sz="900"/>
          </a:p>
        </p:txBody>
      </p:sp>
      <p:sp>
        <p:nvSpPr>
          <p:cNvPr id="13" name="Card BENCH"/>
          <p:cNvSpPr/>
          <p:nvPr/>
        </p:nvSpPr>
        <p:spPr>
          <a:xfrm>
            <a:off x="2752344" y="2148840"/>
            <a:ext cx="1984248" cy="2578608"/>
          </a:xfrm>
          <a:prstGeom prst="roundRect">
            <a:avLst/>
          </a:prstGeom>
          <a:solidFill>
            <a:srgbClr val="1C2925"/>
          </a:solidFill>
          <a:ln w="12700">
            <a:solidFill>
              <a:srgbClr val="53665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Card accent BENCH"/>
          <p:cNvSpPr/>
          <p:nvPr/>
        </p:nvSpPr>
        <p:spPr>
          <a:xfrm>
            <a:off x="2752344" y="2148840"/>
            <a:ext cx="54864" cy="2578608"/>
          </a:xfrm>
          <a:prstGeom prst="rect">
            <a:avLst/>
          </a:prstGeom>
          <a:solidFill>
            <a:srgbClr val="5CD3BD"/>
          </a:solidFill>
          <a:ln w="12700">
            <a:solidFill>
              <a:srgbClr val="5CD3B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Label BENCH"/>
          <p:cNvSpPr txBox="1"/>
          <p:nvPr/>
        </p:nvSpPr>
        <p:spPr>
          <a:xfrm>
            <a:off x="2916936" y="2286000"/>
            <a:ext cx="167335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0" b="1" dirty="0">
                <a:solidFill>
                  <a:srgbClr val="5CD3BD"/>
                </a:solidFill>
                <a:latin typeface="Arial"/>
              </a:rPr>
              <a:t>GATE 1</a:t>
            </a:r>
            <a:endParaRPr lang="en-US" sz="680"/>
          </a:p>
        </p:txBody>
      </p:sp>
      <p:sp>
        <p:nvSpPr>
          <p:cNvPr id="16" name="Card title BENCH"/>
          <p:cNvSpPr txBox="1"/>
          <p:nvPr/>
        </p:nvSpPr>
        <p:spPr>
          <a:xfrm>
            <a:off x="2916936" y="2587752"/>
            <a:ext cx="1673352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dirty="0">
                <a:solidFill>
                  <a:srgbClr val="F4F0E6"/>
                </a:solidFill>
                <a:latin typeface="Arial"/>
              </a:rPr>
              <a:t>BENCH</a:t>
            </a:r>
            <a:endParaRPr lang="en-US" sz="1250"/>
          </a:p>
        </p:txBody>
      </p:sp>
      <p:sp>
        <p:nvSpPr>
          <p:cNvPr id="17" name="Card body BENCH"/>
          <p:cNvSpPr txBox="1"/>
          <p:nvPr/>
        </p:nvSpPr>
        <p:spPr>
          <a:xfrm>
            <a:off x="2916936" y="2999232"/>
            <a:ext cx="1673352" cy="1645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B8B7AD"/>
                </a:solidFill>
                <a:latin typeface="Arial"/>
              </a:rPr>
              <a:t>False accept/reject + complete latency
Change if error cannot be contained</a:t>
            </a:r>
            <a:endParaRPr lang="en-US" sz="900"/>
          </a:p>
        </p:txBody>
      </p:sp>
      <p:sp>
        <p:nvSpPr>
          <p:cNvPr id="18" name="Card TRANSFER"/>
          <p:cNvSpPr/>
          <p:nvPr/>
        </p:nvSpPr>
        <p:spPr>
          <a:xfrm>
            <a:off x="4910328" y="2148840"/>
            <a:ext cx="1984248" cy="2578608"/>
          </a:xfrm>
          <a:prstGeom prst="roundRect">
            <a:avLst/>
          </a:prstGeom>
          <a:solidFill>
            <a:srgbClr val="1C2925"/>
          </a:solidFill>
          <a:ln w="12700">
            <a:solidFill>
              <a:srgbClr val="53665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Card accent TRANSFER"/>
          <p:cNvSpPr/>
          <p:nvPr/>
        </p:nvSpPr>
        <p:spPr>
          <a:xfrm>
            <a:off x="4910328" y="2148840"/>
            <a:ext cx="54864" cy="2578608"/>
          </a:xfrm>
          <a:prstGeom prst="rect">
            <a:avLst/>
          </a:prstGeom>
          <a:solidFill>
            <a:srgbClr val="5CD3BD"/>
          </a:solidFill>
          <a:ln w="12700">
            <a:solidFill>
              <a:srgbClr val="5CD3B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" name="Label TRANSFER"/>
          <p:cNvSpPr txBox="1"/>
          <p:nvPr/>
        </p:nvSpPr>
        <p:spPr>
          <a:xfrm>
            <a:off x="5074920" y="2286000"/>
            <a:ext cx="167335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0" b="1" dirty="0">
                <a:solidFill>
                  <a:srgbClr val="5CD3BD"/>
                </a:solidFill>
                <a:latin typeface="Arial"/>
              </a:rPr>
              <a:t>GATE 2</a:t>
            </a:r>
            <a:endParaRPr lang="en-US" sz="680"/>
          </a:p>
        </p:txBody>
      </p:sp>
      <p:sp>
        <p:nvSpPr>
          <p:cNvPr id="21" name="Card title TRANSFER"/>
          <p:cNvSpPr txBox="1"/>
          <p:nvPr/>
        </p:nvSpPr>
        <p:spPr>
          <a:xfrm>
            <a:off x="5074920" y="2587752"/>
            <a:ext cx="1673352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dirty="0">
                <a:solidFill>
                  <a:srgbClr val="F4F0E6"/>
                </a:solidFill>
                <a:latin typeface="Arial"/>
              </a:rPr>
              <a:t>TRANSFER</a:t>
            </a:r>
            <a:endParaRPr lang="en-US" sz="1250"/>
          </a:p>
        </p:txBody>
      </p:sp>
      <p:sp>
        <p:nvSpPr>
          <p:cNvPr id="22" name="Card body TRANSFER"/>
          <p:cNvSpPr txBox="1"/>
          <p:nvPr/>
        </p:nvSpPr>
        <p:spPr>
          <a:xfrm>
            <a:off x="5074920" y="2999232"/>
            <a:ext cx="1673352" cy="1645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B8B7AD"/>
                </a:solidFill>
                <a:latin typeface="Arial"/>
              </a:rPr>
              <a:t>Reapply · days · motion · adaptation
Stop if burden defeats value</a:t>
            </a:r>
            <a:endParaRPr lang="en-US" sz="900"/>
          </a:p>
        </p:txBody>
      </p:sp>
      <p:sp>
        <p:nvSpPr>
          <p:cNvPr id="23" name="Card LANGUAGE"/>
          <p:cNvSpPr/>
          <p:nvPr/>
        </p:nvSpPr>
        <p:spPr>
          <a:xfrm>
            <a:off x="7068312" y="2148840"/>
            <a:ext cx="1984248" cy="2578608"/>
          </a:xfrm>
          <a:prstGeom prst="roundRect">
            <a:avLst/>
          </a:prstGeom>
          <a:solidFill>
            <a:srgbClr val="1C2925"/>
          </a:solidFill>
          <a:ln w="12700">
            <a:solidFill>
              <a:srgbClr val="53665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" name="Card accent LANGUAGE"/>
          <p:cNvSpPr/>
          <p:nvPr/>
        </p:nvSpPr>
        <p:spPr>
          <a:xfrm>
            <a:off x="7068312" y="2148840"/>
            <a:ext cx="54864" cy="2578608"/>
          </a:xfrm>
          <a:prstGeom prst="rect">
            <a:avLst/>
          </a:prstGeom>
          <a:solidFill>
            <a:srgbClr val="5CD3BD"/>
          </a:solidFill>
          <a:ln w="12700">
            <a:solidFill>
              <a:srgbClr val="5CD3B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" name="Label LANGUAGE"/>
          <p:cNvSpPr txBox="1"/>
          <p:nvPr/>
        </p:nvSpPr>
        <p:spPr>
          <a:xfrm>
            <a:off x="7232904" y="2286000"/>
            <a:ext cx="167335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0" b="1" dirty="0">
                <a:solidFill>
                  <a:srgbClr val="5CD3BD"/>
                </a:solidFill>
                <a:latin typeface="Arial"/>
              </a:rPr>
              <a:t>GATE 3</a:t>
            </a:r>
            <a:endParaRPr lang="en-US" sz="680"/>
          </a:p>
        </p:txBody>
      </p:sp>
      <p:sp>
        <p:nvSpPr>
          <p:cNvPr id="26" name="Card title LANGUAGE"/>
          <p:cNvSpPr txBox="1"/>
          <p:nvPr/>
        </p:nvSpPr>
        <p:spPr>
          <a:xfrm>
            <a:off x="7232904" y="2587752"/>
            <a:ext cx="1673352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dirty="0">
                <a:solidFill>
                  <a:srgbClr val="F4F0E6"/>
                </a:solidFill>
                <a:latin typeface="Arial"/>
              </a:rPr>
              <a:t>LANGUAGE</a:t>
            </a:r>
            <a:endParaRPr lang="en-US" sz="1250"/>
          </a:p>
        </p:txBody>
      </p:sp>
      <p:sp>
        <p:nvSpPr>
          <p:cNvPr id="27" name="Card body LANGUAGE"/>
          <p:cNvSpPr txBox="1"/>
          <p:nvPr/>
        </p:nvSpPr>
        <p:spPr>
          <a:xfrm>
            <a:off x="7232904" y="2999232"/>
            <a:ext cx="1673352" cy="1645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B8B7AD"/>
                </a:solidFill>
                <a:latin typeface="Arial"/>
              </a:rPr>
              <a:t>Native-user bilingual command scope
Re-scope if gap/cost exceeds plan</a:t>
            </a:r>
            <a:endParaRPr lang="en-US" sz="900"/>
          </a:p>
        </p:txBody>
      </p:sp>
      <p:sp>
        <p:nvSpPr>
          <p:cNvPr id="28" name="Card FIELD"/>
          <p:cNvSpPr/>
          <p:nvPr/>
        </p:nvSpPr>
        <p:spPr>
          <a:xfrm>
            <a:off x="9226296" y="2148840"/>
            <a:ext cx="1984248" cy="2578608"/>
          </a:xfrm>
          <a:prstGeom prst="roundRect">
            <a:avLst/>
          </a:prstGeom>
          <a:solidFill>
            <a:srgbClr val="2A211E"/>
          </a:solidFill>
          <a:ln w="12700">
            <a:solidFill>
              <a:srgbClr val="53665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9" name="Card accent FIELD"/>
          <p:cNvSpPr/>
          <p:nvPr/>
        </p:nvSpPr>
        <p:spPr>
          <a:xfrm>
            <a:off x="9226296" y="2148840"/>
            <a:ext cx="54864" cy="2578608"/>
          </a:xfrm>
          <a:prstGeom prst="rect">
            <a:avLst/>
          </a:prstGeom>
          <a:solidFill>
            <a:srgbClr val="FF8B5C"/>
          </a:solidFill>
          <a:ln w="12700">
            <a:solidFill>
              <a:srgbClr val="FF8B5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" name="Label FIELD"/>
          <p:cNvSpPr txBox="1"/>
          <p:nvPr/>
        </p:nvSpPr>
        <p:spPr>
          <a:xfrm>
            <a:off x="9390888" y="2286000"/>
            <a:ext cx="167335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0" b="1" dirty="0">
                <a:solidFill>
                  <a:srgbClr val="FF8B5C"/>
                </a:solidFill>
                <a:latin typeface="Arial"/>
              </a:rPr>
              <a:t>GATE 4</a:t>
            </a:r>
            <a:endParaRPr lang="en-US" sz="680"/>
          </a:p>
        </p:txBody>
      </p:sp>
      <p:sp>
        <p:nvSpPr>
          <p:cNvPr id="31" name="Card title FIELD"/>
          <p:cNvSpPr txBox="1"/>
          <p:nvPr/>
        </p:nvSpPr>
        <p:spPr>
          <a:xfrm>
            <a:off x="9390888" y="2587752"/>
            <a:ext cx="1673352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dirty="0">
                <a:solidFill>
                  <a:srgbClr val="F4F0E6"/>
                </a:solidFill>
                <a:latin typeface="Arial"/>
              </a:rPr>
              <a:t>FIELD</a:t>
            </a:r>
            <a:endParaRPr lang="en-US" sz="1250"/>
          </a:p>
        </p:txBody>
      </p:sp>
      <p:sp>
        <p:nvSpPr>
          <p:cNvPr id="32" name="Card body FIELD"/>
          <p:cNvSpPr txBox="1"/>
          <p:nvPr/>
        </p:nvSpPr>
        <p:spPr>
          <a:xfrm>
            <a:off x="9390888" y="2999232"/>
            <a:ext cx="1673352" cy="1645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B8B7AD"/>
                </a:solidFill>
                <a:latin typeface="Arial"/>
              </a:rPr>
              <a:t>Task · fallback · wear · controls
Hard stop if no net value</a:t>
            </a:r>
            <a:endParaRPr lang="en-US" sz="900"/>
          </a:p>
        </p:txBody>
      </p:sp>
      <p:sp>
        <p:nvSpPr>
          <p:cNvPr id="33" name="Claim ledger"/>
          <p:cNvSpPr/>
          <p:nvPr/>
        </p:nvSpPr>
        <p:spPr>
          <a:xfrm>
            <a:off x="594360" y="5029200"/>
            <a:ext cx="10570464" cy="658368"/>
          </a:xfrm>
          <a:prstGeom prst="roundRect">
            <a:avLst/>
          </a:prstGeom>
          <a:solidFill>
            <a:srgbClr val="22342E"/>
          </a:solidFill>
          <a:ln w="12700">
            <a:solidFill>
              <a:srgbClr val="DDEB7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4" name="Claim ledger text"/>
          <p:cNvSpPr txBox="1"/>
          <p:nvPr/>
        </p:nvSpPr>
        <p:spPr>
          <a:xfrm>
            <a:off x="804672" y="5175504"/>
            <a:ext cx="101498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dirty="0">
                <a:solidFill>
                  <a:srgbClr val="DDEB79"/>
                </a:solidFill>
                <a:latin typeface="Arial"/>
              </a:rPr>
              <a:t>CLAIM LEDGER  SAFE: simulated interaction + attributed evidence   ·   UNKNOWN: all project performance/value   ·   PROHIBITED: hardware/accuracy/AAC/privacy/traction claims</a:t>
            </a:r>
            <a:endParaRPr lang="en-US" sz="850"/>
          </a:p>
        </p:txBody>
      </p:sp>
      <p:sp>
        <p:nvSpPr>
          <p:cNvPr id="35" name="Source footer"/>
          <p:cNvSpPr txBox="1"/>
          <p:nvPr/>
        </p:nvSpPr>
        <p:spPr>
          <a:xfrm>
            <a:off x="566928" y="6510528"/>
            <a:ext cx="109728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0" dirty="0">
                <a:solidFill>
                  <a:srgbClr val="858B85"/>
                </a:solidFill>
                <a:latin typeface="Arial"/>
              </a:rPr>
              <a:t>Claim ledger: safe = simulated interaction + attributed external evidence. All project performance remains unknown.</a:t>
            </a:r>
            <a:endParaRPr lang="en-US" sz="61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uiet Channel Theme">
  <a:themeElements>
    <a:clrScheme name="Quiet Channel">
      <a:dk1>
        <a:srgbClr val="101816"/>
      </a:dk1>
      <a:lt1>
        <a:srgbClr val="FFFFFF"/>
      </a:lt1>
      <a:dk2>
        <a:srgbClr val="1C2925"/>
      </a:dk2>
      <a:lt2>
        <a:srgbClr val="F4F0E6"/>
      </a:lt2>
      <a:accent1>
        <a:srgbClr val="5CD3BD"/>
      </a:accent1>
      <a:accent2>
        <a:srgbClr val="FF8B5C"/>
      </a:accent2>
      <a:accent3>
        <a:srgbClr val="DDEB79"/>
      </a:accent3>
      <a:accent4>
        <a:srgbClr val="93B9FF"/>
      </a:accent4>
      <a:accent5>
        <a:srgbClr val="FF857E"/>
      </a:accent5>
      <a:accent6>
        <a:srgbClr val="858B85"/>
      </a:accent6>
      <a:hlink>
        <a:srgbClr val="5CD3BD"/>
      </a:hlink>
      <a:folHlink>
        <a:srgbClr val="FF8B5C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Quiet Channel">
      <a:fillStyleLst>
        <a:solidFill>
          <a:schemeClr val="phClr"/>
        </a:solidFill>
        <a:solidFill>
          <a:schemeClr val="accent1"/>
        </a:solidFill>
        <a:solidFill>
          <a:schemeClr val="accent2"/>
        </a:solidFill>
      </a:fillStyleLst>
      <a:lnStyleLst>
        <a:ln w="12700" cap="flat" cmpd="sng" algn="ctr">
          <a:solidFill>
            <a:schemeClr val="phClr"/>
          </a:solidFill>
          <a:prstDash val="solid"/>
          <a:round/>
          <a:headEnd type="none" w="med" len="med"/>
          <a:tailEnd type="none" w="med" len="me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dk1"/>
        </a:solidFill>
        <a:solidFill>
          <a:schemeClr val="dk2"/>
        </a:solidFill>
        <a:solidFill>
          <a:schemeClr val="lt1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Python Standard Library OOXML Builder</Application>
  <PresentationFormat>On-screen Show (16:9)</PresentationFormat>
  <Slides>13</Slides>
  <Notes>13</Notes>
  <HiddenSlides>0</HiddenSlides>
  <MMClips>0</MMClips>
  <ScaleCrop>false</ScaleCrop>
  <HeadingPairs>
    <vt:vector size="2" baseType="variant">
      <vt:variant>
        <vt:lpstr>Slide Titles</vt:lpstr>
      </vt:variant>
      <vt:variant>
        <vt:i4>13</vt:i4>
      </vt:variant>
    </vt:vector>
  </HeadingPairs>
  <TitlesOfParts>
    <vt:vector size="13" baseType="lpstr">
      <vt:lpstr>A quiet path into the assistant you already run.</vt:lpstr>
      <vt:lpstr>Voice can be costly. Touch can break the moment.</vt:lpstr>
      <vt:lpstr>Three category signals. None proves this product.</vt:lpstr>
      <vt:lpstr>e&amp; frontline retail advisors and field technicians.</vt:lpstr>
      <vt:lpstr>Capture → decode → human gate → existing assistant.</vt:lpstr>
      <vt:lpstr>Show the miss. Make repair the product.</vt:lpstr>
      <vt:lpstr>External evidence shows a transfer gap.</vt:lpstr>
      <vt:lpstr>A lock. A data flow. A governance veto.</vt:lpstr>
      <vt:lpstr>Five categories. No borrowed validation.</vt:lpstr>
      <vt:lpstr>A Gulf bilingual corpus—governed before owned.</vt:lpstr>
      <vt:lpstr>Operating value first. Strategic upside second.</vt:lpstr>
      <vt:lpstr>Fund a 90-day decision—not an enclosure.</vt:lpstr>
      <vt:lpstr>Go. Change. Or stop on purpose.</vt:lpstr>
    </vt:vector>
  </TitlesOfParts>
  <Company>Silent Speech Technology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Quiet Channel Lab — Evidence-Gated Decision Deck</dc:title>
  <dc:subject>Editable 13-slide silent command interface proposal</dc:subject>
  <dc:creator>Silent Speech Technology project</dc:creator>
  <cp:keywords>silent speech; concept; simulated; evidence; e&amp;</cp:keywords>
  <dc:description>Generated deterministically from repository evidence. No product-performance claim.</dc:description>
  <cp:lastModifiedBy>Standard-library OOXML builder</cp:lastModifiedBy>
  <cp:revision>1</cp:revision>
  <dcterms:created xsi:type="dcterms:W3CDTF">2026-07-28T00:00:00Z</dcterms:created>
  <dcterms:modified xsi:type="dcterms:W3CDTF">2026-07-28T00:00:00Z</dcterms:modified>
</cp:coreProperties>
</file>